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jpg" ContentType="image/jp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71" r:id="rId21"/>
    <p:sldId id="272" r:id="rId22"/>
    <p:sldId id="273" r:id="rId23"/>
    <p:sldId id="264" r:id="rId10"/>
    <p:sldId id="265" r:id="rId11"/>
    <p:sldId id="266" r:id="rId12"/>
    <p:sldId id="267" r:id="rId13"/>
    <p:sldId id="268" r:id="rId14"/>
    <p:sldId id="269" r:id="rId15"/>
    <p:sldId id="270" r:id="rId1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p:cViewPr varScale="1">
        <p:scale>
          <a:sx n="70" d="100"/>
          <a:sy n="70" d="100"/>
        </p:scale>
        <p:origin x="536"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12.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15.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200" b="1" i="0">
                <a:solidFill>
                  <a:schemeClr val="bg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400" b="1" i="0">
                <a:solidFill>
                  <a:srgbClr val="C00000"/>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bg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400" b="1" i="0">
                <a:solidFill>
                  <a:srgbClr val="C00000"/>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bg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7" name="Holder 7"/>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bg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5" name="Holder 5"/>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4" name="Holder 4"/>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AF7F0"/>
          </a:solidFill>
        </p:spPr>
        <p:txBody>
          <a:bodyPr wrap="square" lIns="0" tIns="0" rIns="0" bIns="0" rtlCol="0"/>
          <a:lstStyle/>
          <a:p>
            <a:endParaRPr/>
          </a:p>
        </p:txBody>
      </p:sp>
      <p:sp>
        <p:nvSpPr>
          <p:cNvPr id="17" name="bg object 17"/>
          <p:cNvSpPr/>
          <p:nvPr/>
        </p:nvSpPr>
        <p:spPr>
          <a:xfrm>
            <a:off x="0" y="0"/>
            <a:ext cx="12192000" cy="45720"/>
          </a:xfrm>
          <a:custGeom>
            <a:avLst/>
            <a:gdLst/>
            <a:ahLst/>
            <a:cxnLst/>
            <a:rect l="l" t="t" r="r" b="b"/>
            <a:pathLst>
              <a:path w="12192000" h="45720">
                <a:moveTo>
                  <a:pt x="12192000" y="0"/>
                </a:moveTo>
                <a:lnTo>
                  <a:pt x="0" y="0"/>
                </a:lnTo>
                <a:lnTo>
                  <a:pt x="0" y="45720"/>
                </a:lnTo>
                <a:lnTo>
                  <a:pt x="12192000" y="45720"/>
                </a:lnTo>
                <a:lnTo>
                  <a:pt x="12192000" y="0"/>
                </a:lnTo>
                <a:close/>
              </a:path>
            </a:pathLst>
          </a:custGeom>
          <a:solidFill>
            <a:srgbClr val="B92431"/>
          </a:solidFill>
        </p:spPr>
        <p:txBody>
          <a:bodyPr wrap="square" lIns="0" tIns="0" rIns="0" bIns="0" rtlCol="0"/>
          <a:lstStyle/>
          <a:p>
            <a:endParaRPr/>
          </a:p>
        </p:txBody>
      </p:sp>
      <p:sp>
        <p:nvSpPr>
          <p:cNvPr id="18" name="bg object 18"/>
          <p:cNvSpPr/>
          <p:nvPr/>
        </p:nvSpPr>
        <p:spPr>
          <a:xfrm>
            <a:off x="0" y="6812279"/>
            <a:ext cx="12192000" cy="45720"/>
          </a:xfrm>
          <a:custGeom>
            <a:avLst/>
            <a:gdLst/>
            <a:ahLst/>
            <a:cxnLst/>
            <a:rect l="l" t="t" r="r" b="b"/>
            <a:pathLst>
              <a:path w="12192000" h="45720">
                <a:moveTo>
                  <a:pt x="12192000" y="0"/>
                </a:moveTo>
                <a:lnTo>
                  <a:pt x="0" y="0"/>
                </a:lnTo>
                <a:lnTo>
                  <a:pt x="0" y="45719"/>
                </a:lnTo>
                <a:lnTo>
                  <a:pt x="12192000" y="45719"/>
                </a:lnTo>
                <a:lnTo>
                  <a:pt x="12192000" y="0"/>
                </a:lnTo>
                <a:close/>
              </a:path>
            </a:pathLst>
          </a:custGeom>
          <a:solidFill>
            <a:srgbClr val="B92431"/>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228600" y="164592"/>
            <a:ext cx="1417320" cy="609599"/>
          </a:xfrm>
          <a:prstGeom prst="rect">
            <a:avLst/>
          </a:prstGeom>
        </p:spPr>
      </p:pic>
      <p:sp>
        <p:nvSpPr>
          <p:cNvPr id="20" name="bg object 20"/>
          <p:cNvSpPr/>
          <p:nvPr/>
        </p:nvSpPr>
        <p:spPr>
          <a:xfrm>
            <a:off x="2712720" y="256031"/>
            <a:ext cx="6766559" cy="567055"/>
          </a:xfrm>
          <a:custGeom>
            <a:avLst/>
            <a:gdLst/>
            <a:ahLst/>
            <a:cxnLst/>
            <a:rect l="l" t="t" r="r" b="b"/>
            <a:pathLst>
              <a:path w="6766559" h="567055">
                <a:moveTo>
                  <a:pt x="6638544" y="0"/>
                </a:moveTo>
                <a:lnTo>
                  <a:pt x="128016" y="0"/>
                </a:lnTo>
                <a:lnTo>
                  <a:pt x="78170" y="10054"/>
                </a:lnTo>
                <a:lnTo>
                  <a:pt x="37480" y="37480"/>
                </a:lnTo>
                <a:lnTo>
                  <a:pt x="10054" y="78170"/>
                </a:lnTo>
                <a:lnTo>
                  <a:pt x="0" y="128016"/>
                </a:lnTo>
                <a:lnTo>
                  <a:pt x="0" y="438912"/>
                </a:lnTo>
                <a:lnTo>
                  <a:pt x="10054" y="488757"/>
                </a:lnTo>
                <a:lnTo>
                  <a:pt x="37480" y="529447"/>
                </a:lnTo>
                <a:lnTo>
                  <a:pt x="78170" y="556873"/>
                </a:lnTo>
                <a:lnTo>
                  <a:pt x="128016" y="566928"/>
                </a:lnTo>
                <a:lnTo>
                  <a:pt x="6638544" y="566928"/>
                </a:lnTo>
                <a:lnTo>
                  <a:pt x="6688389" y="556873"/>
                </a:lnTo>
                <a:lnTo>
                  <a:pt x="6729079" y="529447"/>
                </a:lnTo>
                <a:lnTo>
                  <a:pt x="6756505" y="488757"/>
                </a:lnTo>
                <a:lnTo>
                  <a:pt x="6766559" y="438912"/>
                </a:lnTo>
                <a:lnTo>
                  <a:pt x="6766559" y="128016"/>
                </a:lnTo>
                <a:lnTo>
                  <a:pt x="6756505" y="78170"/>
                </a:lnTo>
                <a:lnTo>
                  <a:pt x="6729079" y="37480"/>
                </a:lnTo>
                <a:lnTo>
                  <a:pt x="6688389" y="10054"/>
                </a:lnTo>
                <a:lnTo>
                  <a:pt x="6638544" y="0"/>
                </a:lnTo>
                <a:close/>
              </a:path>
            </a:pathLst>
          </a:custGeom>
          <a:solidFill>
            <a:srgbClr val="C00000"/>
          </a:solidFill>
        </p:spPr>
        <p:txBody>
          <a:bodyPr wrap="square" lIns="0" tIns="0" rIns="0" bIns="0" rtlCol="0"/>
          <a:lstStyle/>
          <a:p>
            <a:endParaRPr/>
          </a:p>
        </p:txBody>
      </p:sp>
      <p:sp>
        <p:nvSpPr>
          <p:cNvPr id="2" name="Holder 2"/>
          <p:cNvSpPr>
            <a:spLocks noGrp="1"/>
          </p:cNvSpPr>
          <p:nvPr>
            <p:ph type="title"/>
          </p:nvPr>
        </p:nvSpPr>
        <p:spPr>
          <a:xfrm>
            <a:off x="4232782" y="341122"/>
            <a:ext cx="3726434" cy="361950"/>
          </a:xfrm>
          <a:prstGeom prst="rect">
            <a:avLst/>
          </a:prstGeom>
        </p:spPr>
        <p:txBody>
          <a:bodyPr wrap="square" lIns="0" tIns="0" rIns="0" bIns="0">
            <a:spAutoFit/>
          </a:bodyPr>
          <a:lstStyle>
            <a:lvl1pPr>
              <a:defRPr sz="2200" b="1" i="0">
                <a:solidFill>
                  <a:schemeClr val="bg1"/>
                </a:solidFill>
                <a:latin typeface="Calibri"/>
                <a:cs typeface="Calibri"/>
              </a:defRPr>
            </a:lvl1pPr>
          </a:lstStyle>
          <a:p>
            <a:endParaRPr/>
          </a:p>
        </p:txBody>
      </p:sp>
      <p:sp>
        <p:nvSpPr>
          <p:cNvPr id="3" name="Holder 3"/>
          <p:cNvSpPr>
            <a:spLocks noGrp="1"/>
          </p:cNvSpPr>
          <p:nvPr>
            <p:ph type="body" idx="1"/>
          </p:nvPr>
        </p:nvSpPr>
        <p:spPr>
          <a:xfrm>
            <a:off x="947724" y="2981960"/>
            <a:ext cx="6196330" cy="2370454"/>
          </a:xfrm>
          <a:prstGeom prst="rect">
            <a:avLst/>
          </a:prstGeom>
        </p:spPr>
        <p:txBody>
          <a:bodyPr wrap="square" lIns="0" tIns="0" rIns="0" bIns="0">
            <a:spAutoFit/>
          </a:bodyPr>
          <a:lstStyle>
            <a:lvl1pPr>
              <a:defRPr sz="1400" b="1" i="0">
                <a:solidFill>
                  <a:srgbClr val="C00000"/>
                </a:solidFill>
                <a:latin typeface="Calibri"/>
                <a:cs typeface="Calibri"/>
              </a:defRPr>
            </a:lvl1pPr>
          </a:lstStyle>
          <a:p>
            <a:endParaRPr/>
          </a:p>
        </p:txBody>
      </p:sp>
      <p:sp>
        <p:nvSpPr>
          <p:cNvPr id="4" name="Holder 4"/>
          <p:cNvSpPr>
            <a:spLocks noGrp="1"/>
          </p:cNvSpPr>
          <p:nvPr>
            <p:ph type="ftr" sz="quarter" idx="5"/>
          </p:nvPr>
        </p:nvSpPr>
        <p:spPr>
          <a:xfrm>
            <a:off x="398779" y="6589268"/>
            <a:ext cx="2378710" cy="141604"/>
          </a:xfrm>
          <a:prstGeom prst="rect">
            <a:avLst/>
          </a:prstGeom>
        </p:spPr>
        <p:txBody>
          <a:bodyPr wrap="square" lIns="0" tIns="0" rIns="0" bIns="0">
            <a:spAutoFit/>
          </a:bodyPr>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a:xfrm>
            <a:off x="11670030" y="6589268"/>
            <a:ext cx="180340" cy="141604"/>
          </a:xfrm>
          <a:prstGeom prst="rect">
            <a:avLst/>
          </a:prstGeom>
        </p:spPr>
        <p:txBody>
          <a:bodyPr wrap="square" lIns="0" tIns="0" rIns="0" bIns="0">
            <a:spAutoFit/>
          </a:bodyPr>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21.png"/><Relationship Id="rId5"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AF7F0"/>
          </a:solidFill>
        </p:spPr>
        <p:txBody>
          <a:bodyPr wrap="square" lIns="0" tIns="0" rIns="0" bIns="0" rtlCol="0"/>
          <a:lstStyle/>
          <a:p>
            <a:endParaRPr/>
          </a:p>
        </p:txBody>
      </p:sp>
      <p:sp>
        <p:nvSpPr>
          <p:cNvPr id="3" name="object 3"/>
          <p:cNvSpPr/>
          <p:nvPr/>
        </p:nvSpPr>
        <p:spPr>
          <a:xfrm>
            <a:off x="0" y="0"/>
            <a:ext cx="12192000" cy="45720"/>
          </a:xfrm>
          <a:custGeom>
            <a:avLst/>
            <a:gdLst/>
            <a:ahLst/>
            <a:cxnLst/>
            <a:rect l="l" t="t" r="r" b="b"/>
            <a:pathLst>
              <a:path w="12192000" h="45720">
                <a:moveTo>
                  <a:pt x="12192000" y="0"/>
                </a:moveTo>
                <a:lnTo>
                  <a:pt x="0" y="0"/>
                </a:lnTo>
                <a:lnTo>
                  <a:pt x="0" y="45720"/>
                </a:lnTo>
                <a:lnTo>
                  <a:pt x="12192000" y="45720"/>
                </a:lnTo>
                <a:lnTo>
                  <a:pt x="12192000" y="0"/>
                </a:lnTo>
                <a:close/>
              </a:path>
            </a:pathLst>
          </a:custGeom>
          <a:solidFill>
            <a:srgbClr val="B92431"/>
          </a:solidFill>
        </p:spPr>
        <p:txBody>
          <a:bodyPr wrap="square" lIns="0" tIns="0" rIns="0" bIns="0" rtlCol="0"/>
          <a:lstStyle/>
          <a:p>
            <a:endParaRPr/>
          </a:p>
        </p:txBody>
      </p:sp>
      <p:sp>
        <p:nvSpPr>
          <p:cNvPr id="4" name="object 4"/>
          <p:cNvSpPr/>
          <p:nvPr/>
        </p:nvSpPr>
        <p:spPr>
          <a:xfrm>
            <a:off x="0" y="6812279"/>
            <a:ext cx="12192000" cy="45720"/>
          </a:xfrm>
          <a:custGeom>
            <a:avLst/>
            <a:gdLst/>
            <a:ahLst/>
            <a:cxnLst/>
            <a:rect l="l" t="t" r="r" b="b"/>
            <a:pathLst>
              <a:path w="12192000" h="45720">
                <a:moveTo>
                  <a:pt x="12192000" y="0"/>
                </a:moveTo>
                <a:lnTo>
                  <a:pt x="0" y="0"/>
                </a:lnTo>
                <a:lnTo>
                  <a:pt x="0" y="45719"/>
                </a:lnTo>
                <a:lnTo>
                  <a:pt x="12192000" y="45719"/>
                </a:lnTo>
                <a:lnTo>
                  <a:pt x="12192000" y="0"/>
                </a:lnTo>
                <a:close/>
              </a:path>
            </a:pathLst>
          </a:custGeom>
          <a:solidFill>
            <a:srgbClr val="B92431"/>
          </a:solidFill>
        </p:spPr>
        <p:txBody>
          <a:bodyPr wrap="square" lIns="0" tIns="0" rIns="0" bIns="0" rtlCol="0"/>
          <a:lstStyle/>
          <a:p>
            <a:endParaRPr/>
          </a:p>
        </p:txBody>
      </p:sp>
      <p:pic>
        <p:nvPicPr>
          <p:cNvPr id="5" name="object 5" descr="klh_logo.png"/>
          <p:cNvPicPr/>
          <p:nvPr/>
        </p:nvPicPr>
        <p:blipFill>
          <a:blip r:embed="rId2" cstate="print"/>
          <a:stretch>
            <a:fillRect/>
          </a:stretch>
        </p:blipFill>
        <p:spPr>
          <a:xfrm>
            <a:off x="228600" y="164592"/>
            <a:ext cx="1417320" cy="609599"/>
          </a:xfrm>
          <a:prstGeom prst="rect">
            <a:avLst/>
          </a:prstGeom>
        </p:spPr>
      </p:pic>
      <p:sp>
        <p:nvSpPr>
          <p:cNvPr id="6" name="object 6" descr="$PPTXTitle"/>
          <p:cNvSpPr txBox="1">
            <a:spLocks noGrp="1"/>
          </p:cNvSpPr>
          <p:nvPr>
            <p:ph type="title"/>
          </p:nvPr>
        </p:nvSpPr>
        <p:spPr>
          <a:xfrm>
            <a:off x="499873" y="2009133"/>
            <a:ext cx="7232903" cy="1399101"/>
          </a:xfrm>
          <a:prstGeom prst="rect">
            <a:avLst/>
          </a:prstGeom>
        </p:spPr>
        <p:txBody>
          <a:bodyPr vert="horz" wrap="square" lIns="0" tIns="13970" rIns="0" bIns="0" rtlCol="0">
            <a:spAutoFit/>
          </a:bodyPr>
          <a:lstStyle/>
          <a:p>
            <a:pPr marL="12700">
              <a:lnSpc>
                <a:spcPct val="100000"/>
              </a:lnSpc>
              <a:spcBef>
                <a:spcPts val="110"/>
              </a:spcBef>
            </a:pPr>
            <a:r>
              <a:rPr lang="en-IN" sz="3000" dirty="0">
                <a:solidFill>
                  <a:srgbClr val="C00000"/>
                </a:solidFill>
              </a:rPr>
              <a:t>ANTI-MONEY LAUNDERING DETECTION USING GRAPH NEURAL NETWORKS FOR FINANCIAL TRANSACTION ANALYSIS</a:t>
            </a:r>
            <a:endParaRPr sz="3000" dirty="0">
              <a:solidFill>
                <a:srgbClr val="C00000"/>
              </a:solidFill>
            </a:endParaRPr>
          </a:p>
        </p:txBody>
      </p:sp>
      <p:grpSp>
        <p:nvGrpSpPr>
          <p:cNvPr id="9" name="object 9"/>
          <p:cNvGrpSpPr/>
          <p:nvPr/>
        </p:nvGrpSpPr>
        <p:grpSpPr>
          <a:xfrm>
            <a:off x="7732776" y="1356372"/>
            <a:ext cx="4001770" cy="4367530"/>
            <a:chOff x="7732776" y="1356372"/>
            <a:chExt cx="4001770" cy="4367530"/>
          </a:xfrm>
        </p:grpSpPr>
        <p:pic>
          <p:nvPicPr>
            <p:cNvPr id="10" name="object 10"/>
            <p:cNvPicPr/>
            <p:nvPr/>
          </p:nvPicPr>
          <p:blipFill>
            <a:blip r:embed="rId3" cstate="print"/>
            <a:stretch>
              <a:fillRect/>
            </a:stretch>
          </p:blipFill>
          <p:spPr>
            <a:xfrm>
              <a:off x="7732776" y="1356372"/>
              <a:ext cx="4001643" cy="4367403"/>
            </a:xfrm>
            <a:prstGeom prst="rect">
              <a:avLst/>
            </a:prstGeom>
          </p:spPr>
        </p:pic>
        <p:sp>
          <p:nvSpPr>
            <p:cNvPr id="11" name="object 11"/>
            <p:cNvSpPr/>
            <p:nvPr/>
          </p:nvSpPr>
          <p:spPr>
            <a:xfrm>
              <a:off x="7818120" y="1417320"/>
              <a:ext cx="3840479" cy="4206240"/>
            </a:xfrm>
            <a:custGeom>
              <a:avLst/>
              <a:gdLst/>
              <a:ahLst/>
              <a:cxnLst/>
              <a:rect l="l" t="t" r="r" b="b"/>
              <a:pathLst>
                <a:path w="3840479" h="4206240">
                  <a:moveTo>
                    <a:pt x="3767328" y="0"/>
                  </a:moveTo>
                  <a:lnTo>
                    <a:pt x="73151" y="0"/>
                  </a:lnTo>
                  <a:lnTo>
                    <a:pt x="44684" y="5750"/>
                  </a:lnTo>
                  <a:lnTo>
                    <a:pt x="21431" y="21431"/>
                  </a:lnTo>
                  <a:lnTo>
                    <a:pt x="5750" y="44684"/>
                  </a:lnTo>
                  <a:lnTo>
                    <a:pt x="0" y="73151"/>
                  </a:lnTo>
                  <a:lnTo>
                    <a:pt x="0" y="4133088"/>
                  </a:lnTo>
                  <a:lnTo>
                    <a:pt x="5750" y="4161561"/>
                  </a:lnTo>
                  <a:lnTo>
                    <a:pt x="21431" y="4184813"/>
                  </a:lnTo>
                  <a:lnTo>
                    <a:pt x="44684" y="4200491"/>
                  </a:lnTo>
                  <a:lnTo>
                    <a:pt x="73151" y="4206240"/>
                  </a:lnTo>
                  <a:lnTo>
                    <a:pt x="3767328" y="4206240"/>
                  </a:lnTo>
                  <a:lnTo>
                    <a:pt x="3795795" y="4200491"/>
                  </a:lnTo>
                  <a:lnTo>
                    <a:pt x="3819048" y="4184813"/>
                  </a:lnTo>
                  <a:lnTo>
                    <a:pt x="3834729" y="4161561"/>
                  </a:lnTo>
                  <a:lnTo>
                    <a:pt x="3840479" y="4133088"/>
                  </a:lnTo>
                  <a:lnTo>
                    <a:pt x="3840479" y="73151"/>
                  </a:lnTo>
                  <a:lnTo>
                    <a:pt x="3834729" y="44684"/>
                  </a:lnTo>
                  <a:lnTo>
                    <a:pt x="3819048" y="21431"/>
                  </a:lnTo>
                  <a:lnTo>
                    <a:pt x="3795795" y="5750"/>
                  </a:lnTo>
                  <a:lnTo>
                    <a:pt x="3767328" y="0"/>
                  </a:lnTo>
                  <a:close/>
                </a:path>
              </a:pathLst>
            </a:custGeom>
            <a:solidFill>
              <a:srgbClr val="FFFFFF"/>
            </a:solidFill>
          </p:spPr>
          <p:txBody>
            <a:bodyPr wrap="square" lIns="0" tIns="0" rIns="0" bIns="0" rtlCol="0"/>
            <a:lstStyle/>
            <a:p>
              <a:endParaRPr/>
            </a:p>
          </p:txBody>
        </p:sp>
        <p:sp>
          <p:nvSpPr>
            <p:cNvPr id="12" name="object 12"/>
            <p:cNvSpPr/>
            <p:nvPr/>
          </p:nvSpPr>
          <p:spPr>
            <a:xfrm>
              <a:off x="7818120" y="1417320"/>
              <a:ext cx="3840479" cy="4206240"/>
            </a:xfrm>
            <a:custGeom>
              <a:avLst/>
              <a:gdLst/>
              <a:ahLst/>
              <a:cxnLst/>
              <a:rect l="l" t="t" r="r" b="b"/>
              <a:pathLst>
                <a:path w="3840479" h="4206240">
                  <a:moveTo>
                    <a:pt x="0" y="73151"/>
                  </a:moveTo>
                  <a:lnTo>
                    <a:pt x="5750" y="44684"/>
                  </a:lnTo>
                  <a:lnTo>
                    <a:pt x="21431" y="21431"/>
                  </a:lnTo>
                  <a:lnTo>
                    <a:pt x="44684" y="5750"/>
                  </a:lnTo>
                  <a:lnTo>
                    <a:pt x="73151" y="0"/>
                  </a:lnTo>
                  <a:lnTo>
                    <a:pt x="3767328" y="0"/>
                  </a:lnTo>
                  <a:lnTo>
                    <a:pt x="3795795" y="5750"/>
                  </a:lnTo>
                  <a:lnTo>
                    <a:pt x="3819048" y="21431"/>
                  </a:lnTo>
                  <a:lnTo>
                    <a:pt x="3834729" y="44684"/>
                  </a:lnTo>
                  <a:lnTo>
                    <a:pt x="3840479" y="73151"/>
                  </a:lnTo>
                  <a:lnTo>
                    <a:pt x="3840479" y="4133088"/>
                  </a:lnTo>
                  <a:lnTo>
                    <a:pt x="3834729" y="4161561"/>
                  </a:lnTo>
                  <a:lnTo>
                    <a:pt x="3819048" y="4184813"/>
                  </a:lnTo>
                  <a:lnTo>
                    <a:pt x="3795795" y="4200491"/>
                  </a:lnTo>
                  <a:lnTo>
                    <a:pt x="3767328" y="4206240"/>
                  </a:lnTo>
                  <a:lnTo>
                    <a:pt x="73151" y="4206240"/>
                  </a:lnTo>
                  <a:lnTo>
                    <a:pt x="44684" y="4200491"/>
                  </a:lnTo>
                  <a:lnTo>
                    <a:pt x="21431" y="4184813"/>
                  </a:lnTo>
                  <a:lnTo>
                    <a:pt x="5750" y="4161561"/>
                  </a:lnTo>
                  <a:lnTo>
                    <a:pt x="0" y="4133088"/>
                  </a:lnTo>
                  <a:lnTo>
                    <a:pt x="0" y="73151"/>
                  </a:lnTo>
                  <a:close/>
                </a:path>
              </a:pathLst>
            </a:custGeom>
            <a:ln w="12192">
              <a:solidFill>
                <a:srgbClr val="DDD2C4"/>
              </a:solidFill>
            </a:ln>
          </p:spPr>
          <p:txBody>
            <a:bodyPr wrap="square" lIns="0" tIns="0" rIns="0" bIns="0" rtlCol="0"/>
            <a:lstStyle/>
            <a:p>
              <a:endParaRPr/>
            </a:p>
          </p:txBody>
        </p:sp>
        <p:sp>
          <p:nvSpPr>
            <p:cNvPr id="13" name="object 13"/>
            <p:cNvSpPr/>
            <p:nvPr/>
          </p:nvSpPr>
          <p:spPr>
            <a:xfrm>
              <a:off x="7818120" y="1417320"/>
              <a:ext cx="3840479" cy="502920"/>
            </a:xfrm>
            <a:custGeom>
              <a:avLst/>
              <a:gdLst/>
              <a:ahLst/>
              <a:cxnLst/>
              <a:rect l="l" t="t" r="r" b="b"/>
              <a:pathLst>
                <a:path w="3840479" h="502919">
                  <a:moveTo>
                    <a:pt x="3767328" y="0"/>
                  </a:moveTo>
                  <a:lnTo>
                    <a:pt x="73151" y="0"/>
                  </a:lnTo>
                  <a:lnTo>
                    <a:pt x="44684" y="5750"/>
                  </a:lnTo>
                  <a:lnTo>
                    <a:pt x="21431" y="21431"/>
                  </a:lnTo>
                  <a:lnTo>
                    <a:pt x="5750" y="44684"/>
                  </a:lnTo>
                  <a:lnTo>
                    <a:pt x="0" y="73151"/>
                  </a:lnTo>
                  <a:lnTo>
                    <a:pt x="0" y="429767"/>
                  </a:lnTo>
                  <a:lnTo>
                    <a:pt x="5750" y="458235"/>
                  </a:lnTo>
                  <a:lnTo>
                    <a:pt x="21431" y="481488"/>
                  </a:lnTo>
                  <a:lnTo>
                    <a:pt x="44684" y="497169"/>
                  </a:lnTo>
                  <a:lnTo>
                    <a:pt x="73151" y="502919"/>
                  </a:lnTo>
                  <a:lnTo>
                    <a:pt x="3767328" y="502919"/>
                  </a:lnTo>
                  <a:lnTo>
                    <a:pt x="3795795" y="497169"/>
                  </a:lnTo>
                  <a:lnTo>
                    <a:pt x="3819048" y="481488"/>
                  </a:lnTo>
                  <a:lnTo>
                    <a:pt x="3834729" y="458235"/>
                  </a:lnTo>
                  <a:lnTo>
                    <a:pt x="3840479" y="429767"/>
                  </a:lnTo>
                  <a:lnTo>
                    <a:pt x="3840479" y="73151"/>
                  </a:lnTo>
                  <a:lnTo>
                    <a:pt x="3834729" y="44684"/>
                  </a:lnTo>
                  <a:lnTo>
                    <a:pt x="3819048" y="21431"/>
                  </a:lnTo>
                  <a:lnTo>
                    <a:pt x="3795795" y="5750"/>
                  </a:lnTo>
                  <a:lnTo>
                    <a:pt x="3767328" y="0"/>
                  </a:lnTo>
                  <a:close/>
                </a:path>
              </a:pathLst>
            </a:custGeom>
            <a:solidFill>
              <a:srgbClr val="C00000"/>
            </a:solidFill>
          </p:spPr>
          <p:txBody>
            <a:bodyPr wrap="square" lIns="0" tIns="0" rIns="0" bIns="0" rtlCol="0"/>
            <a:lstStyle/>
            <a:p>
              <a:endParaRPr/>
            </a:p>
          </p:txBody>
        </p:sp>
      </p:grpSp>
      <p:sp>
        <p:nvSpPr>
          <p:cNvPr id="14" name="object 14"/>
          <p:cNvSpPr txBox="1"/>
          <p:nvPr/>
        </p:nvSpPr>
        <p:spPr>
          <a:xfrm>
            <a:off x="9045320" y="1530477"/>
            <a:ext cx="1390015" cy="255904"/>
          </a:xfrm>
          <a:prstGeom prst="rect">
            <a:avLst/>
          </a:prstGeom>
        </p:spPr>
        <p:txBody>
          <a:bodyPr vert="horz" wrap="square" lIns="0" tIns="13970" rIns="0" bIns="0" rtlCol="0">
            <a:spAutoFit/>
          </a:bodyPr>
          <a:lstStyle/>
          <a:p>
            <a:pPr marL="12700">
              <a:lnSpc>
                <a:spcPct val="100000"/>
              </a:lnSpc>
              <a:spcBef>
                <a:spcPts val="110"/>
              </a:spcBef>
            </a:pPr>
            <a:r>
              <a:rPr sz="1500" b="1" dirty="0">
                <a:solidFill>
                  <a:srgbClr val="FFFFFF"/>
                </a:solidFill>
                <a:latin typeface="Calibri"/>
                <a:cs typeface="Calibri"/>
              </a:rPr>
              <a:t>PROJECT</a:t>
            </a:r>
            <a:r>
              <a:rPr sz="1500" b="1" spc="-70" dirty="0">
                <a:solidFill>
                  <a:srgbClr val="FFFFFF"/>
                </a:solidFill>
                <a:latin typeface="Calibri"/>
                <a:cs typeface="Calibri"/>
              </a:rPr>
              <a:t> </a:t>
            </a:r>
            <a:r>
              <a:rPr sz="1500" b="1" spc="-10" dirty="0">
                <a:solidFill>
                  <a:srgbClr val="FFFFFF"/>
                </a:solidFill>
                <a:latin typeface="Calibri"/>
                <a:cs typeface="Calibri"/>
              </a:rPr>
              <a:t>DETAILS</a:t>
            </a:r>
            <a:endParaRPr sz="1500">
              <a:latin typeface="Calibri"/>
              <a:cs typeface="Calibri"/>
            </a:endParaRPr>
          </a:p>
        </p:txBody>
      </p:sp>
      <p:sp>
        <p:nvSpPr>
          <p:cNvPr id="20" name="object 20"/>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21" name="object 21"/>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1</a:t>
            </a:fld>
            <a:endParaRPr spc="-25" dirty="0"/>
          </a:p>
        </p:txBody>
      </p:sp>
      <p:sp>
        <p:nvSpPr>
          <p:cNvPr id="15" name="object 15"/>
          <p:cNvSpPr txBox="1"/>
          <p:nvPr/>
        </p:nvSpPr>
        <p:spPr>
          <a:xfrm>
            <a:off x="8036179" y="2110173"/>
            <a:ext cx="2065655" cy="849592"/>
          </a:xfrm>
          <a:prstGeom prst="rect">
            <a:avLst/>
          </a:prstGeom>
        </p:spPr>
        <p:txBody>
          <a:bodyPr vert="horz" wrap="square" lIns="0" tIns="41275" rIns="0" bIns="0" rtlCol="0">
            <a:spAutoFit/>
          </a:bodyPr>
          <a:lstStyle/>
          <a:p>
            <a:pPr marL="12700">
              <a:lnSpc>
                <a:spcPct val="100000"/>
              </a:lnSpc>
              <a:spcBef>
                <a:spcPts val="325"/>
              </a:spcBef>
            </a:pPr>
            <a:r>
              <a:rPr sz="950" b="1" spc="10" dirty="0">
                <a:solidFill>
                  <a:srgbClr val="6D6D6D"/>
                </a:solidFill>
                <a:latin typeface="Calibri"/>
                <a:cs typeface="Calibri"/>
              </a:rPr>
              <a:t>PROJECT</a:t>
            </a:r>
            <a:r>
              <a:rPr sz="950" b="1" spc="280" dirty="0">
                <a:solidFill>
                  <a:srgbClr val="6D6D6D"/>
                </a:solidFill>
                <a:latin typeface="Calibri"/>
                <a:cs typeface="Calibri"/>
              </a:rPr>
              <a:t> </a:t>
            </a:r>
            <a:r>
              <a:rPr sz="950" b="1" spc="35" dirty="0">
                <a:solidFill>
                  <a:srgbClr val="6D6D6D"/>
                </a:solidFill>
                <a:latin typeface="Calibri"/>
                <a:cs typeface="Calibri"/>
              </a:rPr>
              <a:t>MEMBERS</a:t>
            </a:r>
            <a:r>
              <a:rPr lang="en-IN" sz="950" b="1" spc="35" dirty="0">
                <a:solidFill>
                  <a:srgbClr val="6D6D6D"/>
                </a:solidFill>
                <a:latin typeface="Calibri"/>
                <a:cs typeface="Calibri"/>
              </a:rPr>
              <a:t>:</a:t>
            </a:r>
          </a:p>
          <a:p>
            <a:pPr marL="12700">
              <a:lnSpc>
                <a:spcPct val="100000"/>
              </a:lnSpc>
              <a:spcBef>
                <a:spcPts val="325"/>
              </a:spcBef>
            </a:pPr>
            <a:r>
              <a:rPr lang="en-IN" sz="950" b="1" spc="35" dirty="0">
                <a:solidFill>
                  <a:srgbClr val="6D6D6D"/>
                </a:solidFill>
                <a:latin typeface="Calibri"/>
                <a:cs typeface="Calibri"/>
              </a:rPr>
              <a:t>GADDAM VAISHNAVI REDDY – 2520030247</a:t>
            </a:r>
          </a:p>
          <a:p>
            <a:pPr marL="12700">
              <a:lnSpc>
                <a:spcPct val="100000"/>
              </a:lnSpc>
              <a:spcBef>
                <a:spcPts val="325"/>
              </a:spcBef>
            </a:pPr>
            <a:r>
              <a:rPr lang="en-IN" sz="950" b="1" spc="35" dirty="0">
                <a:solidFill>
                  <a:srgbClr val="6D6D6D"/>
                </a:solidFill>
                <a:latin typeface="Calibri"/>
                <a:cs typeface="Calibri"/>
              </a:rPr>
              <a:t> GV MADHAV- 2520030568</a:t>
            </a:r>
            <a:br>
              <a:rPr lang="en-IN" sz="950" b="1" spc="35" dirty="0">
                <a:solidFill>
                  <a:srgbClr val="6D6D6D"/>
                </a:solidFill>
                <a:latin typeface="Calibri"/>
                <a:cs typeface="Calibri"/>
              </a:rPr>
            </a:br>
            <a:r>
              <a:rPr lang="en-IN" sz="950" b="1" spc="35" dirty="0">
                <a:solidFill>
                  <a:srgbClr val="6D6D6D"/>
                </a:solidFill>
                <a:latin typeface="Calibri"/>
                <a:cs typeface="Calibri"/>
              </a:rPr>
              <a:t>RICHIE KIRAN -2520030498</a:t>
            </a:r>
          </a:p>
        </p:txBody>
      </p:sp>
      <p:sp>
        <p:nvSpPr>
          <p:cNvPr id="16" name="object 16"/>
          <p:cNvSpPr txBox="1"/>
          <p:nvPr/>
        </p:nvSpPr>
        <p:spPr>
          <a:xfrm>
            <a:off x="8036179" y="3061538"/>
            <a:ext cx="468630" cy="172085"/>
          </a:xfrm>
          <a:prstGeom prst="rect">
            <a:avLst/>
          </a:prstGeom>
        </p:spPr>
        <p:txBody>
          <a:bodyPr vert="horz" wrap="square" lIns="0" tIns="13970" rIns="0" bIns="0" rtlCol="0">
            <a:spAutoFit/>
          </a:bodyPr>
          <a:lstStyle/>
          <a:p>
            <a:pPr marL="12700">
              <a:lnSpc>
                <a:spcPct val="100000"/>
              </a:lnSpc>
              <a:spcBef>
                <a:spcPts val="110"/>
              </a:spcBef>
            </a:pPr>
            <a:r>
              <a:rPr sz="950" b="1" spc="-10" dirty="0">
                <a:solidFill>
                  <a:srgbClr val="6D6D6D"/>
                </a:solidFill>
                <a:latin typeface="Calibri"/>
                <a:cs typeface="Calibri"/>
              </a:rPr>
              <a:t>COURSE</a:t>
            </a:r>
            <a:endParaRPr sz="950">
              <a:latin typeface="Calibri"/>
              <a:cs typeface="Calibri"/>
            </a:endParaRPr>
          </a:p>
        </p:txBody>
      </p:sp>
      <p:sp>
        <p:nvSpPr>
          <p:cNvPr id="17" name="object 17"/>
          <p:cNvSpPr txBox="1"/>
          <p:nvPr/>
        </p:nvSpPr>
        <p:spPr>
          <a:xfrm>
            <a:off x="8036179" y="3244088"/>
            <a:ext cx="1175385" cy="215900"/>
          </a:xfrm>
          <a:prstGeom prst="rect">
            <a:avLst/>
          </a:prstGeom>
        </p:spPr>
        <p:txBody>
          <a:bodyPr vert="horz" wrap="square" lIns="0" tIns="12065" rIns="0" bIns="0" rtlCol="0">
            <a:spAutoFit/>
          </a:bodyPr>
          <a:lstStyle/>
          <a:p>
            <a:pPr marL="12700">
              <a:lnSpc>
                <a:spcPct val="100000"/>
              </a:lnSpc>
              <a:spcBef>
                <a:spcPts val="95"/>
              </a:spcBef>
            </a:pPr>
            <a:r>
              <a:rPr sz="1250" dirty="0">
                <a:solidFill>
                  <a:srgbClr val="252525"/>
                </a:solidFill>
                <a:latin typeface="Calibri"/>
                <a:cs typeface="Calibri"/>
              </a:rPr>
              <a:t>Machine</a:t>
            </a:r>
            <a:r>
              <a:rPr sz="1250" spc="-55" dirty="0">
                <a:solidFill>
                  <a:srgbClr val="252525"/>
                </a:solidFill>
                <a:latin typeface="Calibri"/>
                <a:cs typeface="Calibri"/>
              </a:rPr>
              <a:t> </a:t>
            </a:r>
            <a:r>
              <a:rPr sz="1250" spc="-10" dirty="0">
                <a:solidFill>
                  <a:srgbClr val="252525"/>
                </a:solidFill>
                <a:latin typeface="Calibri"/>
                <a:cs typeface="Calibri"/>
              </a:rPr>
              <a:t>Learning</a:t>
            </a:r>
            <a:endParaRPr sz="1250">
              <a:latin typeface="Calibri"/>
              <a:cs typeface="Calibri"/>
            </a:endParaRPr>
          </a:p>
        </p:txBody>
      </p:sp>
      <p:sp>
        <p:nvSpPr>
          <p:cNvPr id="18" name="object 18"/>
          <p:cNvSpPr txBox="1"/>
          <p:nvPr/>
        </p:nvSpPr>
        <p:spPr>
          <a:xfrm>
            <a:off x="8036179" y="3701635"/>
            <a:ext cx="803275" cy="426084"/>
          </a:xfrm>
          <a:prstGeom prst="rect">
            <a:avLst/>
          </a:prstGeom>
        </p:spPr>
        <p:txBody>
          <a:bodyPr vert="horz" wrap="square" lIns="0" tIns="41910" rIns="0" bIns="0" rtlCol="0">
            <a:spAutoFit/>
          </a:bodyPr>
          <a:lstStyle/>
          <a:p>
            <a:pPr marL="12700">
              <a:lnSpc>
                <a:spcPct val="100000"/>
              </a:lnSpc>
              <a:spcBef>
                <a:spcPts val="330"/>
              </a:spcBef>
            </a:pPr>
            <a:r>
              <a:rPr sz="950" b="1" dirty="0">
                <a:solidFill>
                  <a:srgbClr val="6D6D6D"/>
                </a:solidFill>
                <a:latin typeface="Calibri"/>
                <a:cs typeface="Calibri"/>
              </a:rPr>
              <a:t>COURSE</a:t>
            </a:r>
            <a:r>
              <a:rPr sz="950" b="1" spc="305" dirty="0">
                <a:solidFill>
                  <a:srgbClr val="6D6D6D"/>
                </a:solidFill>
                <a:latin typeface="Calibri"/>
                <a:cs typeface="Calibri"/>
              </a:rPr>
              <a:t> </a:t>
            </a:r>
            <a:r>
              <a:rPr sz="950" b="1" spc="-20" dirty="0">
                <a:solidFill>
                  <a:srgbClr val="6D6D6D"/>
                </a:solidFill>
                <a:latin typeface="Calibri"/>
                <a:cs typeface="Calibri"/>
              </a:rPr>
              <a:t>CODE</a:t>
            </a:r>
            <a:endParaRPr sz="950">
              <a:latin typeface="Calibri"/>
              <a:cs typeface="Calibri"/>
            </a:endParaRPr>
          </a:p>
          <a:p>
            <a:pPr marL="12700">
              <a:lnSpc>
                <a:spcPct val="100000"/>
              </a:lnSpc>
              <a:spcBef>
                <a:spcPts val="280"/>
              </a:spcBef>
            </a:pPr>
            <a:r>
              <a:rPr sz="1250" spc="-10" dirty="0">
                <a:solidFill>
                  <a:srgbClr val="252525"/>
                </a:solidFill>
                <a:latin typeface="Calibri"/>
                <a:cs typeface="Calibri"/>
              </a:rPr>
              <a:t>25SC2107E</a:t>
            </a:r>
            <a:endParaRPr sz="1250">
              <a:latin typeface="Calibri"/>
              <a:cs typeface="Calibri"/>
            </a:endParaRPr>
          </a:p>
        </p:txBody>
      </p:sp>
      <p:sp>
        <p:nvSpPr>
          <p:cNvPr id="19" name="object 19"/>
          <p:cNvSpPr txBox="1"/>
          <p:nvPr/>
        </p:nvSpPr>
        <p:spPr>
          <a:xfrm>
            <a:off x="8036179" y="4369528"/>
            <a:ext cx="1207770" cy="1094105"/>
          </a:xfrm>
          <a:prstGeom prst="rect">
            <a:avLst/>
          </a:prstGeom>
        </p:spPr>
        <p:txBody>
          <a:bodyPr vert="horz" wrap="square" lIns="0" tIns="41910" rIns="0" bIns="0" rtlCol="0">
            <a:spAutoFit/>
          </a:bodyPr>
          <a:lstStyle/>
          <a:p>
            <a:pPr marL="12700">
              <a:lnSpc>
                <a:spcPct val="100000"/>
              </a:lnSpc>
              <a:spcBef>
                <a:spcPts val="330"/>
              </a:spcBef>
            </a:pPr>
            <a:r>
              <a:rPr sz="950" b="1" spc="45" dirty="0">
                <a:solidFill>
                  <a:srgbClr val="6D6D6D"/>
                </a:solidFill>
                <a:latin typeface="Calibri"/>
                <a:cs typeface="Calibri"/>
              </a:rPr>
              <a:t>SECTION</a:t>
            </a:r>
            <a:r>
              <a:rPr sz="950" b="1" spc="35" dirty="0">
                <a:solidFill>
                  <a:srgbClr val="6D6D6D"/>
                </a:solidFill>
                <a:latin typeface="Calibri"/>
                <a:cs typeface="Calibri"/>
              </a:rPr>
              <a:t> </a:t>
            </a:r>
            <a:r>
              <a:rPr sz="950" b="1" dirty="0">
                <a:solidFill>
                  <a:srgbClr val="6D6D6D"/>
                </a:solidFill>
                <a:latin typeface="Calibri"/>
                <a:cs typeface="Calibri"/>
              </a:rPr>
              <a:t>/</a:t>
            </a:r>
            <a:r>
              <a:rPr sz="950" b="1" spc="85" dirty="0">
                <a:solidFill>
                  <a:srgbClr val="6D6D6D"/>
                </a:solidFill>
                <a:latin typeface="Calibri"/>
                <a:cs typeface="Calibri"/>
              </a:rPr>
              <a:t> </a:t>
            </a:r>
            <a:r>
              <a:rPr sz="950" b="1" spc="-10" dirty="0">
                <a:solidFill>
                  <a:srgbClr val="6D6D6D"/>
                </a:solidFill>
                <a:latin typeface="Calibri"/>
                <a:cs typeface="Calibri"/>
              </a:rPr>
              <a:t>BRANCH</a:t>
            </a:r>
            <a:endParaRPr sz="950">
              <a:latin typeface="Calibri"/>
              <a:cs typeface="Calibri"/>
            </a:endParaRPr>
          </a:p>
          <a:p>
            <a:pPr marL="12700">
              <a:lnSpc>
                <a:spcPct val="100000"/>
              </a:lnSpc>
              <a:spcBef>
                <a:spcPts val="280"/>
              </a:spcBef>
            </a:pPr>
            <a:r>
              <a:rPr sz="1250" dirty="0">
                <a:solidFill>
                  <a:srgbClr val="252525"/>
                </a:solidFill>
                <a:latin typeface="Calibri"/>
                <a:cs typeface="Calibri"/>
              </a:rPr>
              <a:t>Section</a:t>
            </a:r>
            <a:r>
              <a:rPr sz="1250" spc="5" dirty="0">
                <a:solidFill>
                  <a:srgbClr val="252525"/>
                </a:solidFill>
                <a:latin typeface="Calibri"/>
                <a:cs typeface="Calibri"/>
              </a:rPr>
              <a:t> </a:t>
            </a:r>
            <a:r>
              <a:rPr sz="1250" dirty="0">
                <a:solidFill>
                  <a:srgbClr val="252525"/>
                </a:solidFill>
                <a:latin typeface="Calibri"/>
                <a:cs typeface="Calibri"/>
              </a:rPr>
              <a:t>4</a:t>
            </a:r>
            <a:r>
              <a:rPr sz="1250" spc="275" dirty="0">
                <a:solidFill>
                  <a:srgbClr val="252525"/>
                </a:solidFill>
                <a:latin typeface="Calibri"/>
                <a:cs typeface="Calibri"/>
              </a:rPr>
              <a:t> </a:t>
            </a:r>
            <a:r>
              <a:rPr sz="1250" dirty="0">
                <a:solidFill>
                  <a:srgbClr val="252525"/>
                </a:solidFill>
                <a:latin typeface="Calibri"/>
                <a:cs typeface="Calibri"/>
              </a:rPr>
              <a:t>•</a:t>
            </a:r>
            <a:r>
              <a:rPr sz="1250" spc="270" dirty="0">
                <a:solidFill>
                  <a:srgbClr val="252525"/>
                </a:solidFill>
                <a:latin typeface="Calibri"/>
                <a:cs typeface="Calibri"/>
              </a:rPr>
              <a:t> </a:t>
            </a:r>
            <a:r>
              <a:rPr sz="1250" spc="-25" dirty="0">
                <a:solidFill>
                  <a:srgbClr val="252525"/>
                </a:solidFill>
                <a:latin typeface="Calibri"/>
                <a:cs typeface="Calibri"/>
              </a:rPr>
              <a:t>CSE</a:t>
            </a:r>
            <a:endParaRPr sz="1250">
              <a:latin typeface="Calibri"/>
              <a:cs typeface="Calibri"/>
            </a:endParaRPr>
          </a:p>
          <a:p>
            <a:pPr>
              <a:lnSpc>
                <a:spcPct val="100000"/>
              </a:lnSpc>
              <a:spcBef>
                <a:spcPts val="810"/>
              </a:spcBef>
            </a:pPr>
            <a:endParaRPr sz="1250">
              <a:latin typeface="Calibri"/>
              <a:cs typeface="Calibri"/>
            </a:endParaRPr>
          </a:p>
          <a:p>
            <a:pPr marL="12700">
              <a:lnSpc>
                <a:spcPct val="100000"/>
              </a:lnSpc>
            </a:pPr>
            <a:r>
              <a:rPr sz="950" b="1" dirty="0">
                <a:solidFill>
                  <a:srgbClr val="6D6D6D"/>
                </a:solidFill>
                <a:latin typeface="Calibri"/>
                <a:cs typeface="Calibri"/>
              </a:rPr>
              <a:t>GUIDED</a:t>
            </a:r>
            <a:r>
              <a:rPr sz="950" b="1" spc="305" dirty="0">
                <a:solidFill>
                  <a:srgbClr val="6D6D6D"/>
                </a:solidFill>
                <a:latin typeface="Calibri"/>
                <a:cs typeface="Calibri"/>
              </a:rPr>
              <a:t> </a:t>
            </a:r>
            <a:r>
              <a:rPr sz="950" b="1" spc="-25" dirty="0">
                <a:solidFill>
                  <a:srgbClr val="6D6D6D"/>
                </a:solidFill>
                <a:latin typeface="Calibri"/>
                <a:cs typeface="Calibri"/>
              </a:rPr>
              <a:t>BY</a:t>
            </a:r>
            <a:endParaRPr sz="950">
              <a:latin typeface="Calibri"/>
              <a:cs typeface="Calibri"/>
            </a:endParaRPr>
          </a:p>
          <a:p>
            <a:pPr marL="12700">
              <a:lnSpc>
                <a:spcPct val="100000"/>
              </a:lnSpc>
              <a:spcBef>
                <a:spcPts val="285"/>
              </a:spcBef>
            </a:pPr>
            <a:r>
              <a:rPr sz="1250" dirty="0">
                <a:solidFill>
                  <a:srgbClr val="252525"/>
                </a:solidFill>
                <a:latin typeface="Calibri"/>
                <a:cs typeface="Calibri"/>
              </a:rPr>
              <a:t>Ms. </a:t>
            </a:r>
            <a:r>
              <a:rPr sz="1250" spc="-10" dirty="0">
                <a:solidFill>
                  <a:srgbClr val="252525"/>
                </a:solidFill>
                <a:latin typeface="Calibri"/>
                <a:cs typeface="Calibri"/>
              </a:rPr>
              <a:t>Jyothsna</a:t>
            </a:r>
            <a:r>
              <a:rPr sz="1250" spc="5" dirty="0">
                <a:solidFill>
                  <a:srgbClr val="252525"/>
                </a:solidFill>
                <a:latin typeface="Calibri"/>
                <a:cs typeface="Calibri"/>
              </a:rPr>
              <a:t> </a:t>
            </a:r>
            <a:r>
              <a:rPr sz="1250" spc="-20" dirty="0">
                <a:solidFill>
                  <a:srgbClr val="252525"/>
                </a:solidFill>
                <a:latin typeface="Calibri"/>
                <a:cs typeface="Calibri"/>
              </a:rPr>
              <a:t>Datti</a:t>
            </a:r>
            <a:endParaRPr sz="125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257935">
              <a:lnSpc>
                <a:spcPct val="100000"/>
              </a:lnSpc>
              <a:spcBef>
                <a:spcPts val="105"/>
              </a:spcBef>
            </a:pPr>
            <a:r>
              <a:rPr spc="-10" dirty="0"/>
              <a:t>ABSTRACT</a:t>
            </a:r>
          </a:p>
        </p:txBody>
      </p:sp>
      <p:sp>
        <p:nvSpPr>
          <p:cNvPr id="3" name="object 3"/>
          <p:cNvSpPr txBox="1"/>
          <p:nvPr/>
        </p:nvSpPr>
        <p:spPr>
          <a:xfrm>
            <a:off x="4594097" y="933449"/>
            <a:ext cx="3001010"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Project</a:t>
            </a:r>
            <a:r>
              <a:rPr sz="1150" i="1" spc="-20" dirty="0">
                <a:solidFill>
                  <a:srgbClr val="6D6D6D"/>
                </a:solidFill>
                <a:latin typeface="Calibri"/>
                <a:cs typeface="Calibri"/>
              </a:rPr>
              <a:t> </a:t>
            </a:r>
            <a:r>
              <a:rPr sz="1150" i="1" dirty="0">
                <a:solidFill>
                  <a:srgbClr val="6D6D6D"/>
                </a:solidFill>
                <a:latin typeface="Calibri"/>
                <a:cs typeface="Calibri"/>
              </a:rPr>
              <a:t>motivation</a:t>
            </a:r>
            <a:r>
              <a:rPr sz="1150" i="1" spc="-30" dirty="0">
                <a:solidFill>
                  <a:srgbClr val="6D6D6D"/>
                </a:solidFill>
                <a:latin typeface="Calibri"/>
                <a:cs typeface="Calibri"/>
              </a:rPr>
              <a:t> </a:t>
            </a:r>
            <a:r>
              <a:rPr sz="1150" i="1" dirty="0">
                <a:solidFill>
                  <a:srgbClr val="6D6D6D"/>
                </a:solidFill>
                <a:latin typeface="Calibri"/>
                <a:cs typeface="Calibri"/>
              </a:rPr>
              <a:t>and</a:t>
            </a:r>
            <a:r>
              <a:rPr sz="1150" i="1" spc="-55" dirty="0">
                <a:solidFill>
                  <a:srgbClr val="6D6D6D"/>
                </a:solidFill>
                <a:latin typeface="Calibri"/>
                <a:cs typeface="Calibri"/>
              </a:rPr>
              <a:t> </a:t>
            </a:r>
            <a:r>
              <a:rPr sz="1150" i="1" dirty="0">
                <a:solidFill>
                  <a:srgbClr val="6D6D6D"/>
                </a:solidFill>
                <a:latin typeface="Calibri"/>
                <a:cs typeface="Calibri"/>
              </a:rPr>
              <a:t>proposed</a:t>
            </a:r>
            <a:r>
              <a:rPr sz="1150" i="1" spc="-55" dirty="0">
                <a:solidFill>
                  <a:srgbClr val="6D6D6D"/>
                </a:solidFill>
                <a:latin typeface="Calibri"/>
                <a:cs typeface="Calibri"/>
              </a:rPr>
              <a:t> </a:t>
            </a:r>
            <a:r>
              <a:rPr sz="1150" i="1" dirty="0">
                <a:solidFill>
                  <a:srgbClr val="6D6D6D"/>
                </a:solidFill>
                <a:latin typeface="Calibri"/>
                <a:cs typeface="Calibri"/>
              </a:rPr>
              <a:t>learning</a:t>
            </a:r>
            <a:r>
              <a:rPr sz="1150" i="1" spc="-55" dirty="0">
                <a:solidFill>
                  <a:srgbClr val="6D6D6D"/>
                </a:solidFill>
                <a:latin typeface="Calibri"/>
                <a:cs typeface="Calibri"/>
              </a:rPr>
              <a:t> </a:t>
            </a:r>
            <a:r>
              <a:rPr sz="1150" i="1" spc="-10" dirty="0">
                <a:solidFill>
                  <a:srgbClr val="6D6D6D"/>
                </a:solidFill>
                <a:latin typeface="Calibri"/>
                <a:cs typeface="Calibri"/>
              </a:rPr>
              <a:t>strategy</a:t>
            </a:r>
            <a:endParaRPr sz="1150" dirty="0">
              <a:latin typeface="Calibri"/>
              <a:cs typeface="Calibri"/>
            </a:endParaRPr>
          </a:p>
        </p:txBody>
      </p:sp>
      <p:sp>
        <p:nvSpPr>
          <p:cNvPr id="8" name="object 8"/>
          <p:cNvSpPr txBox="1"/>
          <p:nvPr/>
        </p:nvSpPr>
        <p:spPr>
          <a:xfrm>
            <a:off x="152400" y="1697261"/>
            <a:ext cx="11887200" cy="4937890"/>
          </a:xfrm>
          <a:prstGeom prst="rect">
            <a:avLst/>
          </a:prstGeom>
        </p:spPr>
        <p:txBody>
          <a:bodyPr vert="horz" wrap="square" lIns="0" tIns="13335" rIns="0" bIns="0" rtlCol="0">
            <a:spAutoFit/>
          </a:bodyPr>
          <a:lstStyle/>
          <a:p>
            <a:r>
              <a:rPr lang="en-IN" sz="1600" dirty="0"/>
              <a:t>Money laundering has become an increasingly sophisticated financial crime that enables illegal activities such as fraud, terrorism financing, corruption, and cybercrime. Conventional Anti-Money Laundering (AML) systems primarily rely on predefined rules and manual investigation, making them less effective in identifying complex and evolving money laundering patterns. With the rapid growth of digital banking, cryptocurrency transactions, and interconnected financial networks, there is a growing need for intelligent detection methods. Recent advances in Graph Neural Networks (GNNs) have demonstrated significant potential in addressing this challenge by representing financial ecosystems as graphs, where accounts are </a:t>
            </a:r>
            <a:r>
              <a:rPr lang="en-IN" sz="1600" dirty="0" err="1"/>
              <a:t>modeled</a:t>
            </a:r>
            <a:r>
              <a:rPr lang="en-IN" sz="1600" dirty="0"/>
              <a:t> as nodes and transactions as edges. This study presents a comprehensive overview of recent research on AML detection using GNN-based techniques, including Graph Convolutional Networks (GCN), Graph Attention Networks (GAT), </a:t>
            </a:r>
            <a:r>
              <a:rPr lang="en-IN" sz="1600" dirty="0" err="1"/>
              <a:t>GraphSAGE</a:t>
            </a:r>
            <a:r>
              <a:rPr lang="en-IN" sz="1600" dirty="0"/>
              <a:t>, and other graph learning approaches. The literature indicates how these models effectively capture structural and contextual information within transaction networks, allowing them to identify suspicious activities that traditional machine learning methods often overlook. Widely adopted benchmark datasets, such as the Elliptic Bitcoin Dataset and </a:t>
            </a:r>
            <a:r>
              <a:rPr lang="en-IN" sz="1600" dirty="0" err="1"/>
              <a:t>AMLSim</a:t>
            </a:r>
            <a:r>
              <a:rPr lang="en-IN" sz="1600" dirty="0"/>
              <a:t>, have further accelerated research by providing realistic environments for evaluating detection performance. Despite promising improvements in accuracy, precision, and recall, challenges remain, including severe class imbalance, limited availability of real-world </a:t>
            </a:r>
            <a:r>
              <a:rPr lang="en-IN" sz="1600" dirty="0" err="1"/>
              <a:t>labeled</a:t>
            </a:r>
            <a:r>
              <a:rPr lang="en-IN" sz="1600" dirty="0"/>
              <a:t> data, scalability to massive transaction graphs, privacy constraints, and the need for explainable predictions that support regulatory compliance. The review also highlights emerging research directions such as heterogeneous graph learning, temporal neural networks, self-supervised representation learning, and explainable artificial intelligence, which aim to improve both detection capability and model transparency. Overall, Graph Neural Networks represent a transformative approach to AML by leveraging the relational nature of financial transactions, enabling earlier identification of illicit activities while reducing false positives. Continued research integrating advanced graph learning techniques is expected to result in strengthening financial security and supporting more effective anti-money laundering systems in modern digital economies.</a:t>
            </a:r>
          </a:p>
          <a:p>
            <a:pPr algn="just"/>
            <a:endParaRPr lang="en-IN" sz="1600" dirty="0">
              <a:latin typeface="Times New Roman" panose="02020603050405020304" pitchFamily="18" charset="0"/>
              <a:cs typeface="Times New Roman" panose="02020603050405020304" pitchFamily="18" charset="0"/>
            </a:endParaRPr>
          </a:p>
        </p:txBody>
      </p:sp>
      <p:sp>
        <p:nvSpPr>
          <p:cNvPr id="18" name="object 18"/>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9" name="object 19"/>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2</a:t>
            </a:fld>
            <a:endParaRPr spc="-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941069">
              <a:lnSpc>
                <a:spcPct val="100000"/>
              </a:lnSpc>
              <a:spcBef>
                <a:spcPts val="105"/>
              </a:spcBef>
            </a:pPr>
            <a:r>
              <a:rPr spc="-10" dirty="0"/>
              <a:t>INTRODUCTION</a:t>
            </a:r>
          </a:p>
        </p:txBody>
      </p:sp>
      <p:sp>
        <p:nvSpPr>
          <p:cNvPr id="3" name="object 3"/>
          <p:cNvSpPr txBox="1"/>
          <p:nvPr/>
        </p:nvSpPr>
        <p:spPr>
          <a:xfrm>
            <a:off x="4399026" y="933449"/>
            <a:ext cx="3391535"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Why</a:t>
            </a:r>
            <a:r>
              <a:rPr sz="1150" i="1" spc="-30" dirty="0">
                <a:solidFill>
                  <a:srgbClr val="6D6D6D"/>
                </a:solidFill>
                <a:latin typeface="Calibri"/>
                <a:cs typeface="Calibri"/>
              </a:rPr>
              <a:t> </a:t>
            </a:r>
            <a:r>
              <a:rPr sz="1150" i="1" dirty="0">
                <a:solidFill>
                  <a:srgbClr val="6D6D6D"/>
                </a:solidFill>
                <a:latin typeface="Calibri"/>
                <a:cs typeface="Calibri"/>
              </a:rPr>
              <a:t>a</a:t>
            </a:r>
            <a:r>
              <a:rPr sz="1150" i="1" spc="15" dirty="0">
                <a:solidFill>
                  <a:srgbClr val="6D6D6D"/>
                </a:solidFill>
                <a:latin typeface="Calibri"/>
                <a:cs typeface="Calibri"/>
              </a:rPr>
              <a:t> </a:t>
            </a:r>
            <a:r>
              <a:rPr sz="1150" i="1" dirty="0">
                <a:solidFill>
                  <a:srgbClr val="6D6D6D"/>
                </a:solidFill>
                <a:latin typeface="Calibri"/>
                <a:cs typeface="Calibri"/>
              </a:rPr>
              <a:t>hybrid</a:t>
            </a:r>
            <a:r>
              <a:rPr sz="1150" i="1" spc="-10" dirty="0">
                <a:solidFill>
                  <a:srgbClr val="6D6D6D"/>
                </a:solidFill>
                <a:latin typeface="Calibri"/>
                <a:cs typeface="Calibri"/>
              </a:rPr>
              <a:t> LSTM–</a:t>
            </a:r>
            <a:r>
              <a:rPr sz="1150" i="1" dirty="0">
                <a:solidFill>
                  <a:srgbClr val="6D6D6D"/>
                </a:solidFill>
                <a:latin typeface="Calibri"/>
                <a:cs typeface="Calibri"/>
              </a:rPr>
              <a:t>Autoencoder</a:t>
            </a:r>
            <a:r>
              <a:rPr sz="1150" i="1" spc="-50" dirty="0">
                <a:solidFill>
                  <a:srgbClr val="6D6D6D"/>
                </a:solidFill>
                <a:latin typeface="Calibri"/>
                <a:cs typeface="Calibri"/>
              </a:rPr>
              <a:t> </a:t>
            </a:r>
            <a:r>
              <a:rPr sz="1150" i="1" spc="-10" dirty="0">
                <a:solidFill>
                  <a:srgbClr val="6D6D6D"/>
                </a:solidFill>
                <a:latin typeface="Calibri"/>
                <a:cs typeface="Calibri"/>
              </a:rPr>
              <a:t>architecture</a:t>
            </a:r>
            <a:r>
              <a:rPr sz="1150" i="1" spc="10" dirty="0">
                <a:solidFill>
                  <a:srgbClr val="6D6D6D"/>
                </a:solidFill>
                <a:latin typeface="Calibri"/>
                <a:cs typeface="Calibri"/>
              </a:rPr>
              <a:t> </a:t>
            </a:r>
            <a:r>
              <a:rPr sz="1150" i="1" dirty="0">
                <a:solidFill>
                  <a:srgbClr val="6D6D6D"/>
                </a:solidFill>
                <a:latin typeface="Calibri"/>
                <a:cs typeface="Calibri"/>
              </a:rPr>
              <a:t>is</a:t>
            </a:r>
            <a:r>
              <a:rPr sz="1150" i="1" spc="-5" dirty="0">
                <a:solidFill>
                  <a:srgbClr val="6D6D6D"/>
                </a:solidFill>
                <a:latin typeface="Calibri"/>
                <a:cs typeface="Calibri"/>
              </a:rPr>
              <a:t> </a:t>
            </a:r>
            <a:r>
              <a:rPr sz="1150" i="1" spc="-10" dirty="0">
                <a:solidFill>
                  <a:srgbClr val="6D6D6D"/>
                </a:solidFill>
                <a:latin typeface="Calibri"/>
                <a:cs typeface="Calibri"/>
              </a:rPr>
              <a:t>relevant</a:t>
            </a:r>
            <a:endParaRPr sz="1150">
              <a:latin typeface="Calibri"/>
              <a:cs typeface="Calibri"/>
            </a:endParaRPr>
          </a:p>
        </p:txBody>
      </p:sp>
      <p:grpSp>
        <p:nvGrpSpPr>
          <p:cNvPr id="4" name="object 4"/>
          <p:cNvGrpSpPr/>
          <p:nvPr/>
        </p:nvGrpSpPr>
        <p:grpSpPr>
          <a:xfrm>
            <a:off x="371856" y="1310639"/>
            <a:ext cx="5617083" cy="4138803"/>
            <a:chOff x="371856" y="1310639"/>
            <a:chExt cx="5617083" cy="4138803"/>
          </a:xfrm>
        </p:grpSpPr>
        <p:pic>
          <p:nvPicPr>
            <p:cNvPr id="5" name="object 5"/>
            <p:cNvPicPr/>
            <p:nvPr/>
          </p:nvPicPr>
          <p:blipFill>
            <a:blip r:embed="rId2" cstate="print"/>
            <a:stretch>
              <a:fillRect/>
            </a:stretch>
          </p:blipFill>
          <p:spPr>
            <a:xfrm>
              <a:off x="371856" y="1310639"/>
              <a:ext cx="5617083" cy="4138803"/>
            </a:xfrm>
            <a:prstGeom prst="rect">
              <a:avLst/>
            </a:prstGeom>
          </p:spPr>
        </p:pic>
        <p:sp>
          <p:nvSpPr>
            <p:cNvPr id="6" name="object 6"/>
            <p:cNvSpPr/>
            <p:nvPr/>
          </p:nvSpPr>
          <p:spPr>
            <a:xfrm>
              <a:off x="457200" y="2166273"/>
              <a:ext cx="5455920" cy="1807927"/>
            </a:xfrm>
            <a:custGeom>
              <a:avLst/>
              <a:gdLst/>
              <a:ahLst/>
              <a:cxnLst/>
              <a:rect l="l" t="t" r="r" b="b"/>
              <a:pathLst>
                <a:path w="5455920" h="3977640">
                  <a:moveTo>
                    <a:pt x="5382768" y="0"/>
                  </a:moveTo>
                  <a:lnTo>
                    <a:pt x="73151" y="0"/>
                  </a:lnTo>
                  <a:lnTo>
                    <a:pt x="44678" y="5750"/>
                  </a:lnTo>
                  <a:lnTo>
                    <a:pt x="21426" y="21431"/>
                  </a:lnTo>
                  <a:lnTo>
                    <a:pt x="5748" y="44684"/>
                  </a:lnTo>
                  <a:lnTo>
                    <a:pt x="0" y="73151"/>
                  </a:lnTo>
                  <a:lnTo>
                    <a:pt x="0" y="3904488"/>
                  </a:lnTo>
                  <a:lnTo>
                    <a:pt x="5748" y="3932955"/>
                  </a:lnTo>
                  <a:lnTo>
                    <a:pt x="21426" y="3956208"/>
                  </a:lnTo>
                  <a:lnTo>
                    <a:pt x="44678" y="3971889"/>
                  </a:lnTo>
                  <a:lnTo>
                    <a:pt x="73151" y="3977640"/>
                  </a:lnTo>
                  <a:lnTo>
                    <a:pt x="5382768" y="3977640"/>
                  </a:lnTo>
                  <a:lnTo>
                    <a:pt x="5411235" y="3971889"/>
                  </a:lnTo>
                  <a:lnTo>
                    <a:pt x="5434488" y="3956208"/>
                  </a:lnTo>
                  <a:lnTo>
                    <a:pt x="5450169" y="3932955"/>
                  </a:lnTo>
                  <a:lnTo>
                    <a:pt x="5455920" y="3904488"/>
                  </a:lnTo>
                  <a:lnTo>
                    <a:pt x="5455920" y="73151"/>
                  </a:lnTo>
                  <a:lnTo>
                    <a:pt x="5450169" y="44684"/>
                  </a:lnTo>
                  <a:lnTo>
                    <a:pt x="5434488" y="21431"/>
                  </a:lnTo>
                  <a:lnTo>
                    <a:pt x="5411235" y="5750"/>
                  </a:lnTo>
                  <a:lnTo>
                    <a:pt x="5382768" y="0"/>
                  </a:lnTo>
                  <a:close/>
                </a:path>
              </a:pathLst>
            </a:custGeom>
            <a:solidFill>
              <a:srgbClr val="FFFFFF"/>
            </a:solidFill>
          </p:spPr>
          <p:txBody>
            <a:bodyPr wrap="square" lIns="0" tIns="0" rIns="0" bIns="0" rtlCol="0"/>
            <a:lstStyle/>
            <a:p>
              <a:r>
                <a:rPr lang="en-IN" dirty="0"/>
                <a:t>Money laundering is a major financial crime that hides illegal money through complex transactions. As digital banking and online transactions increase, detecting suspicious activities quickly has become more difficult.</a:t>
              </a:r>
              <a:endParaRPr dirty="0"/>
            </a:p>
          </p:txBody>
        </p:sp>
        <p:sp>
          <p:nvSpPr>
            <p:cNvPr id="7" name="object 7"/>
            <p:cNvSpPr/>
            <p:nvPr/>
          </p:nvSpPr>
          <p:spPr>
            <a:xfrm>
              <a:off x="457200" y="1371599"/>
              <a:ext cx="5455920" cy="3977640"/>
            </a:xfrm>
            <a:custGeom>
              <a:avLst/>
              <a:gdLst/>
              <a:ahLst/>
              <a:cxnLst/>
              <a:rect l="l" t="t" r="r" b="b"/>
              <a:pathLst>
                <a:path w="5455920" h="3977640">
                  <a:moveTo>
                    <a:pt x="0" y="73151"/>
                  </a:moveTo>
                  <a:lnTo>
                    <a:pt x="5748" y="44684"/>
                  </a:lnTo>
                  <a:lnTo>
                    <a:pt x="21426" y="21431"/>
                  </a:lnTo>
                  <a:lnTo>
                    <a:pt x="44678" y="5750"/>
                  </a:lnTo>
                  <a:lnTo>
                    <a:pt x="73151" y="0"/>
                  </a:lnTo>
                  <a:lnTo>
                    <a:pt x="5382768" y="0"/>
                  </a:lnTo>
                  <a:lnTo>
                    <a:pt x="5411235" y="5750"/>
                  </a:lnTo>
                  <a:lnTo>
                    <a:pt x="5434488" y="21431"/>
                  </a:lnTo>
                  <a:lnTo>
                    <a:pt x="5450169" y="44684"/>
                  </a:lnTo>
                  <a:lnTo>
                    <a:pt x="5455920" y="73151"/>
                  </a:lnTo>
                  <a:lnTo>
                    <a:pt x="5455920" y="3904488"/>
                  </a:lnTo>
                  <a:lnTo>
                    <a:pt x="5450169" y="3932955"/>
                  </a:lnTo>
                  <a:lnTo>
                    <a:pt x="5434488" y="3956208"/>
                  </a:lnTo>
                  <a:lnTo>
                    <a:pt x="5411235" y="3971889"/>
                  </a:lnTo>
                  <a:lnTo>
                    <a:pt x="5382768" y="3977640"/>
                  </a:lnTo>
                  <a:lnTo>
                    <a:pt x="73151" y="3977640"/>
                  </a:lnTo>
                  <a:lnTo>
                    <a:pt x="44678" y="3971889"/>
                  </a:lnTo>
                  <a:lnTo>
                    <a:pt x="21426" y="3956208"/>
                  </a:lnTo>
                  <a:lnTo>
                    <a:pt x="5748" y="3932955"/>
                  </a:lnTo>
                  <a:lnTo>
                    <a:pt x="0" y="3904488"/>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719124" y="1655444"/>
            <a:ext cx="4030676" cy="226985"/>
          </a:xfrm>
          <a:prstGeom prst="rect">
            <a:avLst/>
          </a:prstGeom>
        </p:spPr>
        <p:txBody>
          <a:bodyPr vert="horz" wrap="square" lIns="0" tIns="11430" rIns="0" bIns="0" rtlCol="0">
            <a:spAutoFit/>
          </a:bodyPr>
          <a:lstStyle/>
          <a:p>
            <a:pPr marL="12700">
              <a:spcBef>
                <a:spcPts val="90"/>
              </a:spcBef>
            </a:pPr>
            <a:r>
              <a:rPr lang="en-IN" sz="1400" b="1" dirty="0">
                <a:solidFill>
                  <a:srgbClr val="C00000"/>
                </a:solidFill>
              </a:rPr>
              <a:t>WHY IT MATTERS</a:t>
            </a:r>
          </a:p>
        </p:txBody>
      </p:sp>
      <p:sp>
        <p:nvSpPr>
          <p:cNvPr id="9" name="object 9"/>
          <p:cNvSpPr txBox="1"/>
          <p:nvPr/>
        </p:nvSpPr>
        <p:spPr>
          <a:xfrm>
            <a:off x="719124" y="2021742"/>
            <a:ext cx="4857115" cy="450636"/>
          </a:xfrm>
          <a:prstGeom prst="rect">
            <a:avLst/>
          </a:prstGeom>
        </p:spPr>
        <p:txBody>
          <a:bodyPr vert="horz" wrap="square" lIns="0" tIns="13970" rIns="0" bIns="0" rtlCol="0">
            <a:spAutoFit/>
          </a:bodyPr>
          <a:lstStyle/>
          <a:p>
            <a:pPr algn="just"/>
            <a:endParaRPr lang="en-IN" sz="1400" dirty="0"/>
          </a:p>
          <a:p>
            <a:pPr marL="12700" marR="5080" algn="just">
              <a:lnSpc>
                <a:spcPct val="114900"/>
              </a:lnSpc>
              <a:spcBef>
                <a:spcPts val="110"/>
              </a:spcBef>
            </a:pPr>
            <a:endParaRPr sz="1250" dirty="0">
              <a:latin typeface="Calibri"/>
              <a:cs typeface="Calibri"/>
            </a:endParaRPr>
          </a:p>
        </p:txBody>
      </p:sp>
      <p:grpSp>
        <p:nvGrpSpPr>
          <p:cNvPr id="10" name="object 10"/>
          <p:cNvGrpSpPr/>
          <p:nvPr/>
        </p:nvGrpSpPr>
        <p:grpSpPr>
          <a:xfrm>
            <a:off x="6193535" y="1310639"/>
            <a:ext cx="5614035" cy="4138929"/>
            <a:chOff x="6193535" y="1310639"/>
            <a:chExt cx="5614035" cy="4138929"/>
          </a:xfrm>
        </p:grpSpPr>
        <p:pic>
          <p:nvPicPr>
            <p:cNvPr id="11" name="object 11"/>
            <p:cNvPicPr/>
            <p:nvPr/>
          </p:nvPicPr>
          <p:blipFill>
            <a:blip r:embed="rId3" cstate="print"/>
            <a:stretch>
              <a:fillRect/>
            </a:stretch>
          </p:blipFill>
          <p:spPr>
            <a:xfrm>
              <a:off x="6193535" y="1310639"/>
              <a:ext cx="5614035" cy="4138803"/>
            </a:xfrm>
            <a:prstGeom prst="rect">
              <a:avLst/>
            </a:prstGeom>
          </p:spPr>
        </p:pic>
        <p:sp>
          <p:nvSpPr>
            <p:cNvPr id="12" name="object 12"/>
            <p:cNvSpPr/>
            <p:nvPr/>
          </p:nvSpPr>
          <p:spPr>
            <a:xfrm>
              <a:off x="6278879" y="1371599"/>
              <a:ext cx="5453380" cy="3977640"/>
            </a:xfrm>
            <a:custGeom>
              <a:avLst/>
              <a:gdLst/>
              <a:ahLst/>
              <a:cxnLst/>
              <a:rect l="l" t="t" r="r" b="b"/>
              <a:pathLst>
                <a:path w="5453380" h="3977640">
                  <a:moveTo>
                    <a:pt x="5379720" y="0"/>
                  </a:moveTo>
                  <a:lnTo>
                    <a:pt x="73152" y="0"/>
                  </a:lnTo>
                  <a:lnTo>
                    <a:pt x="44684" y="5750"/>
                  </a:lnTo>
                  <a:lnTo>
                    <a:pt x="21431" y="21431"/>
                  </a:lnTo>
                  <a:lnTo>
                    <a:pt x="5750" y="44684"/>
                  </a:lnTo>
                  <a:lnTo>
                    <a:pt x="0" y="73151"/>
                  </a:lnTo>
                  <a:lnTo>
                    <a:pt x="0" y="3904488"/>
                  </a:lnTo>
                  <a:lnTo>
                    <a:pt x="5750" y="3932955"/>
                  </a:lnTo>
                  <a:lnTo>
                    <a:pt x="21431" y="3956208"/>
                  </a:lnTo>
                  <a:lnTo>
                    <a:pt x="44684" y="3971889"/>
                  </a:lnTo>
                  <a:lnTo>
                    <a:pt x="73152" y="3977640"/>
                  </a:lnTo>
                  <a:lnTo>
                    <a:pt x="5379720" y="3977640"/>
                  </a:lnTo>
                  <a:lnTo>
                    <a:pt x="5408187" y="3971889"/>
                  </a:lnTo>
                  <a:lnTo>
                    <a:pt x="5431440" y="3956208"/>
                  </a:lnTo>
                  <a:lnTo>
                    <a:pt x="5447121" y="3932955"/>
                  </a:lnTo>
                  <a:lnTo>
                    <a:pt x="5452872" y="3904488"/>
                  </a:lnTo>
                  <a:lnTo>
                    <a:pt x="5452872" y="73151"/>
                  </a:lnTo>
                  <a:lnTo>
                    <a:pt x="5447121" y="44684"/>
                  </a:lnTo>
                  <a:lnTo>
                    <a:pt x="5431440" y="21431"/>
                  </a:lnTo>
                  <a:lnTo>
                    <a:pt x="5408187" y="5750"/>
                  </a:lnTo>
                  <a:lnTo>
                    <a:pt x="5379720" y="0"/>
                  </a:lnTo>
                  <a:close/>
                </a:path>
              </a:pathLst>
            </a:custGeom>
            <a:solidFill>
              <a:srgbClr val="FFFFFF"/>
            </a:solidFill>
          </p:spPr>
          <p:txBody>
            <a:bodyPr wrap="square" lIns="0" tIns="0" rIns="0" bIns="0" rtlCol="0"/>
            <a:lstStyle/>
            <a:p>
              <a:endParaRPr/>
            </a:p>
          </p:txBody>
        </p:sp>
        <p:sp>
          <p:nvSpPr>
            <p:cNvPr id="13" name="object 13"/>
            <p:cNvSpPr/>
            <p:nvPr/>
          </p:nvSpPr>
          <p:spPr>
            <a:xfrm>
              <a:off x="6278879" y="1371599"/>
              <a:ext cx="5453380" cy="3977640"/>
            </a:xfrm>
            <a:custGeom>
              <a:avLst/>
              <a:gdLst/>
              <a:ahLst/>
              <a:cxnLst/>
              <a:rect l="l" t="t" r="r" b="b"/>
              <a:pathLst>
                <a:path w="5453380" h="3977640">
                  <a:moveTo>
                    <a:pt x="0" y="73151"/>
                  </a:moveTo>
                  <a:lnTo>
                    <a:pt x="5750" y="44684"/>
                  </a:lnTo>
                  <a:lnTo>
                    <a:pt x="21431" y="21431"/>
                  </a:lnTo>
                  <a:lnTo>
                    <a:pt x="44684" y="5750"/>
                  </a:lnTo>
                  <a:lnTo>
                    <a:pt x="73152" y="0"/>
                  </a:lnTo>
                  <a:lnTo>
                    <a:pt x="5379720" y="0"/>
                  </a:lnTo>
                  <a:lnTo>
                    <a:pt x="5408187" y="5750"/>
                  </a:lnTo>
                  <a:lnTo>
                    <a:pt x="5431440" y="21431"/>
                  </a:lnTo>
                  <a:lnTo>
                    <a:pt x="5447121" y="44684"/>
                  </a:lnTo>
                  <a:lnTo>
                    <a:pt x="5452872" y="73151"/>
                  </a:lnTo>
                  <a:lnTo>
                    <a:pt x="5452872" y="3904488"/>
                  </a:lnTo>
                  <a:lnTo>
                    <a:pt x="5447121" y="3932955"/>
                  </a:lnTo>
                  <a:lnTo>
                    <a:pt x="5431440" y="3956208"/>
                  </a:lnTo>
                  <a:lnTo>
                    <a:pt x="5408187" y="3971889"/>
                  </a:lnTo>
                  <a:lnTo>
                    <a:pt x="5379720" y="3977640"/>
                  </a:lnTo>
                  <a:lnTo>
                    <a:pt x="73152" y="3977640"/>
                  </a:lnTo>
                  <a:lnTo>
                    <a:pt x="44684" y="3971889"/>
                  </a:lnTo>
                  <a:lnTo>
                    <a:pt x="21431" y="3956208"/>
                  </a:lnTo>
                  <a:lnTo>
                    <a:pt x="5750" y="3932955"/>
                  </a:lnTo>
                  <a:lnTo>
                    <a:pt x="0" y="3904488"/>
                  </a:lnTo>
                  <a:lnTo>
                    <a:pt x="0" y="73151"/>
                  </a:lnTo>
                  <a:close/>
                </a:path>
              </a:pathLst>
            </a:custGeom>
            <a:ln w="12192">
              <a:solidFill>
                <a:srgbClr val="DDD2C4"/>
              </a:solidFill>
            </a:ln>
          </p:spPr>
          <p:txBody>
            <a:bodyPr wrap="square" lIns="0" tIns="0" rIns="0" bIns="0" rtlCol="0"/>
            <a:lstStyle/>
            <a:p>
              <a:endParaRPr/>
            </a:p>
          </p:txBody>
        </p:sp>
      </p:grpSp>
      <p:sp>
        <p:nvSpPr>
          <p:cNvPr id="14" name="object 14"/>
          <p:cNvSpPr txBox="1"/>
          <p:nvPr/>
        </p:nvSpPr>
        <p:spPr>
          <a:xfrm>
            <a:off x="6540500" y="1655444"/>
            <a:ext cx="3441700" cy="226985"/>
          </a:xfrm>
          <a:prstGeom prst="rect">
            <a:avLst/>
          </a:prstGeom>
        </p:spPr>
        <p:txBody>
          <a:bodyPr vert="horz" wrap="square" lIns="0" tIns="11430" rIns="0" bIns="0" rtlCol="0">
            <a:spAutoFit/>
          </a:bodyPr>
          <a:lstStyle/>
          <a:p>
            <a:pPr marL="12700">
              <a:lnSpc>
                <a:spcPct val="100000"/>
              </a:lnSpc>
              <a:spcBef>
                <a:spcPts val="90"/>
              </a:spcBef>
            </a:pPr>
            <a:r>
              <a:rPr lang="en-IN" sz="1400" b="1" dirty="0">
                <a:solidFill>
                  <a:srgbClr val="C00000"/>
                </a:solidFill>
              </a:rPr>
              <a:t>WHY MACHINE LEARNING MODELS</a:t>
            </a:r>
            <a:endParaRPr sz="1400" b="1" dirty="0">
              <a:solidFill>
                <a:srgbClr val="C00000"/>
              </a:solidFill>
              <a:latin typeface="Calibri"/>
              <a:cs typeface="Calibri"/>
            </a:endParaRPr>
          </a:p>
        </p:txBody>
      </p:sp>
      <p:sp>
        <p:nvSpPr>
          <p:cNvPr id="15" name="object 15"/>
          <p:cNvSpPr txBox="1"/>
          <p:nvPr/>
        </p:nvSpPr>
        <p:spPr>
          <a:xfrm>
            <a:off x="6540500" y="2021742"/>
            <a:ext cx="4667250" cy="1306127"/>
          </a:xfrm>
          <a:prstGeom prst="rect">
            <a:avLst/>
          </a:prstGeom>
        </p:spPr>
        <p:txBody>
          <a:bodyPr vert="horz" wrap="square" lIns="0" tIns="13335" rIns="0" bIns="0" rtlCol="0">
            <a:spAutoFit/>
          </a:bodyPr>
          <a:lstStyle/>
          <a:p>
            <a:pPr marL="12700" marR="5080" algn="just">
              <a:lnSpc>
                <a:spcPct val="100000"/>
              </a:lnSpc>
              <a:spcBef>
                <a:spcPts val="105"/>
              </a:spcBef>
            </a:pPr>
            <a:r>
              <a:rPr lang="en-IN" sz="1400" dirty="0"/>
              <a:t>Traditional rule-based AML systems may miss complex and changing patterns. Machine Learning, especially </a:t>
            </a:r>
            <a:r>
              <a:rPr lang="en-IN" sz="1400" b="1" dirty="0"/>
              <a:t>Graph Neural Networks (GNNs)</a:t>
            </a:r>
            <a:r>
              <a:rPr lang="en-IN" sz="1400" dirty="0"/>
              <a:t>, can </a:t>
            </a:r>
            <a:r>
              <a:rPr lang="en-IN" sz="1400" dirty="0" err="1"/>
              <a:t>analyze</a:t>
            </a:r>
            <a:r>
              <a:rPr lang="en-IN" sz="1400" dirty="0"/>
              <a:t> relationships between accounts and transactions to identify unusual patterns and improve the detection of potentially fraudulent activities.</a:t>
            </a:r>
            <a:endParaRPr sz="1250" dirty="0">
              <a:latin typeface="Calibri"/>
              <a:cs typeface="Calibri"/>
            </a:endParaRPr>
          </a:p>
        </p:txBody>
      </p:sp>
      <p:sp>
        <p:nvSpPr>
          <p:cNvPr id="17" name="object 17"/>
          <p:cNvSpPr txBox="1"/>
          <p:nvPr/>
        </p:nvSpPr>
        <p:spPr>
          <a:xfrm>
            <a:off x="486955" y="5723330"/>
            <a:ext cx="1214907" cy="182101"/>
          </a:xfrm>
          <a:prstGeom prst="rect">
            <a:avLst/>
          </a:prstGeom>
        </p:spPr>
        <p:txBody>
          <a:bodyPr vert="horz" wrap="square" lIns="0" tIns="12700" rIns="0" bIns="0" rtlCol="0">
            <a:spAutoFit/>
          </a:bodyPr>
          <a:lstStyle/>
          <a:p>
            <a:pPr marL="12700">
              <a:lnSpc>
                <a:spcPct val="100000"/>
              </a:lnSpc>
              <a:spcBef>
                <a:spcPts val="100"/>
              </a:spcBef>
            </a:pPr>
            <a:r>
              <a:rPr lang="en-IN" sz="1100" b="1" dirty="0">
                <a:solidFill>
                  <a:schemeClr val="bg1"/>
                </a:solidFill>
              </a:rPr>
              <a:t>AGRICULTUR</a:t>
            </a:r>
            <a:endParaRPr sz="1100" b="1" dirty="0">
              <a:solidFill>
                <a:schemeClr val="bg1"/>
              </a:solidFill>
              <a:latin typeface="Calibri"/>
              <a:cs typeface="Calibri"/>
            </a:endParaRPr>
          </a:p>
        </p:txBody>
      </p:sp>
      <p:sp>
        <p:nvSpPr>
          <p:cNvPr id="20" name="object 20"/>
          <p:cNvSpPr txBox="1"/>
          <p:nvPr/>
        </p:nvSpPr>
        <p:spPr>
          <a:xfrm>
            <a:off x="2066925" y="5712663"/>
            <a:ext cx="377190" cy="182101"/>
          </a:xfrm>
          <a:prstGeom prst="rect">
            <a:avLst/>
          </a:prstGeom>
        </p:spPr>
        <p:txBody>
          <a:bodyPr vert="horz" wrap="square" lIns="0" tIns="12700" rIns="0" bIns="0" rtlCol="0">
            <a:spAutoFit/>
          </a:bodyPr>
          <a:lstStyle/>
          <a:p>
            <a:pPr marL="12700">
              <a:lnSpc>
                <a:spcPct val="100000"/>
              </a:lnSpc>
              <a:spcBef>
                <a:spcPts val="100"/>
              </a:spcBef>
            </a:pPr>
            <a:r>
              <a:rPr lang="en-IN" sz="1100" b="1" dirty="0">
                <a:solidFill>
                  <a:schemeClr val="bg1"/>
                </a:solidFill>
                <a:latin typeface="Calibri"/>
                <a:cs typeface="Calibri"/>
              </a:rPr>
              <a:t>DATA</a:t>
            </a:r>
            <a:endParaRPr sz="1100" b="1" dirty="0">
              <a:solidFill>
                <a:schemeClr val="bg1"/>
              </a:solidFill>
              <a:latin typeface="Calibri"/>
              <a:cs typeface="Calibri"/>
            </a:endParaRPr>
          </a:p>
        </p:txBody>
      </p:sp>
      <p:sp>
        <p:nvSpPr>
          <p:cNvPr id="26" name="object 26"/>
          <p:cNvSpPr txBox="1"/>
          <p:nvPr/>
        </p:nvSpPr>
        <p:spPr>
          <a:xfrm>
            <a:off x="4651949" y="5734120"/>
            <a:ext cx="1282127" cy="182101"/>
          </a:xfrm>
          <a:prstGeom prst="rect">
            <a:avLst/>
          </a:prstGeom>
        </p:spPr>
        <p:txBody>
          <a:bodyPr vert="horz" wrap="square" lIns="0" tIns="12700" rIns="0" bIns="0" rtlCol="0">
            <a:spAutoFit/>
          </a:bodyPr>
          <a:lstStyle/>
          <a:p>
            <a:pPr marL="12700">
              <a:lnSpc>
                <a:spcPct val="100000"/>
              </a:lnSpc>
              <a:spcBef>
                <a:spcPts val="100"/>
              </a:spcBef>
            </a:pPr>
            <a:r>
              <a:rPr lang="en-IN" sz="1100" b="1" dirty="0">
                <a:solidFill>
                  <a:schemeClr val="bg1"/>
                </a:solidFill>
              </a:rPr>
              <a:t>EST</a:t>
            </a:r>
            <a:endParaRPr sz="1100" b="1" dirty="0">
              <a:solidFill>
                <a:schemeClr val="bg1"/>
              </a:solidFill>
              <a:latin typeface="Calibri"/>
              <a:cs typeface="Calibri"/>
            </a:endParaRPr>
          </a:p>
        </p:txBody>
      </p:sp>
      <p:sp>
        <p:nvSpPr>
          <p:cNvPr id="33" name="object 33"/>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34" name="object 34"/>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3</a:t>
            </a:fld>
            <a:endParaRPr spc="-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633721" y="341122"/>
            <a:ext cx="2927985" cy="361950"/>
          </a:xfrm>
          <a:prstGeom prst="rect">
            <a:avLst/>
          </a:prstGeom>
        </p:spPr>
        <p:txBody>
          <a:bodyPr vert="horz" wrap="square" lIns="0" tIns="13335" rIns="0" bIns="0" rtlCol="0">
            <a:spAutoFit/>
          </a:bodyPr>
          <a:lstStyle/>
          <a:p>
            <a:pPr marL="12700">
              <a:lnSpc>
                <a:spcPct val="100000"/>
              </a:lnSpc>
              <a:spcBef>
                <a:spcPts val="105"/>
              </a:spcBef>
            </a:pPr>
            <a:r>
              <a:rPr dirty="0"/>
              <a:t>REQUIREMENT</a:t>
            </a:r>
            <a:r>
              <a:rPr spc="-105" dirty="0"/>
              <a:t> </a:t>
            </a:r>
            <a:r>
              <a:rPr spc="-10" dirty="0"/>
              <a:t>ANALYSIS</a:t>
            </a:r>
          </a:p>
        </p:txBody>
      </p:sp>
      <p:sp>
        <p:nvSpPr>
          <p:cNvPr id="3" name="object 3"/>
          <p:cNvSpPr txBox="1"/>
          <p:nvPr/>
        </p:nvSpPr>
        <p:spPr>
          <a:xfrm>
            <a:off x="4569714" y="933449"/>
            <a:ext cx="3044825"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Core</a:t>
            </a:r>
            <a:r>
              <a:rPr sz="1150" i="1" spc="-15" dirty="0">
                <a:solidFill>
                  <a:srgbClr val="6D6D6D"/>
                </a:solidFill>
                <a:latin typeface="Calibri"/>
                <a:cs typeface="Calibri"/>
              </a:rPr>
              <a:t> </a:t>
            </a:r>
            <a:r>
              <a:rPr sz="1150" i="1" dirty="0">
                <a:solidFill>
                  <a:srgbClr val="6D6D6D"/>
                </a:solidFill>
                <a:latin typeface="Calibri"/>
                <a:cs typeface="Calibri"/>
              </a:rPr>
              <a:t>tools</a:t>
            </a:r>
            <a:r>
              <a:rPr sz="1150" i="1" spc="-25" dirty="0">
                <a:solidFill>
                  <a:srgbClr val="6D6D6D"/>
                </a:solidFill>
                <a:latin typeface="Calibri"/>
                <a:cs typeface="Calibri"/>
              </a:rPr>
              <a:t> </a:t>
            </a:r>
            <a:r>
              <a:rPr sz="1150" i="1" dirty="0">
                <a:solidFill>
                  <a:srgbClr val="6D6D6D"/>
                </a:solidFill>
                <a:latin typeface="Calibri"/>
                <a:cs typeface="Calibri"/>
              </a:rPr>
              <a:t>needed</a:t>
            </a:r>
            <a:r>
              <a:rPr sz="1150" i="1" spc="-50" dirty="0">
                <a:solidFill>
                  <a:srgbClr val="6D6D6D"/>
                </a:solidFill>
                <a:latin typeface="Calibri"/>
                <a:cs typeface="Calibri"/>
              </a:rPr>
              <a:t> </a:t>
            </a:r>
            <a:r>
              <a:rPr sz="1150" i="1" dirty="0">
                <a:solidFill>
                  <a:srgbClr val="6D6D6D"/>
                </a:solidFill>
                <a:latin typeface="Calibri"/>
                <a:cs typeface="Calibri"/>
              </a:rPr>
              <a:t>to</a:t>
            </a:r>
            <a:r>
              <a:rPr sz="1150" i="1" spc="-25" dirty="0">
                <a:solidFill>
                  <a:srgbClr val="6D6D6D"/>
                </a:solidFill>
                <a:latin typeface="Calibri"/>
                <a:cs typeface="Calibri"/>
              </a:rPr>
              <a:t> </a:t>
            </a:r>
            <a:r>
              <a:rPr sz="1150" i="1" dirty="0">
                <a:solidFill>
                  <a:srgbClr val="6D6D6D"/>
                </a:solidFill>
                <a:latin typeface="Calibri"/>
                <a:cs typeface="Calibri"/>
              </a:rPr>
              <a:t>execute</a:t>
            </a:r>
            <a:r>
              <a:rPr sz="1150" i="1" spc="-30" dirty="0">
                <a:solidFill>
                  <a:srgbClr val="6D6D6D"/>
                </a:solidFill>
                <a:latin typeface="Calibri"/>
                <a:cs typeface="Calibri"/>
              </a:rPr>
              <a:t> </a:t>
            </a:r>
            <a:r>
              <a:rPr sz="1150" i="1" dirty="0">
                <a:solidFill>
                  <a:srgbClr val="6D6D6D"/>
                </a:solidFill>
                <a:latin typeface="Calibri"/>
                <a:cs typeface="Calibri"/>
              </a:rPr>
              <a:t>the</a:t>
            </a:r>
            <a:r>
              <a:rPr sz="1150" i="1" spc="-10" dirty="0">
                <a:solidFill>
                  <a:srgbClr val="6D6D6D"/>
                </a:solidFill>
                <a:latin typeface="Calibri"/>
                <a:cs typeface="Calibri"/>
              </a:rPr>
              <a:t> </a:t>
            </a:r>
            <a:r>
              <a:rPr sz="1150" i="1" dirty="0">
                <a:solidFill>
                  <a:srgbClr val="6D6D6D"/>
                </a:solidFill>
                <a:latin typeface="Calibri"/>
                <a:cs typeface="Calibri"/>
              </a:rPr>
              <a:t>proposed</a:t>
            </a:r>
            <a:r>
              <a:rPr sz="1150" i="1" spc="-50" dirty="0">
                <a:solidFill>
                  <a:srgbClr val="6D6D6D"/>
                </a:solidFill>
                <a:latin typeface="Calibri"/>
                <a:cs typeface="Calibri"/>
              </a:rPr>
              <a:t> </a:t>
            </a:r>
            <a:r>
              <a:rPr sz="1150" i="1" spc="-10" dirty="0">
                <a:solidFill>
                  <a:srgbClr val="6D6D6D"/>
                </a:solidFill>
                <a:latin typeface="Calibri"/>
                <a:cs typeface="Calibri"/>
              </a:rPr>
              <a:t>pipeline</a:t>
            </a:r>
            <a:endParaRPr sz="1150">
              <a:latin typeface="Calibri"/>
              <a:cs typeface="Calibri"/>
            </a:endParaRPr>
          </a:p>
        </p:txBody>
      </p:sp>
      <p:grpSp>
        <p:nvGrpSpPr>
          <p:cNvPr id="4" name="object 4"/>
          <p:cNvGrpSpPr/>
          <p:nvPr/>
        </p:nvGrpSpPr>
        <p:grpSpPr>
          <a:xfrm>
            <a:off x="463295" y="1356385"/>
            <a:ext cx="11252835" cy="984250"/>
            <a:chOff x="463295" y="1356385"/>
            <a:chExt cx="11252835" cy="984250"/>
          </a:xfrm>
        </p:grpSpPr>
        <p:pic>
          <p:nvPicPr>
            <p:cNvPr id="5" name="object 5"/>
            <p:cNvPicPr/>
            <p:nvPr/>
          </p:nvPicPr>
          <p:blipFill>
            <a:blip r:embed="rId2" cstate="print"/>
            <a:stretch>
              <a:fillRect/>
            </a:stretch>
          </p:blipFill>
          <p:spPr>
            <a:xfrm>
              <a:off x="463295" y="1356385"/>
              <a:ext cx="11252835" cy="984097"/>
            </a:xfrm>
            <a:prstGeom prst="rect">
              <a:avLst/>
            </a:prstGeom>
          </p:spPr>
        </p:pic>
        <p:sp>
          <p:nvSpPr>
            <p:cNvPr id="6" name="object 6"/>
            <p:cNvSpPr/>
            <p:nvPr/>
          </p:nvSpPr>
          <p:spPr>
            <a:xfrm>
              <a:off x="548639" y="1417320"/>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1"/>
                  </a:lnTo>
                  <a:lnTo>
                    <a:pt x="0" y="749807"/>
                  </a:lnTo>
                  <a:lnTo>
                    <a:pt x="5748" y="778275"/>
                  </a:lnTo>
                  <a:lnTo>
                    <a:pt x="21426" y="801528"/>
                  </a:lnTo>
                  <a:lnTo>
                    <a:pt x="44678" y="817209"/>
                  </a:lnTo>
                  <a:lnTo>
                    <a:pt x="73151" y="822959"/>
                  </a:lnTo>
                  <a:lnTo>
                    <a:pt x="11018519" y="822959"/>
                  </a:lnTo>
                  <a:lnTo>
                    <a:pt x="11046987" y="817209"/>
                  </a:lnTo>
                  <a:lnTo>
                    <a:pt x="11070240" y="801528"/>
                  </a:lnTo>
                  <a:lnTo>
                    <a:pt x="11085921" y="778275"/>
                  </a:lnTo>
                  <a:lnTo>
                    <a:pt x="11091671" y="749807"/>
                  </a:lnTo>
                  <a:lnTo>
                    <a:pt x="11091671" y="73151"/>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7" name="object 7"/>
            <p:cNvSpPr/>
            <p:nvPr/>
          </p:nvSpPr>
          <p:spPr>
            <a:xfrm>
              <a:off x="548639" y="1417320"/>
              <a:ext cx="11092180" cy="822960"/>
            </a:xfrm>
            <a:custGeom>
              <a:avLst/>
              <a:gdLst/>
              <a:ahLst/>
              <a:cxnLst/>
              <a:rect l="l" t="t" r="r" b="b"/>
              <a:pathLst>
                <a:path w="11092180" h="822960">
                  <a:moveTo>
                    <a:pt x="0" y="73151"/>
                  </a:moveTo>
                  <a:lnTo>
                    <a:pt x="5748" y="44684"/>
                  </a:lnTo>
                  <a:lnTo>
                    <a:pt x="21426" y="21431"/>
                  </a:lnTo>
                  <a:lnTo>
                    <a:pt x="44678" y="5750"/>
                  </a:lnTo>
                  <a:lnTo>
                    <a:pt x="73151" y="0"/>
                  </a:lnTo>
                  <a:lnTo>
                    <a:pt x="11018519" y="0"/>
                  </a:lnTo>
                  <a:lnTo>
                    <a:pt x="11046987" y="5750"/>
                  </a:lnTo>
                  <a:lnTo>
                    <a:pt x="11070240" y="21431"/>
                  </a:lnTo>
                  <a:lnTo>
                    <a:pt x="11085921" y="44684"/>
                  </a:lnTo>
                  <a:lnTo>
                    <a:pt x="11091671" y="73151"/>
                  </a:lnTo>
                  <a:lnTo>
                    <a:pt x="11091671" y="749807"/>
                  </a:lnTo>
                  <a:lnTo>
                    <a:pt x="11085921" y="778275"/>
                  </a:lnTo>
                  <a:lnTo>
                    <a:pt x="11070240" y="801528"/>
                  </a:lnTo>
                  <a:lnTo>
                    <a:pt x="11046987" y="817209"/>
                  </a:lnTo>
                  <a:lnTo>
                    <a:pt x="11018519" y="822959"/>
                  </a:lnTo>
                  <a:lnTo>
                    <a:pt x="73151" y="822959"/>
                  </a:lnTo>
                  <a:lnTo>
                    <a:pt x="44678" y="817209"/>
                  </a:lnTo>
                  <a:lnTo>
                    <a:pt x="21426" y="801528"/>
                  </a:lnTo>
                  <a:lnTo>
                    <a:pt x="5748" y="778275"/>
                  </a:lnTo>
                  <a:lnTo>
                    <a:pt x="0" y="749807"/>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856284" y="1701164"/>
            <a:ext cx="810895" cy="226985"/>
          </a:xfrm>
          <a:prstGeom prst="rect">
            <a:avLst/>
          </a:prstGeom>
        </p:spPr>
        <p:txBody>
          <a:bodyPr vert="horz" wrap="square" lIns="0" tIns="11430" rIns="0" bIns="0" rtlCol="0">
            <a:spAutoFit/>
          </a:bodyPr>
          <a:lstStyle/>
          <a:p>
            <a:pPr marL="12700">
              <a:lnSpc>
                <a:spcPct val="100000"/>
              </a:lnSpc>
              <a:spcBef>
                <a:spcPts val="90"/>
              </a:spcBef>
            </a:pPr>
            <a:r>
              <a:rPr sz="1400" b="1" dirty="0">
                <a:solidFill>
                  <a:srgbClr val="C00000"/>
                </a:solidFill>
                <a:latin typeface="Calibri"/>
                <a:cs typeface="Calibri"/>
              </a:rPr>
              <a:t>Python</a:t>
            </a:r>
            <a:r>
              <a:rPr sz="1400" b="1" spc="-10" dirty="0">
                <a:solidFill>
                  <a:srgbClr val="C00000"/>
                </a:solidFill>
                <a:latin typeface="Calibri"/>
                <a:cs typeface="Calibri"/>
              </a:rPr>
              <a:t> </a:t>
            </a:r>
            <a:r>
              <a:rPr sz="1400" b="1" spc="-25" dirty="0">
                <a:solidFill>
                  <a:srgbClr val="C00000"/>
                </a:solidFill>
                <a:latin typeface="Calibri"/>
                <a:cs typeface="Calibri"/>
              </a:rPr>
              <a:t>3.x</a:t>
            </a:r>
            <a:endParaRPr sz="1400" dirty="0">
              <a:latin typeface="Calibri"/>
              <a:cs typeface="Calibri"/>
            </a:endParaRPr>
          </a:p>
        </p:txBody>
      </p:sp>
      <p:sp>
        <p:nvSpPr>
          <p:cNvPr id="9" name="object 9"/>
          <p:cNvSpPr txBox="1"/>
          <p:nvPr/>
        </p:nvSpPr>
        <p:spPr>
          <a:xfrm>
            <a:off x="4286250" y="1708785"/>
            <a:ext cx="6153150" cy="381515"/>
          </a:xfrm>
          <a:prstGeom prst="rect">
            <a:avLst/>
          </a:prstGeom>
        </p:spPr>
        <p:txBody>
          <a:bodyPr vert="horz" wrap="square" lIns="0" tIns="12065" rIns="0" bIns="0" rtlCol="0">
            <a:spAutoFit/>
          </a:bodyPr>
          <a:lstStyle/>
          <a:p>
            <a:pPr marL="12700">
              <a:lnSpc>
                <a:spcPct val="100000"/>
              </a:lnSpc>
              <a:spcBef>
                <a:spcPts val="95"/>
              </a:spcBef>
            </a:pPr>
            <a:r>
              <a:rPr lang="en-IN" sz="1200" dirty="0"/>
              <a:t>Programming language used for data preprocessing, model training, graph construction, and prediction.</a:t>
            </a:r>
            <a:endParaRPr sz="1200" dirty="0">
              <a:latin typeface="Calibri"/>
              <a:cs typeface="Calibri"/>
            </a:endParaRPr>
          </a:p>
        </p:txBody>
      </p:sp>
      <p:grpSp>
        <p:nvGrpSpPr>
          <p:cNvPr id="10" name="object 10"/>
          <p:cNvGrpSpPr/>
          <p:nvPr/>
        </p:nvGrpSpPr>
        <p:grpSpPr>
          <a:xfrm>
            <a:off x="463295" y="2325649"/>
            <a:ext cx="11252835" cy="984250"/>
            <a:chOff x="463295" y="2325649"/>
            <a:chExt cx="11252835" cy="984250"/>
          </a:xfrm>
        </p:grpSpPr>
        <p:pic>
          <p:nvPicPr>
            <p:cNvPr id="11" name="object 11"/>
            <p:cNvPicPr/>
            <p:nvPr/>
          </p:nvPicPr>
          <p:blipFill>
            <a:blip r:embed="rId2" cstate="print"/>
            <a:stretch>
              <a:fillRect/>
            </a:stretch>
          </p:blipFill>
          <p:spPr>
            <a:xfrm>
              <a:off x="463295" y="2325649"/>
              <a:ext cx="11252835" cy="984097"/>
            </a:xfrm>
            <a:prstGeom prst="rect">
              <a:avLst/>
            </a:prstGeom>
          </p:spPr>
        </p:pic>
        <p:sp>
          <p:nvSpPr>
            <p:cNvPr id="12" name="object 12"/>
            <p:cNvSpPr/>
            <p:nvPr/>
          </p:nvSpPr>
          <p:spPr>
            <a:xfrm>
              <a:off x="548639" y="2386583"/>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1"/>
                  </a:lnTo>
                  <a:lnTo>
                    <a:pt x="0" y="749807"/>
                  </a:lnTo>
                  <a:lnTo>
                    <a:pt x="5748" y="778275"/>
                  </a:lnTo>
                  <a:lnTo>
                    <a:pt x="21426" y="801528"/>
                  </a:lnTo>
                  <a:lnTo>
                    <a:pt x="44678" y="817209"/>
                  </a:lnTo>
                  <a:lnTo>
                    <a:pt x="73151" y="822960"/>
                  </a:lnTo>
                  <a:lnTo>
                    <a:pt x="11018519" y="822960"/>
                  </a:lnTo>
                  <a:lnTo>
                    <a:pt x="11046987" y="817209"/>
                  </a:lnTo>
                  <a:lnTo>
                    <a:pt x="11070240" y="801528"/>
                  </a:lnTo>
                  <a:lnTo>
                    <a:pt x="11085921" y="778275"/>
                  </a:lnTo>
                  <a:lnTo>
                    <a:pt x="11091671" y="749807"/>
                  </a:lnTo>
                  <a:lnTo>
                    <a:pt x="11091671" y="73151"/>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13" name="object 13"/>
            <p:cNvSpPr/>
            <p:nvPr/>
          </p:nvSpPr>
          <p:spPr>
            <a:xfrm>
              <a:off x="548639" y="2386583"/>
              <a:ext cx="11092180" cy="822960"/>
            </a:xfrm>
            <a:custGeom>
              <a:avLst/>
              <a:gdLst/>
              <a:ahLst/>
              <a:cxnLst/>
              <a:rect l="l" t="t" r="r" b="b"/>
              <a:pathLst>
                <a:path w="11092180" h="822960">
                  <a:moveTo>
                    <a:pt x="0" y="73151"/>
                  </a:moveTo>
                  <a:lnTo>
                    <a:pt x="5748" y="44684"/>
                  </a:lnTo>
                  <a:lnTo>
                    <a:pt x="21426" y="21431"/>
                  </a:lnTo>
                  <a:lnTo>
                    <a:pt x="44678" y="5750"/>
                  </a:lnTo>
                  <a:lnTo>
                    <a:pt x="73151" y="0"/>
                  </a:lnTo>
                  <a:lnTo>
                    <a:pt x="11018519" y="0"/>
                  </a:lnTo>
                  <a:lnTo>
                    <a:pt x="11046987" y="5750"/>
                  </a:lnTo>
                  <a:lnTo>
                    <a:pt x="11070240" y="21431"/>
                  </a:lnTo>
                  <a:lnTo>
                    <a:pt x="11085921" y="44684"/>
                  </a:lnTo>
                  <a:lnTo>
                    <a:pt x="11091671" y="73151"/>
                  </a:lnTo>
                  <a:lnTo>
                    <a:pt x="11091671" y="749807"/>
                  </a:lnTo>
                  <a:lnTo>
                    <a:pt x="11085921" y="778275"/>
                  </a:lnTo>
                  <a:lnTo>
                    <a:pt x="11070240" y="801528"/>
                  </a:lnTo>
                  <a:lnTo>
                    <a:pt x="11046987" y="817209"/>
                  </a:lnTo>
                  <a:lnTo>
                    <a:pt x="11018519" y="822960"/>
                  </a:lnTo>
                  <a:lnTo>
                    <a:pt x="73151" y="822960"/>
                  </a:lnTo>
                  <a:lnTo>
                    <a:pt x="44678" y="817209"/>
                  </a:lnTo>
                  <a:lnTo>
                    <a:pt x="21426" y="801528"/>
                  </a:lnTo>
                  <a:lnTo>
                    <a:pt x="5748" y="778275"/>
                  </a:lnTo>
                  <a:lnTo>
                    <a:pt x="0" y="749807"/>
                  </a:lnTo>
                  <a:lnTo>
                    <a:pt x="0" y="73151"/>
                  </a:lnTo>
                  <a:close/>
                </a:path>
              </a:pathLst>
            </a:custGeom>
            <a:ln w="12192">
              <a:solidFill>
                <a:srgbClr val="DDD2C4"/>
              </a:solidFill>
            </a:ln>
          </p:spPr>
          <p:txBody>
            <a:bodyPr wrap="square" lIns="0" tIns="0" rIns="0" bIns="0" rtlCol="0"/>
            <a:lstStyle/>
            <a:p>
              <a:endParaRPr/>
            </a:p>
          </p:txBody>
        </p:sp>
      </p:grpSp>
      <p:sp>
        <p:nvSpPr>
          <p:cNvPr id="14" name="object 14"/>
          <p:cNvSpPr txBox="1"/>
          <p:nvPr/>
        </p:nvSpPr>
        <p:spPr>
          <a:xfrm>
            <a:off x="856284" y="2670505"/>
            <a:ext cx="1421765" cy="227626"/>
          </a:xfrm>
          <a:prstGeom prst="rect">
            <a:avLst/>
          </a:prstGeom>
        </p:spPr>
        <p:txBody>
          <a:bodyPr vert="horz" wrap="square" lIns="0" tIns="12065" rIns="0" bIns="0" rtlCol="0">
            <a:spAutoFit/>
          </a:bodyPr>
          <a:lstStyle/>
          <a:p>
            <a:pPr marL="12700">
              <a:lnSpc>
                <a:spcPct val="100000"/>
              </a:lnSpc>
              <a:spcBef>
                <a:spcPts val="95"/>
              </a:spcBef>
            </a:pPr>
            <a:r>
              <a:rPr lang="en-IN" sz="1400" b="1" dirty="0">
                <a:solidFill>
                  <a:srgbClr val="C00000"/>
                </a:solidFill>
              </a:rPr>
              <a:t>Pandas / NumPy</a:t>
            </a:r>
            <a:endParaRPr sz="1400" b="1" dirty="0">
              <a:solidFill>
                <a:srgbClr val="C00000"/>
              </a:solidFill>
              <a:latin typeface="Calibri"/>
              <a:cs typeface="Calibri"/>
            </a:endParaRPr>
          </a:p>
        </p:txBody>
      </p:sp>
      <p:sp>
        <p:nvSpPr>
          <p:cNvPr id="15" name="object 15"/>
          <p:cNvSpPr txBox="1"/>
          <p:nvPr/>
        </p:nvSpPr>
        <p:spPr>
          <a:xfrm>
            <a:off x="4286250" y="2678125"/>
            <a:ext cx="5695950" cy="350737"/>
          </a:xfrm>
          <a:prstGeom prst="rect">
            <a:avLst/>
          </a:prstGeom>
        </p:spPr>
        <p:txBody>
          <a:bodyPr vert="horz" wrap="square" lIns="0" tIns="12065" rIns="0" bIns="0" rtlCol="0">
            <a:spAutoFit/>
          </a:bodyPr>
          <a:lstStyle/>
          <a:p>
            <a:pPr marL="12700">
              <a:lnSpc>
                <a:spcPct val="100000"/>
              </a:lnSpc>
              <a:spcBef>
                <a:spcPts val="95"/>
              </a:spcBef>
            </a:pPr>
            <a:r>
              <a:rPr lang="en-IN" sz="1100" dirty="0"/>
              <a:t>Used for data handling, cleaning, numerical operations, and transaction dataset preparation.</a:t>
            </a:r>
            <a:endParaRPr sz="1100" dirty="0">
              <a:latin typeface="Calibri"/>
              <a:cs typeface="Calibri"/>
            </a:endParaRPr>
          </a:p>
        </p:txBody>
      </p:sp>
      <p:grpSp>
        <p:nvGrpSpPr>
          <p:cNvPr id="16" name="object 16"/>
          <p:cNvGrpSpPr/>
          <p:nvPr/>
        </p:nvGrpSpPr>
        <p:grpSpPr>
          <a:xfrm>
            <a:off x="463295" y="3294913"/>
            <a:ext cx="11252835" cy="984250"/>
            <a:chOff x="463295" y="3294913"/>
            <a:chExt cx="11252835" cy="984250"/>
          </a:xfrm>
        </p:grpSpPr>
        <p:pic>
          <p:nvPicPr>
            <p:cNvPr id="17" name="object 17"/>
            <p:cNvPicPr/>
            <p:nvPr/>
          </p:nvPicPr>
          <p:blipFill>
            <a:blip r:embed="rId2" cstate="print"/>
            <a:stretch>
              <a:fillRect/>
            </a:stretch>
          </p:blipFill>
          <p:spPr>
            <a:xfrm>
              <a:off x="463295" y="3294913"/>
              <a:ext cx="11252835" cy="984097"/>
            </a:xfrm>
            <a:prstGeom prst="rect">
              <a:avLst/>
            </a:prstGeom>
          </p:spPr>
        </p:pic>
        <p:sp>
          <p:nvSpPr>
            <p:cNvPr id="18" name="object 18"/>
            <p:cNvSpPr/>
            <p:nvPr/>
          </p:nvSpPr>
          <p:spPr>
            <a:xfrm>
              <a:off x="548639" y="3355847"/>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1"/>
                  </a:lnTo>
                  <a:lnTo>
                    <a:pt x="0" y="749807"/>
                  </a:lnTo>
                  <a:lnTo>
                    <a:pt x="5748" y="778275"/>
                  </a:lnTo>
                  <a:lnTo>
                    <a:pt x="21426" y="801528"/>
                  </a:lnTo>
                  <a:lnTo>
                    <a:pt x="44678" y="817209"/>
                  </a:lnTo>
                  <a:lnTo>
                    <a:pt x="73151" y="822959"/>
                  </a:lnTo>
                  <a:lnTo>
                    <a:pt x="11018519" y="822959"/>
                  </a:lnTo>
                  <a:lnTo>
                    <a:pt x="11046987" y="817209"/>
                  </a:lnTo>
                  <a:lnTo>
                    <a:pt x="11070240" y="801528"/>
                  </a:lnTo>
                  <a:lnTo>
                    <a:pt x="11085921" y="778275"/>
                  </a:lnTo>
                  <a:lnTo>
                    <a:pt x="11091671" y="749807"/>
                  </a:lnTo>
                  <a:lnTo>
                    <a:pt x="11091671" y="73151"/>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19" name="object 19"/>
            <p:cNvSpPr/>
            <p:nvPr/>
          </p:nvSpPr>
          <p:spPr>
            <a:xfrm>
              <a:off x="548639" y="3355847"/>
              <a:ext cx="11092180" cy="822960"/>
            </a:xfrm>
            <a:custGeom>
              <a:avLst/>
              <a:gdLst/>
              <a:ahLst/>
              <a:cxnLst/>
              <a:rect l="l" t="t" r="r" b="b"/>
              <a:pathLst>
                <a:path w="11092180" h="822960">
                  <a:moveTo>
                    <a:pt x="0" y="73151"/>
                  </a:moveTo>
                  <a:lnTo>
                    <a:pt x="5748" y="44684"/>
                  </a:lnTo>
                  <a:lnTo>
                    <a:pt x="21426" y="21431"/>
                  </a:lnTo>
                  <a:lnTo>
                    <a:pt x="44678" y="5750"/>
                  </a:lnTo>
                  <a:lnTo>
                    <a:pt x="73151" y="0"/>
                  </a:lnTo>
                  <a:lnTo>
                    <a:pt x="11018519" y="0"/>
                  </a:lnTo>
                  <a:lnTo>
                    <a:pt x="11046987" y="5750"/>
                  </a:lnTo>
                  <a:lnTo>
                    <a:pt x="11070240" y="21431"/>
                  </a:lnTo>
                  <a:lnTo>
                    <a:pt x="11085921" y="44684"/>
                  </a:lnTo>
                  <a:lnTo>
                    <a:pt x="11091671" y="73151"/>
                  </a:lnTo>
                  <a:lnTo>
                    <a:pt x="11091671" y="749807"/>
                  </a:lnTo>
                  <a:lnTo>
                    <a:pt x="11085921" y="778275"/>
                  </a:lnTo>
                  <a:lnTo>
                    <a:pt x="11070240" y="801528"/>
                  </a:lnTo>
                  <a:lnTo>
                    <a:pt x="11046987" y="817209"/>
                  </a:lnTo>
                  <a:lnTo>
                    <a:pt x="11018519" y="822959"/>
                  </a:lnTo>
                  <a:lnTo>
                    <a:pt x="73151" y="822959"/>
                  </a:lnTo>
                  <a:lnTo>
                    <a:pt x="44678" y="817209"/>
                  </a:lnTo>
                  <a:lnTo>
                    <a:pt x="21426" y="801528"/>
                  </a:lnTo>
                  <a:lnTo>
                    <a:pt x="5748" y="778275"/>
                  </a:lnTo>
                  <a:lnTo>
                    <a:pt x="0" y="749807"/>
                  </a:lnTo>
                  <a:lnTo>
                    <a:pt x="0" y="73151"/>
                  </a:lnTo>
                  <a:close/>
                </a:path>
              </a:pathLst>
            </a:custGeom>
            <a:ln w="12192">
              <a:solidFill>
                <a:srgbClr val="DDD2C4"/>
              </a:solidFill>
            </a:ln>
          </p:spPr>
          <p:txBody>
            <a:bodyPr wrap="square" lIns="0" tIns="0" rIns="0" bIns="0" rtlCol="0"/>
            <a:lstStyle/>
            <a:p>
              <a:endParaRPr/>
            </a:p>
          </p:txBody>
        </p:sp>
      </p:grpSp>
      <p:sp>
        <p:nvSpPr>
          <p:cNvPr id="20" name="object 20"/>
          <p:cNvSpPr txBox="1"/>
          <p:nvPr/>
        </p:nvSpPr>
        <p:spPr>
          <a:xfrm>
            <a:off x="703884" y="3611981"/>
            <a:ext cx="2496516" cy="226985"/>
          </a:xfrm>
          <a:prstGeom prst="rect">
            <a:avLst/>
          </a:prstGeom>
        </p:spPr>
        <p:txBody>
          <a:bodyPr vert="horz" wrap="square" lIns="0" tIns="11430" rIns="0" bIns="0" rtlCol="0">
            <a:spAutoFit/>
          </a:bodyPr>
          <a:lstStyle/>
          <a:p>
            <a:pPr marL="12700">
              <a:lnSpc>
                <a:spcPct val="100000"/>
              </a:lnSpc>
              <a:spcBef>
                <a:spcPts val="90"/>
              </a:spcBef>
            </a:pPr>
            <a:r>
              <a:rPr lang="en-IN" sz="1400" dirty="0" err="1"/>
              <a:t>PyTorch</a:t>
            </a:r>
            <a:r>
              <a:rPr lang="en-IN" sz="1400" dirty="0"/>
              <a:t> / </a:t>
            </a:r>
            <a:r>
              <a:rPr lang="en-IN" sz="1400" dirty="0" err="1"/>
              <a:t>PyTorch</a:t>
            </a:r>
            <a:r>
              <a:rPr lang="en-IN" sz="1400" dirty="0"/>
              <a:t> Geometric</a:t>
            </a:r>
            <a:endParaRPr sz="1400" dirty="0">
              <a:latin typeface="Calibri"/>
              <a:cs typeface="Calibri"/>
            </a:endParaRPr>
          </a:p>
        </p:txBody>
      </p:sp>
      <p:sp>
        <p:nvSpPr>
          <p:cNvPr id="21" name="object 21"/>
          <p:cNvSpPr txBox="1"/>
          <p:nvPr/>
        </p:nvSpPr>
        <p:spPr>
          <a:xfrm>
            <a:off x="4286250" y="3648202"/>
            <a:ext cx="6915150" cy="350737"/>
          </a:xfrm>
          <a:prstGeom prst="rect">
            <a:avLst/>
          </a:prstGeom>
        </p:spPr>
        <p:txBody>
          <a:bodyPr vert="horz" wrap="square" lIns="0" tIns="12065" rIns="0" bIns="0" rtlCol="0">
            <a:spAutoFit/>
          </a:bodyPr>
          <a:lstStyle/>
          <a:p>
            <a:pPr marL="12700">
              <a:lnSpc>
                <a:spcPct val="100000"/>
              </a:lnSpc>
              <a:spcBef>
                <a:spcPts val="95"/>
              </a:spcBef>
            </a:pPr>
            <a:r>
              <a:rPr lang="en-IN" sz="1100" dirty="0"/>
              <a:t>Used to build and train </a:t>
            </a:r>
            <a:r>
              <a:rPr lang="en-IN" sz="1100" b="1" dirty="0"/>
              <a:t>Graph Neural Network (GNN)</a:t>
            </a:r>
            <a:r>
              <a:rPr lang="en-IN" sz="1100" dirty="0"/>
              <a:t> models for </a:t>
            </a:r>
            <a:r>
              <a:rPr lang="en-IN" sz="1100" dirty="0" err="1"/>
              <a:t>analyzing</a:t>
            </a:r>
            <a:r>
              <a:rPr lang="en-IN" sz="1100" dirty="0"/>
              <a:t> relationships between financial accounts and transactions.</a:t>
            </a:r>
            <a:endParaRPr sz="1100" dirty="0">
              <a:latin typeface="Calibri"/>
              <a:cs typeface="Calibri"/>
            </a:endParaRPr>
          </a:p>
        </p:txBody>
      </p:sp>
      <p:grpSp>
        <p:nvGrpSpPr>
          <p:cNvPr id="22" name="object 22"/>
          <p:cNvGrpSpPr/>
          <p:nvPr/>
        </p:nvGrpSpPr>
        <p:grpSpPr>
          <a:xfrm>
            <a:off x="463295" y="4264177"/>
            <a:ext cx="11252835" cy="984250"/>
            <a:chOff x="463295" y="4264177"/>
            <a:chExt cx="11252835" cy="984250"/>
          </a:xfrm>
        </p:grpSpPr>
        <p:pic>
          <p:nvPicPr>
            <p:cNvPr id="23" name="object 23"/>
            <p:cNvPicPr/>
            <p:nvPr/>
          </p:nvPicPr>
          <p:blipFill>
            <a:blip r:embed="rId2" cstate="print"/>
            <a:stretch>
              <a:fillRect/>
            </a:stretch>
          </p:blipFill>
          <p:spPr>
            <a:xfrm>
              <a:off x="463295" y="4264177"/>
              <a:ext cx="11252835" cy="984097"/>
            </a:xfrm>
            <a:prstGeom prst="rect">
              <a:avLst/>
            </a:prstGeom>
          </p:spPr>
        </p:pic>
        <p:sp>
          <p:nvSpPr>
            <p:cNvPr id="24" name="object 24"/>
            <p:cNvSpPr/>
            <p:nvPr/>
          </p:nvSpPr>
          <p:spPr>
            <a:xfrm>
              <a:off x="548639" y="4325111"/>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1"/>
                  </a:lnTo>
                  <a:lnTo>
                    <a:pt x="0" y="749807"/>
                  </a:lnTo>
                  <a:lnTo>
                    <a:pt x="5748" y="778275"/>
                  </a:lnTo>
                  <a:lnTo>
                    <a:pt x="21426" y="801528"/>
                  </a:lnTo>
                  <a:lnTo>
                    <a:pt x="44678" y="817209"/>
                  </a:lnTo>
                  <a:lnTo>
                    <a:pt x="73151" y="822960"/>
                  </a:lnTo>
                  <a:lnTo>
                    <a:pt x="11018519" y="822960"/>
                  </a:lnTo>
                  <a:lnTo>
                    <a:pt x="11046987" y="817209"/>
                  </a:lnTo>
                  <a:lnTo>
                    <a:pt x="11070240" y="801528"/>
                  </a:lnTo>
                  <a:lnTo>
                    <a:pt x="11085921" y="778275"/>
                  </a:lnTo>
                  <a:lnTo>
                    <a:pt x="11091671" y="749807"/>
                  </a:lnTo>
                  <a:lnTo>
                    <a:pt x="11091671" y="73151"/>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25" name="object 25"/>
            <p:cNvSpPr/>
            <p:nvPr/>
          </p:nvSpPr>
          <p:spPr>
            <a:xfrm>
              <a:off x="548639" y="4325111"/>
              <a:ext cx="11092180" cy="822960"/>
            </a:xfrm>
            <a:custGeom>
              <a:avLst/>
              <a:gdLst/>
              <a:ahLst/>
              <a:cxnLst/>
              <a:rect l="l" t="t" r="r" b="b"/>
              <a:pathLst>
                <a:path w="11092180" h="822960">
                  <a:moveTo>
                    <a:pt x="0" y="73151"/>
                  </a:moveTo>
                  <a:lnTo>
                    <a:pt x="5748" y="44684"/>
                  </a:lnTo>
                  <a:lnTo>
                    <a:pt x="21426" y="21431"/>
                  </a:lnTo>
                  <a:lnTo>
                    <a:pt x="44678" y="5750"/>
                  </a:lnTo>
                  <a:lnTo>
                    <a:pt x="73151" y="0"/>
                  </a:lnTo>
                  <a:lnTo>
                    <a:pt x="11018519" y="0"/>
                  </a:lnTo>
                  <a:lnTo>
                    <a:pt x="11046987" y="5750"/>
                  </a:lnTo>
                  <a:lnTo>
                    <a:pt x="11070240" y="21431"/>
                  </a:lnTo>
                  <a:lnTo>
                    <a:pt x="11085921" y="44684"/>
                  </a:lnTo>
                  <a:lnTo>
                    <a:pt x="11091671" y="73151"/>
                  </a:lnTo>
                  <a:lnTo>
                    <a:pt x="11091671" y="749807"/>
                  </a:lnTo>
                  <a:lnTo>
                    <a:pt x="11085921" y="778275"/>
                  </a:lnTo>
                  <a:lnTo>
                    <a:pt x="11070240" y="801528"/>
                  </a:lnTo>
                  <a:lnTo>
                    <a:pt x="11046987" y="817209"/>
                  </a:lnTo>
                  <a:lnTo>
                    <a:pt x="11018519" y="822960"/>
                  </a:lnTo>
                  <a:lnTo>
                    <a:pt x="73151" y="822960"/>
                  </a:lnTo>
                  <a:lnTo>
                    <a:pt x="44678" y="817209"/>
                  </a:lnTo>
                  <a:lnTo>
                    <a:pt x="21426" y="801528"/>
                  </a:lnTo>
                  <a:lnTo>
                    <a:pt x="5748" y="778275"/>
                  </a:lnTo>
                  <a:lnTo>
                    <a:pt x="0" y="749807"/>
                  </a:lnTo>
                  <a:lnTo>
                    <a:pt x="0" y="73151"/>
                  </a:lnTo>
                  <a:close/>
                </a:path>
              </a:pathLst>
            </a:custGeom>
            <a:ln w="12192">
              <a:solidFill>
                <a:srgbClr val="DDD2C4"/>
              </a:solidFill>
            </a:ln>
          </p:spPr>
          <p:txBody>
            <a:bodyPr wrap="square" lIns="0" tIns="0" rIns="0" bIns="0" rtlCol="0"/>
            <a:lstStyle/>
            <a:p>
              <a:endParaRPr/>
            </a:p>
          </p:txBody>
        </p:sp>
      </p:grpSp>
      <p:sp>
        <p:nvSpPr>
          <p:cNvPr id="26" name="object 26"/>
          <p:cNvSpPr txBox="1"/>
          <p:nvPr/>
        </p:nvSpPr>
        <p:spPr>
          <a:xfrm>
            <a:off x="856284" y="4609922"/>
            <a:ext cx="1810716" cy="227626"/>
          </a:xfrm>
          <a:prstGeom prst="rect">
            <a:avLst/>
          </a:prstGeom>
        </p:spPr>
        <p:txBody>
          <a:bodyPr vert="horz" wrap="square" lIns="0" tIns="12065" rIns="0" bIns="0" rtlCol="0">
            <a:spAutoFit/>
          </a:bodyPr>
          <a:lstStyle/>
          <a:p>
            <a:pPr marL="12700">
              <a:lnSpc>
                <a:spcPct val="100000"/>
              </a:lnSpc>
              <a:spcBef>
                <a:spcPts val="95"/>
              </a:spcBef>
            </a:pPr>
            <a:r>
              <a:rPr sz="1400" b="1" dirty="0">
                <a:solidFill>
                  <a:srgbClr val="C00000"/>
                </a:solidFill>
                <a:latin typeface="Calibri"/>
                <a:cs typeface="Calibri"/>
              </a:rPr>
              <a:t>Jupyter</a:t>
            </a:r>
            <a:r>
              <a:rPr sz="1400" b="1" spc="-20" dirty="0">
                <a:solidFill>
                  <a:srgbClr val="C00000"/>
                </a:solidFill>
                <a:latin typeface="Calibri"/>
                <a:cs typeface="Calibri"/>
              </a:rPr>
              <a:t> </a:t>
            </a:r>
            <a:r>
              <a:rPr sz="1400" b="1" dirty="0">
                <a:solidFill>
                  <a:srgbClr val="C00000"/>
                </a:solidFill>
                <a:latin typeface="Calibri"/>
                <a:cs typeface="Calibri"/>
              </a:rPr>
              <a:t>/</a:t>
            </a:r>
            <a:r>
              <a:rPr sz="1400" b="1" spc="-65" dirty="0">
                <a:solidFill>
                  <a:srgbClr val="C00000"/>
                </a:solidFill>
                <a:latin typeface="Calibri"/>
                <a:cs typeface="Calibri"/>
              </a:rPr>
              <a:t> </a:t>
            </a:r>
            <a:r>
              <a:rPr lang="en-IN" sz="1400" b="1" spc="-65" dirty="0">
                <a:solidFill>
                  <a:srgbClr val="C00000"/>
                </a:solidFill>
                <a:latin typeface="Calibri"/>
                <a:cs typeface="Calibri"/>
              </a:rPr>
              <a:t>Google </a:t>
            </a:r>
            <a:r>
              <a:rPr lang="en-IN" sz="1400" b="1" spc="-65" dirty="0" err="1">
                <a:solidFill>
                  <a:srgbClr val="C00000"/>
                </a:solidFill>
                <a:latin typeface="Calibri"/>
                <a:cs typeface="Calibri"/>
              </a:rPr>
              <a:t>Colab</a:t>
            </a:r>
            <a:endParaRPr sz="1400" dirty="0">
              <a:latin typeface="Calibri"/>
              <a:cs typeface="Calibri"/>
            </a:endParaRPr>
          </a:p>
        </p:txBody>
      </p:sp>
      <p:sp>
        <p:nvSpPr>
          <p:cNvPr id="27" name="object 27"/>
          <p:cNvSpPr txBox="1"/>
          <p:nvPr/>
        </p:nvSpPr>
        <p:spPr>
          <a:xfrm>
            <a:off x="4286250" y="4617847"/>
            <a:ext cx="6915150" cy="443070"/>
          </a:xfrm>
          <a:prstGeom prst="rect">
            <a:avLst/>
          </a:prstGeom>
        </p:spPr>
        <p:txBody>
          <a:bodyPr vert="horz" wrap="square" lIns="0" tIns="12065" rIns="0" bIns="0" rtlCol="0">
            <a:spAutoFit/>
          </a:bodyPr>
          <a:lstStyle/>
          <a:p>
            <a:pPr marL="12700">
              <a:lnSpc>
                <a:spcPct val="100000"/>
              </a:lnSpc>
              <a:spcBef>
                <a:spcPts val="95"/>
              </a:spcBef>
            </a:pPr>
            <a:r>
              <a:rPr lang="en-IN" sz="1400" dirty="0"/>
              <a:t>Interactive environment for dataset analysis, model development, training, testing, and visualization.</a:t>
            </a:r>
            <a:endParaRPr sz="1300" dirty="0">
              <a:latin typeface="Calibri"/>
              <a:cs typeface="Calibri"/>
            </a:endParaRPr>
          </a:p>
        </p:txBody>
      </p:sp>
      <p:grpSp>
        <p:nvGrpSpPr>
          <p:cNvPr id="28" name="object 28"/>
          <p:cNvGrpSpPr/>
          <p:nvPr/>
        </p:nvGrpSpPr>
        <p:grpSpPr>
          <a:xfrm>
            <a:off x="463295" y="5233415"/>
            <a:ext cx="11252835" cy="984250"/>
            <a:chOff x="463295" y="5233415"/>
            <a:chExt cx="11252835" cy="984250"/>
          </a:xfrm>
        </p:grpSpPr>
        <p:pic>
          <p:nvPicPr>
            <p:cNvPr id="29" name="object 29"/>
            <p:cNvPicPr/>
            <p:nvPr/>
          </p:nvPicPr>
          <p:blipFill>
            <a:blip r:embed="rId2" cstate="print"/>
            <a:stretch>
              <a:fillRect/>
            </a:stretch>
          </p:blipFill>
          <p:spPr>
            <a:xfrm>
              <a:off x="463295" y="5233415"/>
              <a:ext cx="11252835" cy="984097"/>
            </a:xfrm>
            <a:prstGeom prst="rect">
              <a:avLst/>
            </a:prstGeom>
          </p:spPr>
        </p:pic>
        <p:sp>
          <p:nvSpPr>
            <p:cNvPr id="30" name="object 30"/>
            <p:cNvSpPr/>
            <p:nvPr/>
          </p:nvSpPr>
          <p:spPr>
            <a:xfrm>
              <a:off x="548639" y="5294375"/>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2"/>
                  </a:lnTo>
                  <a:lnTo>
                    <a:pt x="0" y="749808"/>
                  </a:lnTo>
                  <a:lnTo>
                    <a:pt x="5748" y="778281"/>
                  </a:lnTo>
                  <a:lnTo>
                    <a:pt x="21426" y="801533"/>
                  </a:lnTo>
                  <a:lnTo>
                    <a:pt x="44678" y="817211"/>
                  </a:lnTo>
                  <a:lnTo>
                    <a:pt x="73151" y="822960"/>
                  </a:lnTo>
                  <a:lnTo>
                    <a:pt x="11018519" y="822960"/>
                  </a:lnTo>
                  <a:lnTo>
                    <a:pt x="11046987" y="817211"/>
                  </a:lnTo>
                  <a:lnTo>
                    <a:pt x="11070240" y="801533"/>
                  </a:lnTo>
                  <a:lnTo>
                    <a:pt x="11085921" y="778281"/>
                  </a:lnTo>
                  <a:lnTo>
                    <a:pt x="11091671" y="749808"/>
                  </a:lnTo>
                  <a:lnTo>
                    <a:pt x="11091671" y="73152"/>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31" name="object 31"/>
            <p:cNvSpPr/>
            <p:nvPr/>
          </p:nvSpPr>
          <p:spPr>
            <a:xfrm>
              <a:off x="548639" y="5294375"/>
              <a:ext cx="11092180" cy="822960"/>
            </a:xfrm>
            <a:custGeom>
              <a:avLst/>
              <a:gdLst/>
              <a:ahLst/>
              <a:cxnLst/>
              <a:rect l="l" t="t" r="r" b="b"/>
              <a:pathLst>
                <a:path w="11092180" h="822960">
                  <a:moveTo>
                    <a:pt x="0" y="73152"/>
                  </a:moveTo>
                  <a:lnTo>
                    <a:pt x="5748" y="44684"/>
                  </a:lnTo>
                  <a:lnTo>
                    <a:pt x="21426" y="21431"/>
                  </a:lnTo>
                  <a:lnTo>
                    <a:pt x="44678" y="5750"/>
                  </a:lnTo>
                  <a:lnTo>
                    <a:pt x="73151" y="0"/>
                  </a:lnTo>
                  <a:lnTo>
                    <a:pt x="11018519" y="0"/>
                  </a:lnTo>
                  <a:lnTo>
                    <a:pt x="11046987" y="5750"/>
                  </a:lnTo>
                  <a:lnTo>
                    <a:pt x="11070240" y="21431"/>
                  </a:lnTo>
                  <a:lnTo>
                    <a:pt x="11085921" y="44684"/>
                  </a:lnTo>
                  <a:lnTo>
                    <a:pt x="11091671" y="73152"/>
                  </a:lnTo>
                  <a:lnTo>
                    <a:pt x="11091671" y="749808"/>
                  </a:lnTo>
                  <a:lnTo>
                    <a:pt x="11085921" y="778281"/>
                  </a:lnTo>
                  <a:lnTo>
                    <a:pt x="11070240" y="801533"/>
                  </a:lnTo>
                  <a:lnTo>
                    <a:pt x="11046987" y="817211"/>
                  </a:lnTo>
                  <a:lnTo>
                    <a:pt x="11018519" y="822960"/>
                  </a:lnTo>
                  <a:lnTo>
                    <a:pt x="73151" y="822960"/>
                  </a:lnTo>
                  <a:lnTo>
                    <a:pt x="44678" y="817211"/>
                  </a:lnTo>
                  <a:lnTo>
                    <a:pt x="21426" y="801533"/>
                  </a:lnTo>
                  <a:lnTo>
                    <a:pt x="5748" y="778281"/>
                  </a:lnTo>
                  <a:lnTo>
                    <a:pt x="0" y="749808"/>
                  </a:lnTo>
                  <a:lnTo>
                    <a:pt x="0" y="73152"/>
                  </a:lnTo>
                  <a:close/>
                </a:path>
              </a:pathLst>
            </a:custGeom>
            <a:ln w="12192">
              <a:solidFill>
                <a:srgbClr val="DDD2C4"/>
              </a:solidFill>
            </a:ln>
          </p:spPr>
          <p:txBody>
            <a:bodyPr wrap="square" lIns="0" tIns="0" rIns="0" bIns="0" rtlCol="0"/>
            <a:lstStyle/>
            <a:p>
              <a:endParaRPr/>
            </a:p>
          </p:txBody>
        </p:sp>
      </p:grpSp>
      <p:sp>
        <p:nvSpPr>
          <p:cNvPr id="32" name="object 32"/>
          <p:cNvSpPr txBox="1"/>
          <p:nvPr/>
        </p:nvSpPr>
        <p:spPr>
          <a:xfrm>
            <a:off x="856284" y="5580075"/>
            <a:ext cx="2191716" cy="226985"/>
          </a:xfrm>
          <a:prstGeom prst="rect">
            <a:avLst/>
          </a:prstGeom>
        </p:spPr>
        <p:txBody>
          <a:bodyPr vert="horz" wrap="square" lIns="0" tIns="11430" rIns="0" bIns="0" rtlCol="0">
            <a:spAutoFit/>
          </a:bodyPr>
          <a:lstStyle/>
          <a:p>
            <a:pPr marL="12700">
              <a:lnSpc>
                <a:spcPct val="100000"/>
              </a:lnSpc>
              <a:spcBef>
                <a:spcPts val="90"/>
              </a:spcBef>
            </a:pPr>
            <a:r>
              <a:rPr lang="en-IN" sz="1400" b="1" dirty="0">
                <a:solidFill>
                  <a:srgbClr val="C00000"/>
                </a:solidFill>
              </a:rPr>
              <a:t>Bottom/extra requirement</a:t>
            </a:r>
            <a:endParaRPr sz="1400" b="1" dirty="0">
              <a:solidFill>
                <a:srgbClr val="C00000"/>
              </a:solidFill>
              <a:latin typeface="Calibri"/>
              <a:cs typeface="Calibri"/>
            </a:endParaRPr>
          </a:p>
        </p:txBody>
      </p:sp>
      <p:sp>
        <p:nvSpPr>
          <p:cNvPr id="34" name="object 34"/>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35" name="object 35"/>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fld id="{81D60167-4931-47E6-BA6A-407CBD079E47}" type="slidenum">
              <a:rPr spc="-25" dirty="0"/>
              <a:t>4</a:t>
            </a:fld>
            <a:endParaRPr spc="-25" dirty="0"/>
          </a:p>
        </p:txBody>
      </p:sp>
      <p:sp>
        <p:nvSpPr>
          <p:cNvPr id="33" name="object 33"/>
          <p:cNvSpPr txBox="1"/>
          <p:nvPr/>
        </p:nvSpPr>
        <p:spPr>
          <a:xfrm>
            <a:off x="4286250" y="5587694"/>
            <a:ext cx="6153150" cy="350737"/>
          </a:xfrm>
          <a:prstGeom prst="rect">
            <a:avLst/>
          </a:prstGeom>
        </p:spPr>
        <p:txBody>
          <a:bodyPr vert="horz" wrap="square" lIns="0" tIns="12065" rIns="0" bIns="0" rtlCol="0">
            <a:spAutoFit/>
          </a:bodyPr>
          <a:lstStyle/>
          <a:p>
            <a:pPr marL="12700">
              <a:lnSpc>
                <a:spcPct val="100000"/>
              </a:lnSpc>
              <a:spcBef>
                <a:spcPts val="95"/>
              </a:spcBef>
            </a:pPr>
            <a:r>
              <a:rPr lang="en-IN" sz="1100" b="1" dirty="0"/>
              <a:t>Dataset</a:t>
            </a:r>
            <a:r>
              <a:rPr lang="en-IN" sz="1100" dirty="0"/>
              <a:t> → </a:t>
            </a:r>
            <a:r>
              <a:rPr lang="en-IN" sz="1100" b="1" dirty="0"/>
              <a:t>Financial transaction dataset</a:t>
            </a:r>
            <a:r>
              <a:rPr lang="en-IN" sz="1100" dirty="0"/>
              <a:t> containing sender, receiver, transaction amount, time, and fraud/AML-related labels for detecting suspicious transaction patterns.</a:t>
            </a:r>
            <a:endParaRPr sz="110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r>
              <a:rPr sz="1600" b="1">
                <a:solidFill>
                  <a:srgbClr val="FFFFFF"/>
                </a:solidFill>
                <a:latin typeface="Aptos Display"/>
              </a:rPr>
              <a:t>LITERATURE REVIEW • PART 1</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r>
              <a:t>5</a:t>
            </a:r>
          </a:p>
        </p:txBody>
      </p:sp>
      <p:sp>
        <p:nvSpPr>
          <p:cNvPr id="3" name="object 3"/>
          <p:cNvSpPr txBox="1"/>
          <p:nvPr/>
        </p:nvSpPr>
        <p:spPr>
          <a:xfrm>
            <a:off x="5755640" y="933449"/>
            <a:ext cx="681990" cy="201295"/>
          </a:xfrm>
          <a:prstGeom prst="rect">
            <a:avLst/>
          </a:prstGeom>
        </p:spPr>
        <p:txBody>
          <a:bodyPr vert="horz" wrap="square" lIns="0" tIns="12700" rIns="0" bIns="0" rtlCol="0">
            <a:spAutoFit/>
          </a:bodyPr>
          <a:lstStyle/>
          <a:p>
            <a:pPr algn="ctr"/>
            <a:r>
              <a:rPr sz="1000" b="1">
                <a:solidFill>
                  <a:srgbClr val="C00000"/>
                </a:solidFill>
              </a:rPr>
              <a:t>Papers 1–4</a:t>
            </a:r>
          </a:p>
        </p:txBody>
      </p:sp>
      <p:graphicFrame>
        <p:nvGraphicFramePr>
          <p:cNvPr id="4" name="object 4"/>
          <p:cNvGraphicFramePr>
            <a:graphicFrameLocks noGrp="1"/>
          </p:cNvGraphicFramePr>
          <p:nvPr>
            <p:extLst>
              <p:ext uri="{D42A27DB-BD31-4B8C-83A1-F6EECF244321}">
                <p14:modId xmlns:p14="http://schemas.microsoft.com/office/powerpoint/2010/main" val="1521557865"/>
              </p:ext>
            </p:extLst>
          </p:nvPr>
        </p:nvGraphicFramePr>
        <p:xfrm>
          <a:off x="362584" y="1295272"/>
          <a:ext cx="11457304" cy="5093208"/>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658368">
                <a:tc>
                  <a:txBody>
                    <a:bodyPr wrap="square" lIns="54864" rIns="45720" tIns="27432" bIns="27432"/>
                    <a:lstStyle/>
                    <a:p>
                      <a:pPr algn="l">
                        <a:lnSpc>
                          <a:spcPct val="100000"/>
                        </a:lnSpc>
                        <a:spcBef>
                          <a:spcPts val="0"/>
                        </a:spcBef>
                        <a:spcAft>
                          <a:spcPts val="0"/>
                        </a:spcAft>
                      </a:pPr>
                      <a:r>
                        <a:rPr sz="1000" b="1">
                          <a:solidFill>
                            <a:srgbClr val="FFFFFF"/>
                          </a:solidFill>
                          <a:latin typeface="Aptos"/>
                        </a:rPr>
                        <a:t>Paper / Year</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Dataset</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Methodology</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Limitation</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1097280">
                <a:tc>
                  <a:txBody>
                    <a:bodyPr wrap="square" lIns="54864" rIns="45720" tIns="36576" bIns="36576"/>
                    <a:lstStyle/>
                    <a:p>
                      <a:pPr marL="73025">
                        <a:lnSpc>
                          <a:spcPct val="100000"/>
                        </a:lnSpc>
                        <a:spcBef>
                          <a:spcPts val="380"/>
                        </a:spcBef>
                        <a:spcAft>
                          <a:spcPts val="100"/>
                        </a:spcAft>
                      </a:pPr>
                      <a:r>
                        <a:rPr sz="740" b="1">
                          <a:solidFill>
                            <a:srgbClr val="000000"/>
                          </a:solidFill>
                          <a:latin typeface="Aptos"/>
                        </a:rPr>
                        <a:t>1. Mark Weber; Giacomo Domeniconi; Jie Chen; Daniel K. I. Weidele; Claudio Bellei; Tom Robinson; Charles E. Leiserson • 2019</a:t>
                      </a:r>
                      <a:endParaRPr sz="800" dirty="0">
                        <a:latin typeface="Calibri"/>
                        <a:cs typeface="Calibri"/>
                      </a:endParaRPr>
                    </a:p>
                    <a:p>
                      <a:pPr>
                        <a:spcBef>
                          <a:spcPts val="0"/>
                        </a:spcBef>
                        <a:spcAft>
                          <a:spcPts val="0"/>
                        </a:spcAft>
                      </a:pPr>
                      <a:r>
                        <a:rPr sz="730" b="0">
                          <a:solidFill>
                            <a:srgbClr val="000000"/>
                          </a:solidFill>
                          <a:latin typeface="Aptos"/>
                        </a:rPr>
                        <a:t>Anti-Money Laundering in Bitcoin: Experimenting with Graph Convolutional Networks for Financial Forensics</a:t>
                      </a: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Elliptic Bitcoin Dataset</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Compared Logistic Regression, Random Forest, MLP and GCN for illicit-transaction classification; introduced the Elliptic transaction graph.</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algn="l">
                        <a:lnSpc>
                          <a:spcPct val="100000"/>
                        </a:lnSpc>
                        <a:spcBef>
                          <a:spcPts val="0"/>
                        </a:spcBef>
                        <a:spcAft>
                          <a:spcPts val="0"/>
                        </a:spcAft>
                      </a:pPr>
                      <a:r>
                        <a:rPr sz="760" b="0">
                          <a:solidFill>
                            <a:srgbClr val="000000"/>
                          </a:solidFill>
                          <a:latin typeface="Aptos"/>
                        </a:rPr>
                        <a:t>Real-world labeled AML data is scarce; the graph is large and dynamic; explainability is difficult; tested GCN variants did not consistently outperform simpler baselines.</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1097280">
                <a:tc>
                  <a:txBody>
                    <a:bodyPr wrap="square" lIns="54864" rIns="45720" tIns="36576" bIns="36576"/>
                    <a:lstStyle/>
                    <a:p>
                      <a:pPr marL="73025">
                        <a:lnSpc>
                          <a:spcPct val="100000"/>
                        </a:lnSpc>
                        <a:spcBef>
                          <a:spcPts val="385"/>
                        </a:spcBef>
                        <a:spcAft>
                          <a:spcPts val="100"/>
                        </a:spcAft>
                      </a:pPr>
                      <a:r>
                        <a:rPr sz="740" b="1">
                          <a:solidFill>
                            <a:srgbClr val="000000"/>
                          </a:solidFill>
                          <a:latin typeface="Aptos"/>
                        </a:rPr>
                        <a:t>2. Ismail Alarab; Simant Prakoonwit; M. I. Nacer • 2020</a:t>
                      </a:r>
                      <a:endParaRPr sz="800" dirty="0">
                        <a:latin typeface="Calibri"/>
                        <a:cs typeface="Calibri"/>
                      </a:endParaRPr>
                    </a:p>
                    <a:p>
                      <a:pPr>
                        <a:spcBef>
                          <a:spcPts val="0"/>
                        </a:spcBef>
                        <a:spcAft>
                          <a:spcPts val="0"/>
                        </a:spcAft>
                      </a:pPr>
                      <a:r>
                        <a:rPr sz="730" b="0">
                          <a:solidFill>
                            <a:srgbClr val="000000"/>
                          </a:solidFill>
                          <a:latin typeface="Aptos"/>
                        </a:rPr>
                        <a:t>Competence of Graph Convolutional Network in Anti-Money Laundering in Bitcoin Blockchain</a:t>
                      </a: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Elliptic Bitcoin Dataset</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marR="254000" algn="l">
                        <a:lnSpc>
                          <a:spcPct val="100000"/>
                        </a:lnSpc>
                        <a:spcBef>
                          <a:spcPts val="0"/>
                        </a:spcBef>
                        <a:spcAft>
                          <a:spcPts val="0"/>
                        </a:spcAft>
                      </a:pPr>
                      <a:r>
                        <a:rPr sz="760" b="0">
                          <a:solidFill>
                            <a:srgbClr val="000000"/>
                          </a:solidFill>
                          <a:latin typeface="Aptos"/>
                        </a:rPr>
                        <a:t>Combined graph-convolution node embeddings with node features and an MLP for illicit-transaction classification.</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659765" algn="l">
                        <a:lnSpc>
                          <a:spcPct val="100000"/>
                        </a:lnSpc>
                        <a:spcBef>
                          <a:spcPts val="0"/>
                        </a:spcBef>
                        <a:spcAft>
                          <a:spcPts val="0"/>
                        </a:spcAft>
                      </a:pPr>
                      <a:r>
                        <a:rPr sz="760" b="0">
                          <a:solidFill>
                            <a:srgbClr val="000000"/>
                          </a:solidFill>
                          <a:latin typeface="Aptos"/>
                        </a:rPr>
                        <a:t>Focused on one Bitcoin dataset; dependent on Elliptic labels/features; temporal evolution is not fully modeled.</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1097280">
                <a:tc>
                  <a:txBody>
                    <a:bodyPr wrap="square" lIns="54864" rIns="45720" tIns="36576" bIns="36576"/>
                    <a:lstStyle/>
                    <a:p>
                      <a:pPr marL="73025" marR="201295">
                        <a:lnSpc>
                          <a:spcPct val="100000"/>
                        </a:lnSpc>
                        <a:spcBef>
                          <a:spcPts val="390"/>
                        </a:spcBef>
                        <a:spcAft>
                          <a:spcPts val="100"/>
                        </a:spcAft>
                      </a:pPr>
                      <a:r>
                        <a:rPr sz="740" b="1">
                          <a:solidFill>
                            <a:srgbClr val="000000"/>
                          </a:solidFill>
                          <a:latin typeface="Aptos"/>
                        </a:rPr>
                        <a:t>3. Wai Weng Lo; Gayan K. Kulatilleke; Mohanad Sarhan; Siamak Layeghy; Marius Portmann • 2023</a:t>
                      </a:r>
                      <a:endParaRPr sz="800" dirty="0">
                        <a:latin typeface="Calibri"/>
                        <a:cs typeface="Calibri"/>
                      </a:endParaRPr>
                    </a:p>
                    <a:p>
                      <a:pPr>
                        <a:spcBef>
                          <a:spcPts val="0"/>
                        </a:spcBef>
                        <a:spcAft>
                          <a:spcPts val="0"/>
                        </a:spcAft>
                      </a:pPr>
                      <a:r>
                        <a:rPr sz="730" b="0">
                          <a:solidFill>
                            <a:srgbClr val="000000"/>
                          </a:solidFill>
                          <a:latin typeface="Aptos"/>
                        </a:rPr>
                        <a:t>Inspection-L: Self-Supervised GNN Node Embeddings for Money Laundering Detection in Bitcoin</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Elliptic Bitcoin Dataset</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104775" algn="l">
                        <a:lnSpc>
                          <a:spcPct val="100000"/>
                        </a:lnSpc>
                        <a:spcBef>
                          <a:spcPts val="0"/>
                        </a:spcBef>
                        <a:spcAft>
                          <a:spcPts val="0"/>
                        </a:spcAft>
                      </a:pPr>
                      <a:r>
                        <a:rPr sz="760" b="0">
                          <a:solidFill>
                            <a:srgbClr val="000000"/>
                          </a:solidFill>
                          <a:latin typeface="Aptos"/>
                        </a:rPr>
                        <a:t>Used Deep Graph Infomax with a Graph Isomorphism Network to learn self-supervised node embeddings, followed by classification.</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113030" algn="l">
                        <a:lnSpc>
                          <a:spcPct val="100000"/>
                        </a:lnSpc>
                        <a:spcBef>
                          <a:spcPts val="0"/>
                        </a:spcBef>
                        <a:spcAft>
                          <a:spcPts val="0"/>
                        </a:spcAft>
                      </a:pPr>
                      <a:r>
                        <a:rPr sz="760" b="0">
                          <a:solidFill>
                            <a:srgbClr val="000000"/>
                          </a:solidFill>
                          <a:latin typeface="Aptos"/>
                        </a:rPr>
                        <a:t>Still evaluated mainly in the Elliptic Bitcoin setting; final detection still needs labels; generalization to private banking data remains open.</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1097280">
                <a:tc>
                  <a:txBody>
                    <a:bodyPr wrap="square" lIns="54864" rIns="45720" tIns="36576" bIns="36576"/>
                    <a:lstStyle/>
                    <a:p>
                      <a:pPr marL="73025">
                        <a:lnSpc>
                          <a:spcPct val="100000"/>
                        </a:lnSpc>
                        <a:spcBef>
                          <a:spcPts val="390"/>
                        </a:spcBef>
                        <a:spcAft>
                          <a:spcPts val="100"/>
                        </a:spcAft>
                      </a:pPr>
                      <a:r>
                        <a:rPr sz="740" b="1">
                          <a:solidFill>
                            <a:srgbClr val="000000"/>
                          </a:solidFill>
                          <a:latin typeface="Aptos"/>
                        </a:rPr>
                        <a:t>4. Ismail Alarab; Simant Prakoonwit • 2023</a:t>
                      </a:r>
                      <a:endParaRPr sz="800" dirty="0">
                        <a:latin typeface="Calibri"/>
                        <a:cs typeface="Calibri"/>
                      </a:endParaRPr>
                    </a:p>
                    <a:p>
                      <a:pPr>
                        <a:spcBef>
                          <a:spcPts val="0"/>
                        </a:spcBef>
                        <a:spcAft>
                          <a:spcPts val="0"/>
                        </a:spcAft>
                      </a:pPr>
                      <a:r>
                        <a:rPr sz="730" b="0">
                          <a:solidFill>
                            <a:srgbClr val="000000"/>
                          </a:solidFill>
                          <a:latin typeface="Aptos"/>
                        </a:rPr>
                        <a:t>Graph-Based LSTM for Anti-money Laundering: Experimenting Temporal Graph Convolutional Network with Bitcoin Data</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Elliptic Bitcoin Dataset</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Combined LSTM with GCN to incorporate temporal information and used active learning for illicit transaction classification.</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238125" algn="l">
                        <a:lnSpc>
                          <a:spcPct val="100000"/>
                        </a:lnSpc>
                        <a:spcBef>
                          <a:spcPts val="0"/>
                        </a:spcBef>
                        <a:spcAft>
                          <a:spcPts val="0"/>
                        </a:spcAft>
                      </a:pPr>
                      <a:r>
                        <a:rPr sz="760" b="0">
                          <a:solidFill>
                            <a:srgbClr val="000000"/>
                          </a:solidFill>
                          <a:latin typeface="Aptos"/>
                        </a:rPr>
                        <a:t>Temporal modeling increases complexity; evaluation is focused on Bitcoin rather than diverse banking transaction networks.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45720">
                <a:tc>
                  <a:txBody>
                    <a:bodyPr wrap="square" lIns="54864" rIns="45720" tIns="27432" bIns="27432"/>
                    <a:lstStyle/>
                    <a:p>
                      <a:pPr marL="73025" marR="27432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126364">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236854">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r>
              <a:rPr sz="1600" b="1">
                <a:solidFill>
                  <a:srgbClr val="FFFFFF"/>
                </a:solidFill>
                <a:latin typeface="Aptos Display"/>
              </a:rPr>
              <a:t>LITERATURE REVIEW • PART 2</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r>
              <a:t>6</a:t>
            </a:r>
          </a:p>
        </p:txBody>
      </p:sp>
      <p:sp>
        <p:nvSpPr>
          <p:cNvPr id="3" name="object 3"/>
          <p:cNvSpPr txBox="1"/>
          <p:nvPr/>
        </p:nvSpPr>
        <p:spPr>
          <a:xfrm>
            <a:off x="5719064" y="933449"/>
            <a:ext cx="754380" cy="201295"/>
          </a:xfrm>
          <a:prstGeom prst="rect">
            <a:avLst/>
          </a:prstGeom>
        </p:spPr>
        <p:txBody>
          <a:bodyPr vert="horz" wrap="square" lIns="0" tIns="12700" rIns="0" bIns="0" rtlCol="0">
            <a:spAutoFit/>
          </a:bodyPr>
          <a:lstStyle/>
          <a:p>
            <a:pPr algn="ctr"/>
            <a:r>
              <a:rPr sz="1000" b="1">
                <a:solidFill>
                  <a:srgbClr val="C00000"/>
                </a:solidFill>
              </a:rPr>
              <a:t>Papers 5–8</a:t>
            </a:r>
          </a:p>
        </p:txBody>
      </p:sp>
      <p:graphicFrame>
        <p:nvGraphicFramePr>
          <p:cNvPr id="4" name="object 4"/>
          <p:cNvGraphicFramePr>
            <a:graphicFrameLocks noGrp="1"/>
          </p:cNvGraphicFramePr>
          <p:nvPr>
            <p:extLst>
              <p:ext uri="{D42A27DB-BD31-4B8C-83A1-F6EECF244321}">
                <p14:modId xmlns:p14="http://schemas.microsoft.com/office/powerpoint/2010/main" val="302597882"/>
              </p:ext>
            </p:extLst>
          </p:nvPr>
        </p:nvGraphicFramePr>
        <p:xfrm>
          <a:off x="362584" y="1295272"/>
          <a:ext cx="11457304" cy="5093208"/>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658368">
                <a:tc>
                  <a:txBody>
                    <a:bodyPr wrap="square" lIns="54864" rIns="45720" tIns="27432" bIns="27432"/>
                    <a:lstStyle/>
                    <a:p>
                      <a:pPr algn="l">
                        <a:lnSpc>
                          <a:spcPct val="100000"/>
                        </a:lnSpc>
                        <a:spcBef>
                          <a:spcPts val="0"/>
                        </a:spcBef>
                        <a:spcAft>
                          <a:spcPts val="0"/>
                        </a:spcAft>
                      </a:pPr>
                      <a:r>
                        <a:rPr sz="1000" b="1">
                          <a:solidFill>
                            <a:srgbClr val="FFFFFF"/>
                          </a:solidFill>
                          <a:latin typeface="Aptos"/>
                        </a:rPr>
                        <a:t>Paper / Year</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Dataset</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Methodology</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Limitation</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1097280">
                <a:tc>
                  <a:txBody>
                    <a:bodyPr wrap="square" lIns="54864" rIns="45720" tIns="36576" bIns="36576"/>
                    <a:lstStyle/>
                    <a:p>
                      <a:pPr marL="73025" marR="150495">
                        <a:lnSpc>
                          <a:spcPct val="100000"/>
                        </a:lnSpc>
                        <a:spcBef>
                          <a:spcPts val="380"/>
                        </a:spcBef>
                        <a:spcAft>
                          <a:spcPts val="100"/>
                        </a:spcAft>
                      </a:pPr>
                      <a:r>
                        <a:rPr sz="740" b="1">
                          <a:solidFill>
                            <a:srgbClr val="000000"/>
                          </a:solidFill>
                          <a:latin typeface="Aptos"/>
                        </a:rPr>
                        <a:t>5. Mohan et al. • 2023</a:t>
                      </a:r>
                      <a:endParaRPr sz="800" dirty="0">
                        <a:latin typeface="Calibri"/>
                        <a:cs typeface="Calibri"/>
                      </a:endParaRPr>
                    </a:p>
                    <a:p>
                      <a:pPr>
                        <a:spcBef>
                          <a:spcPts val="0"/>
                        </a:spcBef>
                        <a:spcAft>
                          <a:spcPts val="0"/>
                        </a:spcAft>
                      </a:pPr>
                      <a:r>
                        <a:rPr sz="730" b="0">
                          <a:solidFill>
                            <a:srgbClr val="000000"/>
                          </a:solidFill>
                          <a:latin typeface="Aptos"/>
                        </a:rPr>
                        <a:t>Improving Anti-Money Laundering in Bitcoin Using Evolving Graph Convolutions and Deep Neural Decision Forest</a:t>
                      </a: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Elliptic Bitcoin Dataset</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Combined evolving/dynamic GCN with a Deep Neural Decision Forest and knowledge distillation for illicit-transaction classification.</a:t>
                      </a:r>
                      <a:endParaRPr sz="800" b="1"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algn="l">
                        <a:lnSpc>
                          <a:spcPct val="100000"/>
                        </a:lnSpc>
                        <a:spcBef>
                          <a:spcPts val="0"/>
                        </a:spcBef>
                        <a:spcAft>
                          <a:spcPts val="0"/>
                        </a:spcAft>
                      </a:pPr>
                      <a:r>
                        <a:rPr sz="760" b="0">
                          <a:solidFill>
                            <a:srgbClr val="000000"/>
                          </a:solidFill>
                          <a:latin typeface="Aptos"/>
                        </a:rPr>
                        <a:t>More complex and computationally demanding than static GNNs; evaluation is centered on Bitcoin and one major benchmark dataset.</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1097280">
                <a:tc>
                  <a:txBody>
                    <a:bodyPr wrap="square" lIns="54864" rIns="45720" tIns="36576" bIns="36576"/>
                    <a:lstStyle/>
                    <a:p>
                      <a:pPr marL="73025" marR="88265">
                        <a:lnSpc>
                          <a:spcPct val="100000"/>
                        </a:lnSpc>
                        <a:spcBef>
                          <a:spcPts val="385"/>
                        </a:spcBef>
                        <a:spcAft>
                          <a:spcPts val="100"/>
                        </a:spcAft>
                      </a:pPr>
                      <a:r>
                        <a:rPr sz="740" b="1">
                          <a:solidFill>
                            <a:srgbClr val="000000"/>
                          </a:solidFill>
                          <a:latin typeface="Aptos"/>
                        </a:rPr>
                        <a:t>6. Claudio Bellei; Muhua Xu; Ross Phillips; Tom Robinson; Mark Weber; Tim Kaler; Charles E. Leiserson; Arvind; Jie Chen • 2024</a:t>
                      </a:r>
                      <a:endParaRPr sz="800" dirty="0">
                        <a:latin typeface="Calibri"/>
                        <a:cs typeface="Calibri"/>
                      </a:endParaRPr>
                    </a:p>
                    <a:p>
                      <a:pPr>
                        <a:spcBef>
                          <a:spcPts val="0"/>
                        </a:spcBef>
                        <a:spcAft>
                          <a:spcPts val="0"/>
                        </a:spcAft>
                      </a:pPr>
                      <a:r>
                        <a:rPr sz="730" b="0">
                          <a:solidFill>
                            <a:srgbClr val="000000"/>
                          </a:solidFill>
                          <a:latin typeface="Aptos"/>
                        </a:rPr>
                        <a:t>The Shape of Money Laundering: Subgraph Representation Learning on the Blockchain with the Elliptic2 Dataset</a:t>
                      </a: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Elliptic2 Dataset</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marR="408940" algn="l">
                        <a:lnSpc>
                          <a:spcPct val="100000"/>
                        </a:lnSpc>
                        <a:spcBef>
                          <a:spcPts val="0"/>
                        </a:spcBef>
                        <a:spcAft>
                          <a:spcPts val="0"/>
                        </a:spcAft>
                      </a:pPr>
                      <a:r>
                        <a:rPr sz="760" b="0">
                          <a:solidFill>
                            <a:srgbClr val="000000"/>
                          </a:solidFill>
                          <a:latin typeface="Aptos"/>
                        </a:rPr>
                        <a:t>Used subgraph representation learning to capture laundering patterns at the subgraph level instead of only classifying individual nodes.</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196850" algn="l">
                        <a:lnSpc>
                          <a:spcPct val="100000"/>
                        </a:lnSpc>
                        <a:spcBef>
                          <a:spcPts val="0"/>
                        </a:spcBef>
                        <a:spcAft>
                          <a:spcPts val="0"/>
                        </a:spcAft>
                      </a:pPr>
                      <a:r>
                        <a:rPr sz="760" b="0">
                          <a:solidFill>
                            <a:srgbClr val="000000"/>
                          </a:solidFill>
                          <a:latin typeface="Aptos"/>
                        </a:rPr>
                        <a:t>Very large-scale subgraph processing is computationally demanding; cryptocurrency focus may limit direct banking-AML generalization.</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1097280">
                <a:tc>
                  <a:txBody>
                    <a:bodyPr wrap="square" lIns="54864" rIns="45720" tIns="36576" bIns="36576"/>
                    <a:lstStyle/>
                    <a:p>
                      <a:pPr marL="73025" marR="131445">
                        <a:lnSpc>
                          <a:spcPct val="100000"/>
                        </a:lnSpc>
                        <a:spcBef>
                          <a:spcPts val="390"/>
                        </a:spcBef>
                        <a:spcAft>
                          <a:spcPts val="100"/>
                        </a:spcAft>
                      </a:pPr>
                      <a:r>
                        <a:rPr sz="740" b="1">
                          <a:solidFill>
                            <a:srgbClr val="000000"/>
                          </a:solidFill>
                          <a:latin typeface="Aptos"/>
                        </a:rPr>
                        <a:t>7. Authors of RPGE study • 2024</a:t>
                      </a:r>
                      <a:endParaRPr sz="800" dirty="0">
                        <a:latin typeface="Calibri"/>
                        <a:cs typeface="Calibri"/>
                      </a:endParaRPr>
                    </a:p>
                    <a:p>
                      <a:pPr>
                        <a:spcBef>
                          <a:spcPts val="0"/>
                        </a:spcBef>
                        <a:spcAft>
                          <a:spcPts val="0"/>
                        </a:spcAft>
                      </a:pPr>
                      <a:r>
                        <a:rPr sz="730" b="0">
                          <a:solidFill>
                            <a:srgbClr val="000000"/>
                          </a:solidFill>
                          <a:latin typeface="Aptos"/>
                        </a:rPr>
                        <a:t>A Plug-and-Play Data-Driven Approach for Anti-Money Laundering in Bitcoin</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Bitcoin transaction data / Elliptic</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306705" algn="l">
                        <a:lnSpc>
                          <a:spcPct val="100000"/>
                        </a:lnSpc>
                        <a:spcBef>
                          <a:spcPts val="0"/>
                        </a:spcBef>
                        <a:spcAft>
                          <a:spcPts val="0"/>
                        </a:spcAft>
                      </a:pPr>
                      <a:r>
                        <a:rPr sz="760" b="0">
                          <a:solidFill>
                            <a:srgbClr val="000000"/>
                          </a:solidFill>
                          <a:latin typeface="Aptos"/>
                        </a:rPr>
                        <a:t>Proposed Reachability Preserving Graph Embedding (RPGE) to extract AML-related transaction representations and integrate them with GNN methods.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304800" algn="l">
                        <a:lnSpc>
                          <a:spcPct val="100000"/>
                        </a:lnSpc>
                        <a:spcBef>
                          <a:spcPts val="0"/>
                        </a:spcBef>
                        <a:spcAft>
                          <a:spcPts val="0"/>
                        </a:spcAft>
                      </a:pPr>
                      <a:r>
                        <a:rPr sz="760" b="0">
                          <a:solidFill>
                            <a:srgbClr val="000000"/>
                          </a:solidFill>
                          <a:latin typeface="Aptos"/>
                        </a:rPr>
                        <a:t>Still Bitcoin-focused; embedding quality depends on the constructed reachability network; cross-domain validation is needed.</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1097280">
                <a:tc>
                  <a:txBody>
                    <a:bodyPr wrap="square" lIns="54864" rIns="45720" tIns="36576" bIns="36576"/>
                    <a:lstStyle/>
                    <a:p>
                      <a:pPr marL="73025">
                        <a:lnSpc>
                          <a:spcPct val="100000"/>
                        </a:lnSpc>
                        <a:spcBef>
                          <a:spcPts val="390"/>
                        </a:spcBef>
                        <a:spcAft>
                          <a:spcPts val="100"/>
                        </a:spcAft>
                      </a:pPr>
                      <a:r>
                        <a:rPr sz="740" b="1">
                          <a:solidFill>
                            <a:srgbClr val="000000"/>
                          </a:solidFill>
                          <a:latin typeface="Aptos"/>
                        </a:rPr>
                        <a:t>8. Hanbin Lu; Haosen Wang • 2024</a:t>
                      </a:r>
                      <a:endParaRPr sz="800" dirty="0">
                        <a:latin typeface="Calibri"/>
                        <a:cs typeface="Calibri"/>
                      </a:endParaRPr>
                    </a:p>
                    <a:p>
                      <a:pPr>
                        <a:spcBef>
                          <a:spcPts val="0"/>
                        </a:spcBef>
                        <a:spcAft>
                          <a:spcPts val="0"/>
                        </a:spcAft>
                      </a:pPr>
                      <a:r>
                        <a:rPr sz="730" b="0">
                          <a:solidFill>
                            <a:srgbClr val="000000"/>
                          </a:solidFill>
                          <a:latin typeface="Aptos"/>
                        </a:rPr>
                        <a:t>Graph Contrastive Pre-training for Anti-money Laundering</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Elliptic Dataset and AMLworld</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Proposed GCPAL using graph contrastive pre-training with stochastic graph views and a KNN view to reduce dependence on labeled data.</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109220" algn="l">
                        <a:lnSpc>
                          <a:spcPct val="100000"/>
                        </a:lnSpc>
                        <a:spcBef>
                          <a:spcPts val="0"/>
                        </a:spcBef>
                        <a:spcAft>
                          <a:spcPts val="0"/>
                        </a:spcAft>
                      </a:pPr>
                      <a:r>
                        <a:rPr sz="760" b="0">
                          <a:solidFill>
                            <a:srgbClr val="000000"/>
                          </a:solidFill>
                          <a:latin typeface="Aptos"/>
                        </a:rPr>
                        <a:t>Graph augmentation and contrastive training add complexity; performance depends on suitable graph views and hyperparameters.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45720">
                <a:tc>
                  <a:txBody>
                    <a:bodyPr wrap="square" lIns="54864" rIns="45720" tIns="27432" bIns="27432"/>
                    <a:lstStyle/>
                    <a:p>
                      <a:pPr marL="73025" marR="252729">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marR="20193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168910" algn="just">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r>
              <a:rPr sz="1600" b="1">
                <a:solidFill>
                  <a:srgbClr val="FFFFFF"/>
                </a:solidFill>
                <a:latin typeface="Aptos Display"/>
              </a:rPr>
              <a:t>LITERATURE REVIEW • PART 3</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r>
              <a:t>7</a:t>
            </a:r>
          </a:p>
        </p:txBody>
      </p:sp>
      <p:sp>
        <p:nvSpPr>
          <p:cNvPr id="3" name="object 3"/>
          <p:cNvSpPr txBox="1"/>
          <p:nvPr/>
        </p:nvSpPr>
        <p:spPr>
          <a:xfrm>
            <a:off x="5682488" y="933449"/>
            <a:ext cx="828040" cy="201295"/>
          </a:xfrm>
          <a:prstGeom prst="rect">
            <a:avLst/>
          </a:prstGeom>
        </p:spPr>
        <p:txBody>
          <a:bodyPr vert="horz" wrap="square" lIns="0" tIns="12700" rIns="0" bIns="0" rtlCol="0">
            <a:spAutoFit/>
          </a:bodyPr>
          <a:lstStyle/>
          <a:p>
            <a:pPr algn="ctr"/>
            <a:r>
              <a:rPr sz="1000" b="1">
                <a:solidFill>
                  <a:srgbClr val="C00000"/>
                </a:solidFill>
              </a:rPr>
              <a:t>Papers 9–12</a:t>
            </a:r>
          </a:p>
        </p:txBody>
      </p:sp>
      <p:graphicFrame>
        <p:nvGraphicFramePr>
          <p:cNvPr id="4" name="object 4"/>
          <p:cNvGraphicFramePr>
            <a:graphicFrameLocks noGrp="1"/>
          </p:cNvGraphicFramePr>
          <p:nvPr>
            <p:extLst>
              <p:ext uri="{D42A27DB-BD31-4B8C-83A1-F6EECF244321}">
                <p14:modId xmlns:p14="http://schemas.microsoft.com/office/powerpoint/2010/main" val="487238847"/>
              </p:ext>
            </p:extLst>
          </p:nvPr>
        </p:nvGraphicFramePr>
        <p:xfrm>
          <a:off x="362584" y="1295272"/>
          <a:ext cx="11457304" cy="5093208"/>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658368">
                <a:tc>
                  <a:txBody>
                    <a:bodyPr wrap="square" lIns="54864" rIns="45720" tIns="27432" bIns="27432"/>
                    <a:lstStyle/>
                    <a:p>
                      <a:pPr algn="l">
                        <a:lnSpc>
                          <a:spcPct val="100000"/>
                        </a:lnSpc>
                        <a:spcBef>
                          <a:spcPts val="0"/>
                        </a:spcBef>
                        <a:spcAft>
                          <a:spcPts val="0"/>
                        </a:spcAft>
                      </a:pPr>
                      <a:r>
                        <a:rPr sz="1000" b="1">
                          <a:solidFill>
                            <a:srgbClr val="FFFFFF"/>
                          </a:solidFill>
                          <a:latin typeface="Aptos"/>
                        </a:rPr>
                        <a:t>Paper / Year</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Dataset</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Methodology</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Limitation</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1097280">
                <a:tc>
                  <a:txBody>
                    <a:bodyPr wrap="square" lIns="54864" rIns="45720" tIns="36576" bIns="36576"/>
                    <a:lstStyle/>
                    <a:p>
                      <a:pPr marL="73025">
                        <a:lnSpc>
                          <a:spcPct val="100000"/>
                        </a:lnSpc>
                        <a:spcBef>
                          <a:spcPts val="380"/>
                        </a:spcBef>
                        <a:spcAft>
                          <a:spcPts val="100"/>
                        </a:spcAft>
                      </a:pPr>
                      <a:r>
                        <a:rPr sz="740" b="1">
                          <a:solidFill>
                            <a:srgbClr val="000000"/>
                          </a:solidFill>
                          <a:latin typeface="Aptos"/>
                        </a:rPr>
                        <a:t>9. Kathleen Wu • 2026</a:t>
                      </a:r>
                      <a:endParaRPr sz="800" dirty="0">
                        <a:latin typeface="Calibri"/>
                        <a:cs typeface="Calibri"/>
                      </a:endParaRPr>
                    </a:p>
                    <a:p>
                      <a:pPr>
                        <a:spcBef>
                          <a:spcPts val="0"/>
                        </a:spcBef>
                        <a:spcAft>
                          <a:spcPts val="0"/>
                        </a:spcAft>
                      </a:pPr>
                      <a:r>
                        <a:rPr sz="730" b="0">
                          <a:solidFill>
                            <a:srgbClr val="000000"/>
                          </a:solidFill>
                          <a:latin typeface="Aptos"/>
                        </a:rPr>
                        <a:t>Graph-Based Anti-Money Laundering in Bitcoin</a:t>
                      </a: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Elliptic Dataset</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0" lvl="0" indent="0" defTabSz="914400" eaLnBrk="1" fontAlgn="auto" latinLnBrk="0" hangingPunct="1" algn="l">
                        <a:lnSpc>
                          <a:spcPct val="100000"/>
                        </a:lnSpc>
                        <a:spcBef>
                          <a:spcPts val="0"/>
                        </a:spcBef>
                        <a:spcAft>
                          <a:spcPts val="0"/>
                        </a:spcAft>
                        <a:buClrTx/>
                        <a:buSzTx/>
                        <a:buFontTx/>
                        <a:buNone/>
                        <a:tabLst/>
                        <a:defRPr/>
                      </a:pPr>
                      <a:r>
                        <a:rPr sz="760" b="0">
                          <a:solidFill>
                            <a:srgbClr val="000000"/>
                          </a:solidFill>
                          <a:latin typeface="Aptos"/>
                        </a:rPr>
                        <a:t>Compared Logistic Regression, Random Forest, XGBoost, MLP, GCN, GraphSAGE and GAT/GATv2 for illicit Bitcoin transaction detection.</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189230" algn="l">
                        <a:lnSpc>
                          <a:spcPct val="100000"/>
                        </a:lnSpc>
                        <a:spcBef>
                          <a:spcPts val="0"/>
                        </a:spcBef>
                        <a:spcAft>
                          <a:spcPts val="0"/>
                        </a:spcAft>
                      </a:pPr>
                      <a:r>
                        <a:rPr sz="760" b="0">
                          <a:solidFill>
                            <a:srgbClr val="000000"/>
                          </a:solidFill>
                          <a:latin typeface="Aptos"/>
                        </a:rPr>
                        <a:t>Focused on a single public Bitcoin dataset; findings may not generalize to private banking transaction data.</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1097280">
                <a:tc>
                  <a:txBody>
                    <a:bodyPr wrap="square" lIns="54864" rIns="45720" tIns="36576" bIns="36576"/>
                    <a:lstStyle/>
                    <a:p>
                      <a:pPr marL="73025" marR="192405">
                        <a:lnSpc>
                          <a:spcPct val="100000"/>
                        </a:lnSpc>
                        <a:spcBef>
                          <a:spcPts val="385"/>
                        </a:spcBef>
                        <a:spcAft>
                          <a:spcPts val="100"/>
                        </a:spcAft>
                      </a:pPr>
                      <a:r>
                        <a:rPr sz="740" b="1">
                          <a:solidFill>
                            <a:srgbClr val="000000"/>
                          </a:solidFill>
                          <a:latin typeface="Aptos"/>
                        </a:rPr>
                        <a:t>10. Meng Li; Lu Jia; XinQiao Su • 2025</a:t>
                      </a:r>
                      <a:endParaRPr sz="800" dirty="0">
                        <a:latin typeface="Calibri"/>
                        <a:cs typeface="Calibri"/>
                      </a:endParaRPr>
                    </a:p>
                    <a:p>
                      <a:pPr>
                        <a:spcBef>
                          <a:spcPts val="0"/>
                        </a:spcBef>
                        <a:spcAft>
                          <a:spcPts val="0"/>
                        </a:spcAft>
                      </a:pPr>
                      <a:r>
                        <a:rPr sz="730" b="0">
                          <a:solidFill>
                            <a:srgbClr val="000000"/>
                          </a:solidFill>
                          <a:latin typeface="Aptos"/>
                        </a:rPr>
                        <a:t>Global-local Graph Attention with Cyclic Pseudo-labels for Bitcoin Anti-Money Laundering Detection</a:t>
                      </a: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marR="317500" algn="l">
                        <a:lnSpc>
                          <a:spcPct val="100000"/>
                        </a:lnSpc>
                        <a:spcBef>
                          <a:spcPts val="0"/>
                        </a:spcBef>
                        <a:spcAft>
                          <a:spcPts val="0"/>
                        </a:spcAft>
                      </a:pPr>
                      <a:r>
                        <a:rPr sz="760" b="0">
                          <a:solidFill>
                            <a:srgbClr val="000000"/>
                          </a:solidFill>
                          <a:latin typeface="Aptos"/>
                        </a:rPr>
                        <a:t>Bitcoin transaction graph / Elliptic</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marR="240665" algn="l">
                        <a:lnSpc>
                          <a:spcPct val="100000"/>
                        </a:lnSpc>
                        <a:spcBef>
                          <a:spcPts val="0"/>
                        </a:spcBef>
                        <a:spcAft>
                          <a:spcPts val="0"/>
                        </a:spcAft>
                      </a:pPr>
                      <a:r>
                        <a:rPr sz="760" b="0">
                          <a:solidFill>
                            <a:srgbClr val="000000"/>
                          </a:solidFill>
                          <a:latin typeface="Aptos"/>
                        </a:rPr>
                        <a:t>Used global-local graph attention with cyclic pseudo-label generation to improve detection of complex illicit transaction patterns.</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234950" algn="l">
                        <a:lnSpc>
                          <a:spcPct val="100000"/>
                        </a:lnSpc>
                        <a:spcBef>
                          <a:spcPts val="0"/>
                        </a:spcBef>
                        <a:spcAft>
                          <a:spcPts val="0"/>
                        </a:spcAft>
                      </a:pPr>
                      <a:r>
                        <a:rPr sz="760" b="0">
                          <a:solidFill>
                            <a:srgbClr val="000000"/>
                          </a:solidFill>
                          <a:latin typeface="Aptos"/>
                        </a:rPr>
                        <a:t>Pseudo-label quality can affect learning; Bitcoin-focused evaluation and model complexity may limit deployment.</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1097280">
                <a:tc>
                  <a:txBody>
                    <a:bodyPr wrap="square" lIns="54864" rIns="45720" tIns="36576" bIns="36576"/>
                    <a:lstStyle/>
                    <a:p>
                      <a:pPr marL="73025">
                        <a:lnSpc>
                          <a:spcPct val="100000"/>
                        </a:lnSpc>
                        <a:spcBef>
                          <a:spcPts val="390"/>
                        </a:spcBef>
                        <a:spcAft>
                          <a:spcPts val="100"/>
                        </a:spcAft>
                      </a:pPr>
                      <a:r>
                        <a:rPr sz="740" b="1">
                          <a:solidFill>
                            <a:srgbClr val="000000"/>
                          </a:solidFill>
                          <a:latin typeface="Aptos"/>
                        </a:rPr>
                        <a:t>11. Ziqian Lin et al. • 2026</a:t>
                      </a:r>
                      <a:endParaRPr sz="800" dirty="0">
                        <a:latin typeface="Calibri"/>
                        <a:cs typeface="Calibri"/>
                      </a:endParaRPr>
                    </a:p>
                    <a:p>
                      <a:pPr>
                        <a:spcBef>
                          <a:spcPts val="0"/>
                        </a:spcBef>
                        <a:spcAft>
                          <a:spcPts val="0"/>
                        </a:spcAft>
                      </a:pPr>
                      <a:r>
                        <a:rPr sz="730" b="0">
                          <a:solidFill>
                            <a:srgbClr val="000000"/>
                          </a:solidFill>
                          <a:latin typeface="Aptos"/>
                        </a:rPr>
                        <a:t>Detecting Illicit Transactions in Bitcoin: A Wavelet-Temporal Graph Transformer Approach for Anti-Money Laundering</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marR="334010" algn="l">
                        <a:lnSpc>
                          <a:spcPct val="100000"/>
                        </a:lnSpc>
                        <a:spcBef>
                          <a:spcPts val="0"/>
                        </a:spcBef>
                        <a:spcAft>
                          <a:spcPts val="0"/>
                        </a:spcAft>
                      </a:pPr>
                      <a:r>
                        <a:rPr sz="760" b="0">
                          <a:solidFill>
                            <a:srgbClr val="000000"/>
                          </a:solidFill>
                          <a:latin typeface="Aptos"/>
                        </a:rPr>
                        <a:t>Elliptic Dataset</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215265" algn="l">
                        <a:lnSpc>
                          <a:spcPct val="100000"/>
                        </a:lnSpc>
                        <a:spcBef>
                          <a:spcPts val="0"/>
                        </a:spcBef>
                        <a:spcAft>
                          <a:spcPts val="0"/>
                        </a:spcAft>
                      </a:pPr>
                      <a:r>
                        <a:rPr sz="760" b="0">
                          <a:solidFill>
                            <a:srgbClr val="000000"/>
                          </a:solidFill>
                          <a:latin typeface="Aptos"/>
                        </a:rPr>
                        <a:t>Proposed a wavelet-temporal graph approach combining frequency decomposition, temporal encoding and graph learning.</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216535" algn="l">
                        <a:lnSpc>
                          <a:spcPct val="100000"/>
                        </a:lnSpc>
                        <a:spcBef>
                          <a:spcPts val="0"/>
                        </a:spcBef>
                        <a:spcAft>
                          <a:spcPts val="0"/>
                        </a:spcAft>
                      </a:pPr>
                      <a:r>
                        <a:rPr sz="760" b="0">
                          <a:solidFill>
                            <a:srgbClr val="000000"/>
                          </a:solidFill>
                          <a:latin typeface="Aptos"/>
                        </a:rPr>
                        <a:t>More computationally complex than standard GNNs; Bitcoin-only evaluation leaves cross-domain validation open.</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1097280">
                <a:tc>
                  <a:txBody>
                    <a:bodyPr wrap="square" lIns="54864" rIns="45720" tIns="36576" bIns="36576"/>
                    <a:lstStyle/>
                    <a:p>
                      <a:pPr marL="73025">
                        <a:lnSpc>
                          <a:spcPct val="100000"/>
                        </a:lnSpc>
                        <a:spcBef>
                          <a:spcPts val="390"/>
                        </a:spcBef>
                        <a:spcAft>
                          <a:spcPts val="100"/>
                        </a:spcAft>
                      </a:pPr>
                      <a:r>
                        <a:rPr sz="740" b="1">
                          <a:solidFill>
                            <a:srgbClr val="000000"/>
                          </a:solidFill>
                          <a:latin typeface="Aptos"/>
                        </a:rPr>
                        <a:t>12. Dawei Cheng; Yao Zou; Sheng Xiang; Changjun Jiang • 2025</a:t>
                      </a:r>
                      <a:endParaRPr sz="800" dirty="0">
                        <a:latin typeface="Calibri"/>
                        <a:cs typeface="Calibri"/>
                      </a:endParaRPr>
                    </a:p>
                    <a:p>
                      <a:pPr>
                        <a:spcBef>
                          <a:spcPts val="0"/>
                        </a:spcBef>
                        <a:spcAft>
                          <a:spcPts val="0"/>
                        </a:spcAft>
                      </a:pPr>
                      <a:r>
                        <a:rPr sz="730" b="0">
                          <a:solidFill>
                            <a:srgbClr val="000000"/>
                          </a:solidFill>
                          <a:latin typeface="Aptos"/>
                        </a:rPr>
                        <a:t>Graph Neural Networks for Financial Fraud Detection: A Review</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Multiple financial fraud datasets from prior studies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Systematic review and taxonomy of GNN methods for financial fraud, covering relational, dynamic, heterogeneous and deployment aspects.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180340" algn="l">
                        <a:lnSpc>
                          <a:spcPct val="100000"/>
                        </a:lnSpc>
                        <a:spcBef>
                          <a:spcPts val="0"/>
                        </a:spcBef>
                        <a:spcAft>
                          <a:spcPts val="0"/>
                        </a:spcAft>
                      </a:pPr>
                      <a:r>
                        <a:rPr sz="760" b="0">
                          <a:solidFill>
                            <a:srgbClr val="000000"/>
                          </a:solidFill>
                          <a:latin typeface="Aptos"/>
                        </a:rPr>
                        <a:t>A review rather than a new detector; conclusions depend on the quality and comparability of previous studies.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45720">
                <a:tc>
                  <a:txBody>
                    <a:bodyPr wrap="square" lIns="54864" rIns="45720" tIns="27432" bIns="27432"/>
                    <a:lstStyle/>
                    <a:p>
                      <a:pPr marL="73025" marR="41910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marR="31242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182245">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175895">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r>
              <a:rPr sz="1600" b="1">
                <a:solidFill>
                  <a:srgbClr val="FFFFFF"/>
                </a:solidFill>
                <a:latin typeface="Aptos Display"/>
              </a:rPr>
              <a:t>LITERATURE REVIEW • PART 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r>
              <a:t>8</a:t>
            </a:r>
          </a:p>
        </p:txBody>
      </p:sp>
      <p:sp>
        <p:nvSpPr>
          <p:cNvPr id="3" name="object 3"/>
          <p:cNvSpPr txBox="1"/>
          <p:nvPr/>
        </p:nvSpPr>
        <p:spPr>
          <a:xfrm>
            <a:off x="5682488" y="933449"/>
            <a:ext cx="828040" cy="201295"/>
          </a:xfrm>
          <a:prstGeom prst="rect">
            <a:avLst/>
          </a:prstGeom>
        </p:spPr>
        <p:txBody>
          <a:bodyPr vert="horz" wrap="square" lIns="0" tIns="12700" rIns="0" bIns="0" rtlCol="0">
            <a:spAutoFit/>
          </a:bodyPr>
          <a:lstStyle/>
          <a:p>
            <a:pPr algn="ctr"/>
            <a:r>
              <a:rPr sz="1000" b="1">
                <a:solidFill>
                  <a:srgbClr val="C00000"/>
                </a:solidFill>
              </a:rPr>
              <a:t>Papers 13–16</a:t>
            </a:r>
          </a:p>
        </p:txBody>
      </p:sp>
      <p:graphicFrame>
        <p:nvGraphicFramePr>
          <p:cNvPr id="4" name="object 4"/>
          <p:cNvGraphicFramePr>
            <a:graphicFrameLocks noGrp="1"/>
          </p:cNvGraphicFramePr>
          <p:nvPr>
            <p:extLst>
              <p:ext uri="{D42A27DB-BD31-4B8C-83A1-F6EECF244321}">
                <p14:modId xmlns:p14="http://schemas.microsoft.com/office/powerpoint/2010/main" val="4019603171"/>
              </p:ext>
            </p:extLst>
          </p:nvPr>
        </p:nvGraphicFramePr>
        <p:xfrm>
          <a:off x="362584" y="1295272"/>
          <a:ext cx="11457304" cy="5093208"/>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658368">
                <a:tc>
                  <a:txBody>
                    <a:bodyPr wrap="square" lIns="54864" rIns="45720" tIns="27432" bIns="27432"/>
                    <a:lstStyle/>
                    <a:p>
                      <a:pPr algn="l">
                        <a:lnSpc>
                          <a:spcPct val="100000"/>
                        </a:lnSpc>
                        <a:spcBef>
                          <a:spcPts val="0"/>
                        </a:spcBef>
                        <a:spcAft>
                          <a:spcPts val="0"/>
                        </a:spcAft>
                      </a:pPr>
                      <a:r>
                        <a:rPr sz="1000" b="1">
                          <a:solidFill>
                            <a:srgbClr val="FFFFFF"/>
                          </a:solidFill>
                          <a:latin typeface="Aptos"/>
                        </a:rPr>
                        <a:t>Paper / Year</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Dataset</a:t>
                      </a:r>
                      <a:endParaRPr sz="1000" dirty="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Methodology</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Limitation</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1097280">
                <a:tc>
                  <a:txBody>
                    <a:bodyPr wrap="square" lIns="54864" rIns="45720" tIns="36576" bIns="36576"/>
                    <a:lstStyle/>
                    <a:p>
                      <a:pPr marL="73025">
                        <a:lnSpc>
                          <a:spcPct val="100000"/>
                        </a:lnSpc>
                        <a:spcBef>
                          <a:spcPts val="380"/>
                        </a:spcBef>
                        <a:spcAft>
                          <a:spcPts val="100"/>
                        </a:spcAft>
                      </a:pPr>
                      <a:r>
                        <a:rPr sz="740" b="1">
                          <a:solidFill>
                            <a:srgbClr val="000000"/>
                          </a:solidFill>
                          <a:latin typeface="Aptos"/>
                        </a:rPr>
                        <a:t>13. Soroor Motie; Bijan Raahemi • 2024</a:t>
                      </a:r>
                      <a:endParaRPr sz="800" dirty="0">
                        <a:latin typeface="Calibri"/>
                        <a:cs typeface="Calibri"/>
                      </a:endParaRPr>
                    </a:p>
                    <a:p>
                      <a:pPr>
                        <a:spcBef>
                          <a:spcPts val="0"/>
                        </a:spcBef>
                        <a:spcAft>
                          <a:spcPts val="0"/>
                        </a:spcAft>
                      </a:pPr>
                      <a:r>
                        <a:rPr sz="730" b="0">
                          <a:solidFill>
                            <a:srgbClr val="000000"/>
                          </a:solidFill>
                          <a:latin typeface="Aptos"/>
                        </a:rPr>
                        <a:t>Financial Fraud Detection Using Graph Neural Networks: A Systematic Review</a:t>
                      </a: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Literature covering banking, insurance, taxation, online payments and cryptocurrency</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Systematically reviewed 388 unique articles and selected 33 studies, organizing GNNs by graph types, learning settings and anomaly levels.</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algn="l">
                        <a:lnSpc>
                          <a:spcPct val="100000"/>
                        </a:lnSpc>
                        <a:spcBef>
                          <a:spcPts val="0"/>
                        </a:spcBef>
                        <a:spcAft>
                          <a:spcPts val="0"/>
                        </a:spcAft>
                      </a:pPr>
                      <a:r>
                        <a:rPr sz="760" b="0">
                          <a:solidFill>
                            <a:srgbClr val="000000"/>
                          </a:solidFill>
                          <a:latin typeface="Aptos"/>
                        </a:rPr>
                        <a:t>Search and inclusion criteria may omit relevant studies; unsupervised, edge-level and graph-level detection remain underexplored.</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1097280">
                <a:tc>
                  <a:txBody>
                    <a:bodyPr wrap="square" lIns="54864" rIns="45720" tIns="36576" bIns="36576"/>
                    <a:lstStyle/>
                    <a:p>
                      <a:pPr marL="73025">
                        <a:lnSpc>
                          <a:spcPct val="100000"/>
                        </a:lnSpc>
                        <a:spcBef>
                          <a:spcPts val="385"/>
                        </a:spcBef>
                        <a:spcAft>
                          <a:spcPts val="100"/>
                        </a:spcAft>
                      </a:pPr>
                      <a:r>
                        <a:rPr sz="740" b="1">
                          <a:solidFill>
                            <a:srgbClr val="000000"/>
                          </a:solidFill>
                          <a:latin typeface="Aptos"/>
                        </a:rPr>
                        <a:t>14. Yingtong Dou; Zhiwei Liu; Li Sun; Yutong Deng; Hao Peng; Philip S. Yu • 2020</a:t>
                      </a:r>
                      <a:endParaRPr sz="800" dirty="0">
                        <a:latin typeface="Calibri"/>
                        <a:cs typeface="Calibri"/>
                      </a:endParaRPr>
                    </a:p>
                    <a:p>
                      <a:pPr>
                        <a:spcBef>
                          <a:spcPts val="0"/>
                        </a:spcBef>
                        <a:spcAft>
                          <a:spcPts val="0"/>
                        </a:spcAft>
                      </a:pPr>
                      <a:r>
                        <a:rPr sz="730" b="0">
                          <a:solidFill>
                            <a:srgbClr val="000000"/>
                          </a:solidFill>
                          <a:latin typeface="Aptos"/>
                        </a:rPr>
                        <a:t>Enhancing Graph Neural Network-based Fraud Detectors against Camouflaged Fraudsters</a:t>
                      </a: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YelpChi and Amazon fraud datasets</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marR="313055" algn="l">
                        <a:lnSpc>
                          <a:spcPct val="100000"/>
                        </a:lnSpc>
                        <a:spcBef>
                          <a:spcPts val="0"/>
                        </a:spcBef>
                        <a:spcAft>
                          <a:spcPts val="0"/>
                        </a:spcAft>
                      </a:pPr>
                      <a:r>
                        <a:rPr sz="760" b="0">
                          <a:solidFill>
                            <a:srgbClr val="000000"/>
                          </a:solidFill>
                          <a:latin typeface="Aptos"/>
                        </a:rPr>
                        <a:t>Introduced CARE-GNN using label-aware neighbor selection and reinforcement learning to handle feature and relation camouflage.</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127000" algn="l">
                        <a:lnSpc>
                          <a:spcPct val="100000"/>
                        </a:lnSpc>
                        <a:spcBef>
                          <a:spcPts val="0"/>
                        </a:spcBef>
                        <a:spcAft>
                          <a:spcPts val="0"/>
                        </a:spcAft>
                      </a:pPr>
                      <a:r>
                        <a:rPr sz="760" b="0">
                          <a:solidFill>
                            <a:srgbClr val="000000"/>
                          </a:solidFill>
                          <a:latin typeface="Aptos"/>
                        </a:rPr>
                        <a:t>Designed for general fraud rather than AML; requires labeled fraud data and does not directly model temporal AML patterns.</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1097280">
                <a:tc>
                  <a:txBody>
                    <a:bodyPr wrap="square" lIns="54864" rIns="45720" tIns="36576" bIns="36576"/>
                    <a:lstStyle/>
                    <a:p>
                      <a:pPr marL="73025" marR="91440">
                        <a:lnSpc>
                          <a:spcPct val="100000"/>
                        </a:lnSpc>
                        <a:spcBef>
                          <a:spcPts val="390"/>
                        </a:spcBef>
                        <a:spcAft>
                          <a:spcPts val="100"/>
                        </a:spcAft>
                      </a:pPr>
                      <a:r>
                        <a:rPr sz="740" b="1">
                          <a:solidFill>
                            <a:srgbClr val="000000"/>
                          </a:solidFill>
                          <a:latin typeface="Aptos"/>
                        </a:rPr>
                        <a:t>15. Yang Liu; Xiang Ao; Zidi Qin; Jianfeng Chi; Jinghua Feng; Hao Yang; Qing He • 2021</a:t>
                      </a:r>
                      <a:endParaRPr sz="800" dirty="0">
                        <a:latin typeface="Calibri"/>
                        <a:cs typeface="Calibri"/>
                      </a:endParaRPr>
                    </a:p>
                    <a:p>
                      <a:pPr>
                        <a:spcBef>
                          <a:spcPts val="0"/>
                        </a:spcBef>
                        <a:spcAft>
                          <a:spcPts val="0"/>
                        </a:spcAft>
                      </a:pPr>
                      <a:r>
                        <a:rPr sz="730" b="0">
                          <a:solidFill>
                            <a:srgbClr val="000000"/>
                          </a:solidFill>
                          <a:latin typeface="Aptos"/>
                        </a:rPr>
                        <a:t>Pick and Choose: A GNN-based Imbalanced Learning Approach for Fraud Detection</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Alibaba/M7/M9 fraud datasets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271780" algn="l">
                        <a:lnSpc>
                          <a:spcPct val="100000"/>
                        </a:lnSpc>
                        <a:spcBef>
                          <a:spcPts val="0"/>
                        </a:spcBef>
                        <a:spcAft>
                          <a:spcPts val="0"/>
                        </a:spcAft>
                      </a:pPr>
                      <a:r>
                        <a:rPr sz="760" b="0">
                          <a:solidFill>
                            <a:srgbClr val="000000"/>
                          </a:solidFill>
                          <a:latin typeface="Aptos"/>
                        </a:rPr>
                        <a:t>Proposed PC-GNN with a pick-and-choose neighbor/mini-batch strategy to address severe class imbalance in fraud detection.</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247015" algn="l">
                        <a:lnSpc>
                          <a:spcPct val="100000"/>
                        </a:lnSpc>
                        <a:spcBef>
                          <a:spcPts val="0"/>
                        </a:spcBef>
                        <a:spcAft>
                          <a:spcPts val="0"/>
                        </a:spcAft>
                      </a:pPr>
                      <a:r>
                        <a:rPr sz="760" b="0">
                          <a:solidFill>
                            <a:srgbClr val="000000"/>
                          </a:solidFill>
                          <a:latin typeface="Aptos"/>
                        </a:rPr>
                        <a:t>Targets general fraud rather than AML; extra sampling steps can add training complexity and depend on dataset structure.</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1097280">
                <a:tc>
                  <a:txBody>
                    <a:bodyPr wrap="square" lIns="54864" rIns="45720" tIns="36576" bIns="36576"/>
                    <a:lstStyle/>
                    <a:p>
                      <a:pPr marL="73025">
                        <a:lnSpc>
                          <a:spcPct val="100000"/>
                        </a:lnSpc>
                        <a:spcBef>
                          <a:spcPts val="390"/>
                        </a:spcBef>
                        <a:spcAft>
                          <a:spcPts val="100"/>
                        </a:spcAft>
                      </a:pPr>
                      <a:r>
                        <a:rPr sz="740" b="1">
                          <a:solidFill>
                            <a:srgbClr val="000000"/>
                          </a:solidFill>
                          <a:latin typeface="Aptos"/>
                        </a:rPr>
                        <a:t>16. Thomas N. Kipf; Max Welling • 2017</a:t>
                      </a:r>
                      <a:endParaRPr sz="800" dirty="0">
                        <a:latin typeface="Calibri"/>
                        <a:cs typeface="Calibri"/>
                      </a:endParaRPr>
                    </a:p>
                    <a:p>
                      <a:pPr>
                        <a:spcBef>
                          <a:spcPts val="0"/>
                        </a:spcBef>
                        <a:spcAft>
                          <a:spcPts val="0"/>
                        </a:spcAft>
                      </a:pPr>
                      <a:r>
                        <a:rPr sz="730" b="0">
                          <a:solidFill>
                            <a:srgbClr val="000000"/>
                          </a:solidFill>
                          <a:latin typeface="Aptos"/>
                        </a:rPr>
                        <a:t>Semi-Supervised Classification with Graph Convolutional Networks</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Cora, Citeseer and Pubmed citation networks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Introduced the GCN architecture, combining node features with local graph structure for semi-supervised node classification.</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84455" algn="l">
                        <a:lnSpc>
                          <a:spcPct val="100000"/>
                        </a:lnSpc>
                        <a:spcBef>
                          <a:spcPts val="0"/>
                        </a:spcBef>
                        <a:spcAft>
                          <a:spcPts val="0"/>
                        </a:spcAft>
                      </a:pPr>
                      <a:r>
                        <a:rPr sz="760" b="0">
                          <a:solidFill>
                            <a:srgbClr val="000000"/>
                          </a:solidFill>
                          <a:latin typeface="Aptos"/>
                        </a:rPr>
                        <a:t>Not designed for AML; standard GCNs can suffer from over-smoothing and assume relatively stable graph structure.</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45720">
                <a:tc>
                  <a:txBody>
                    <a:bodyPr wrap="square" lIns="54864" rIns="45720" tIns="27432" bIns="27432"/>
                    <a:lstStyle/>
                    <a:p>
                      <a:pPr marL="73025" marR="990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marR="110489">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2006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171450" algn="just">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r>
              <a:rPr sz="1600" b="1">
                <a:solidFill>
                  <a:srgbClr val="FFFFFF"/>
                </a:solidFill>
                <a:latin typeface="Aptos Display"/>
              </a:rPr>
              <a:t>LITERATURE REVIEW • PART 5</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r>
              <a:t>9</a:t>
            </a:r>
          </a:p>
        </p:txBody>
      </p:sp>
      <p:sp>
        <p:nvSpPr>
          <p:cNvPr id="3" name="object 3"/>
          <p:cNvSpPr txBox="1"/>
          <p:nvPr/>
        </p:nvSpPr>
        <p:spPr>
          <a:xfrm>
            <a:off x="5682488" y="933449"/>
            <a:ext cx="828040" cy="201295"/>
          </a:xfrm>
          <a:prstGeom prst="rect">
            <a:avLst/>
          </a:prstGeom>
        </p:spPr>
        <p:txBody>
          <a:bodyPr vert="horz" wrap="square" lIns="0" tIns="12700" rIns="0" bIns="0" rtlCol="0">
            <a:spAutoFit/>
          </a:bodyPr>
          <a:lstStyle/>
          <a:p>
            <a:pPr algn="ctr"/>
            <a:r>
              <a:rPr sz="1000" b="1">
                <a:solidFill>
                  <a:srgbClr val="C00000"/>
                </a:solidFill>
              </a:rPr>
              <a:t>Papers 17–20</a:t>
            </a:r>
          </a:p>
        </p:txBody>
      </p:sp>
      <p:graphicFrame>
        <p:nvGraphicFramePr>
          <p:cNvPr id="4" name="object 4"/>
          <p:cNvGraphicFramePr>
            <a:graphicFrameLocks noGrp="1"/>
          </p:cNvGraphicFramePr>
          <p:nvPr>
            <p:extLst>
              <p:ext uri="{D42A27DB-BD31-4B8C-83A1-F6EECF244321}">
                <p14:modId xmlns:p14="http://schemas.microsoft.com/office/powerpoint/2010/main" val="4019603171"/>
              </p:ext>
            </p:extLst>
          </p:nvPr>
        </p:nvGraphicFramePr>
        <p:xfrm>
          <a:off x="362584" y="1295272"/>
          <a:ext cx="11457304" cy="5093208"/>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658368">
                <a:tc>
                  <a:txBody>
                    <a:bodyPr wrap="square" lIns="54864" rIns="45720" tIns="27432" bIns="27432"/>
                    <a:lstStyle/>
                    <a:p>
                      <a:pPr algn="l">
                        <a:lnSpc>
                          <a:spcPct val="100000"/>
                        </a:lnSpc>
                        <a:spcBef>
                          <a:spcPts val="0"/>
                        </a:spcBef>
                        <a:spcAft>
                          <a:spcPts val="0"/>
                        </a:spcAft>
                      </a:pPr>
                      <a:r>
                        <a:rPr sz="1000" b="1">
                          <a:solidFill>
                            <a:srgbClr val="FFFFFF"/>
                          </a:solidFill>
                          <a:latin typeface="Aptos"/>
                        </a:rPr>
                        <a:t>Paper / Year</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Dataset</a:t>
                      </a:r>
                      <a:endParaRPr sz="1000" dirty="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Methodology</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Limitation</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1097280">
                <a:tc>
                  <a:txBody>
                    <a:bodyPr wrap="square" lIns="54864" rIns="45720" tIns="36576" bIns="36576"/>
                    <a:lstStyle/>
                    <a:p>
                      <a:pPr marL="73025">
                        <a:lnSpc>
                          <a:spcPct val="100000"/>
                        </a:lnSpc>
                        <a:spcBef>
                          <a:spcPts val="380"/>
                        </a:spcBef>
                        <a:spcAft>
                          <a:spcPts val="100"/>
                        </a:spcAft>
                      </a:pPr>
                      <a:r>
                        <a:rPr sz="740" b="1">
                          <a:solidFill>
                            <a:srgbClr val="000000"/>
                          </a:solidFill>
                          <a:latin typeface="Aptos"/>
                        </a:rPr>
                        <a:t>17. Petar Veličković; Guillem Cucurull; Arantxa Casanova; Adriana Romero; Pietro Liò; Yoshua Bengio • 2018</a:t>
                      </a:r>
                      <a:endParaRPr sz="800" dirty="0">
                        <a:latin typeface="Calibri"/>
                        <a:cs typeface="Calibri"/>
                      </a:endParaRPr>
                    </a:p>
                    <a:p>
                      <a:pPr>
                        <a:spcBef>
                          <a:spcPts val="0"/>
                        </a:spcBef>
                        <a:spcAft>
                          <a:spcPts val="0"/>
                        </a:spcAft>
                      </a:pPr>
                      <a:r>
                        <a:rPr sz="730" b="0">
                          <a:solidFill>
                            <a:srgbClr val="000000"/>
                          </a:solidFill>
                          <a:latin typeface="Aptos"/>
                        </a:rPr>
                        <a:t>Graph Attention Networks</a:t>
                      </a: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Cora, Citeseer, Pubmed and protein-interaction data</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Introduced masked self-attention so nodes assign different importance to neighboring nodes during message passing.</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algn="l">
                        <a:lnSpc>
                          <a:spcPct val="100000"/>
                        </a:lnSpc>
                        <a:spcBef>
                          <a:spcPts val="0"/>
                        </a:spcBef>
                        <a:spcAft>
                          <a:spcPts val="0"/>
                        </a:spcAft>
                      </a:pPr>
                      <a:r>
                        <a:rPr sz="760" b="0">
                          <a:solidFill>
                            <a:srgbClr val="000000"/>
                          </a:solidFill>
                          <a:latin typeface="Aptos"/>
                        </a:rPr>
                        <a:t>Not AML-specific; attention increases computational complexity and original evaluation was on non-financial graph benchmarks.</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1097280">
                <a:tc>
                  <a:txBody>
                    <a:bodyPr wrap="square" lIns="54864" rIns="45720" tIns="36576" bIns="36576"/>
                    <a:lstStyle/>
                    <a:p>
                      <a:pPr marL="73025">
                        <a:lnSpc>
                          <a:spcPct val="100000"/>
                        </a:lnSpc>
                        <a:spcBef>
                          <a:spcPts val="385"/>
                        </a:spcBef>
                        <a:spcAft>
                          <a:spcPts val="100"/>
                        </a:spcAft>
                      </a:pPr>
                      <a:r>
                        <a:rPr sz="740" b="1">
                          <a:solidFill>
                            <a:srgbClr val="000000"/>
                          </a:solidFill>
                          <a:latin typeface="Aptos"/>
                        </a:rPr>
                        <a:t>18. William L. Hamilton; Rex Ying; Jure Leskovec • 2017</a:t>
                      </a:r>
                      <a:endParaRPr sz="800" dirty="0">
                        <a:latin typeface="Calibri"/>
                        <a:cs typeface="Calibri"/>
                      </a:endParaRPr>
                    </a:p>
                    <a:p>
                      <a:pPr>
                        <a:spcBef>
                          <a:spcPts val="0"/>
                        </a:spcBef>
                        <a:spcAft>
                          <a:spcPts val="0"/>
                        </a:spcAft>
                      </a:pPr>
                      <a:r>
                        <a:rPr sz="730" b="0">
                          <a:solidFill>
                            <a:srgbClr val="000000"/>
                          </a:solidFill>
                          <a:latin typeface="Aptos"/>
                        </a:rPr>
                        <a:t>Inductive Representation Learning on Large Graphs</a:t>
                      </a: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Reddit, citation networks and protein-protein interaction graphs</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marR="313055" algn="l">
                        <a:lnSpc>
                          <a:spcPct val="100000"/>
                        </a:lnSpc>
                        <a:spcBef>
                          <a:spcPts val="0"/>
                        </a:spcBef>
                        <a:spcAft>
                          <a:spcPts val="0"/>
                        </a:spcAft>
                      </a:pPr>
                      <a:r>
                        <a:rPr sz="760" b="0">
                          <a:solidFill>
                            <a:srgbClr val="000000"/>
                          </a:solidFill>
                          <a:latin typeface="Aptos"/>
                        </a:rPr>
                        <a:t>Introduced GraphSAGE, which samples and aggregates neighborhood information to generate embeddings for unseen nodes.</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127000" algn="l">
                        <a:lnSpc>
                          <a:spcPct val="100000"/>
                        </a:lnSpc>
                        <a:spcBef>
                          <a:spcPts val="0"/>
                        </a:spcBef>
                        <a:spcAft>
                          <a:spcPts val="0"/>
                        </a:spcAft>
                      </a:pPr>
                      <a:r>
                        <a:rPr sz="760" b="0">
                          <a:solidFill>
                            <a:srgbClr val="000000"/>
                          </a:solidFill>
                          <a:latin typeface="Aptos"/>
                        </a:rPr>
                        <a:t>Not AML-specific; neighborhood sampling can lose information and performance depends on sampling strategy.</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1097280">
                <a:tc>
                  <a:txBody>
                    <a:bodyPr wrap="square" lIns="54864" rIns="45720" tIns="36576" bIns="36576"/>
                    <a:lstStyle/>
                    <a:p>
                      <a:pPr marL="73025" marR="91440">
                        <a:lnSpc>
                          <a:spcPct val="100000"/>
                        </a:lnSpc>
                        <a:spcBef>
                          <a:spcPts val="390"/>
                        </a:spcBef>
                        <a:spcAft>
                          <a:spcPts val="100"/>
                        </a:spcAft>
                      </a:pPr>
                      <a:r>
                        <a:rPr sz="740" b="1">
                          <a:solidFill>
                            <a:srgbClr val="000000"/>
                          </a:solidFill>
                          <a:latin typeface="Aptos"/>
                        </a:rPr>
                        <a:t>19. Keyulu Xu; Weihua Hu; Jure Leskovec; Stefanie Jegelka • 2019</a:t>
                      </a:r>
                      <a:endParaRPr sz="800" dirty="0">
                        <a:latin typeface="Calibri"/>
                        <a:cs typeface="Calibri"/>
                      </a:endParaRPr>
                    </a:p>
                    <a:p>
                      <a:pPr>
                        <a:spcBef>
                          <a:spcPts val="0"/>
                        </a:spcBef>
                        <a:spcAft>
                          <a:spcPts val="0"/>
                        </a:spcAft>
                      </a:pPr>
                      <a:r>
                        <a:rPr sz="730" b="0">
                          <a:solidFill>
                            <a:srgbClr val="000000"/>
                          </a:solidFill>
                          <a:latin typeface="Aptos"/>
                        </a:rPr>
                        <a:t>How Powerful Are Graph Neural Networks?</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Graph classification benchmark datasets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271780" algn="l">
                        <a:lnSpc>
                          <a:spcPct val="100000"/>
                        </a:lnSpc>
                        <a:spcBef>
                          <a:spcPts val="0"/>
                        </a:spcBef>
                        <a:spcAft>
                          <a:spcPts val="0"/>
                        </a:spcAft>
                      </a:pPr>
                      <a:r>
                        <a:rPr sz="760" b="0">
                          <a:solidFill>
                            <a:srgbClr val="000000"/>
                          </a:solidFill>
                          <a:latin typeface="Aptos"/>
                        </a:rPr>
                        <a:t>Developed the GIN architecture and a theoretical framework for GNN expressive power.</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247015" algn="l">
                        <a:lnSpc>
                          <a:spcPct val="100000"/>
                        </a:lnSpc>
                        <a:spcBef>
                          <a:spcPts val="0"/>
                        </a:spcBef>
                        <a:spcAft>
                          <a:spcPts val="0"/>
                        </a:spcAft>
                      </a:pPr>
                      <a:r>
                        <a:rPr sz="760" b="0">
                          <a:solidFill>
                            <a:srgbClr val="000000"/>
                          </a:solidFill>
                          <a:latin typeface="Aptos"/>
                        </a:rPr>
                        <a:t>Theoretical expressiveness does not guarantee the best real-world AML performance; not designed specifically for financial transactions.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1097280">
                <a:tc>
                  <a:txBody>
                    <a:bodyPr wrap="square" lIns="54864" rIns="45720" tIns="36576" bIns="36576"/>
                    <a:lstStyle/>
                    <a:p>
                      <a:pPr marL="73025">
                        <a:lnSpc>
                          <a:spcPct val="100000"/>
                        </a:lnSpc>
                        <a:spcBef>
                          <a:spcPts val="390"/>
                        </a:spcBef>
                        <a:spcAft>
                          <a:spcPts val="100"/>
                        </a:spcAft>
                      </a:pPr>
                      <a:r>
                        <a:rPr sz="740" b="1">
                          <a:solidFill>
                            <a:srgbClr val="000000"/>
                          </a:solidFill>
                          <a:latin typeface="Aptos"/>
                        </a:rPr>
                        <a:t>20. Jie Zhou; Ganqu Cui; Shengding Hu; Zhengyan Zhang; Cheng Yang; Zhiyuan Liu; Lifeng Wang; Changcheng Li; Maosong Sun • 2020</a:t>
                      </a:r>
                      <a:endParaRPr sz="800" dirty="0">
                        <a:latin typeface="Calibri"/>
                        <a:cs typeface="Calibri"/>
                      </a:endParaRPr>
                    </a:p>
                    <a:p>
                      <a:pPr>
                        <a:spcBef>
                          <a:spcPts val="0"/>
                        </a:spcBef>
                        <a:spcAft>
                          <a:spcPts val="0"/>
                        </a:spcAft>
                      </a:pPr>
                      <a:r>
                        <a:rPr sz="730" b="0">
                          <a:solidFill>
                            <a:srgbClr val="000000"/>
                          </a:solidFill>
                          <a:latin typeface="Aptos"/>
                        </a:rPr>
                        <a:t>Graph Neural Networks: A Review of Methods and Applications</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Multiple graph datasets from prior GNN research</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Surveyed GNN architectures, message-passing strategies, training methods and applications.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84455" algn="l">
                        <a:lnSpc>
                          <a:spcPct val="100000"/>
                        </a:lnSpc>
                        <a:spcBef>
                          <a:spcPts val="0"/>
                        </a:spcBef>
                        <a:spcAft>
                          <a:spcPts val="0"/>
                        </a:spcAft>
                      </a:pPr>
                      <a:r>
                        <a:rPr sz="760" b="0">
                          <a:solidFill>
                            <a:srgbClr val="000000"/>
                          </a:solidFill>
                          <a:latin typeface="Aptos"/>
                        </a:rPr>
                        <a:t>Broad survey scope means AML-specific evidence is limited; it does not experimentally evaluate an AML detector.</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45720">
                <a:tc>
                  <a:txBody>
                    <a:bodyPr wrap="square" lIns="54864" rIns="45720" tIns="27432" bIns="27432"/>
                    <a:lstStyle/>
                    <a:p>
                      <a:pPr marL="73025" marR="990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marR="110489">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2006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171450" algn="just">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r>
              <a:rPr sz="1600" b="1">
                <a:solidFill>
                  <a:srgbClr val="FFFFFF"/>
                </a:solidFill>
                <a:latin typeface="Aptos Display"/>
              </a:rPr>
              <a:t>LITERATURE REVIEW • PART 6</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r>
              <a:t>10</a:t>
            </a:r>
          </a:p>
        </p:txBody>
      </p:sp>
      <p:sp>
        <p:nvSpPr>
          <p:cNvPr id="3" name="object 3"/>
          <p:cNvSpPr txBox="1"/>
          <p:nvPr/>
        </p:nvSpPr>
        <p:spPr>
          <a:xfrm>
            <a:off x="5682488" y="933449"/>
            <a:ext cx="828040" cy="201295"/>
          </a:xfrm>
          <a:prstGeom prst="rect">
            <a:avLst/>
          </a:prstGeom>
        </p:spPr>
        <p:txBody>
          <a:bodyPr vert="horz" wrap="square" lIns="0" tIns="12700" rIns="0" bIns="0" rtlCol="0">
            <a:spAutoFit/>
          </a:bodyPr>
          <a:lstStyle/>
          <a:p>
            <a:pPr algn="ctr"/>
            <a:r>
              <a:rPr sz="1000" b="1">
                <a:solidFill>
                  <a:srgbClr val="C00000"/>
                </a:solidFill>
              </a:rPr>
              <a:t>Papers 21–24</a:t>
            </a:r>
          </a:p>
        </p:txBody>
      </p:sp>
      <p:graphicFrame>
        <p:nvGraphicFramePr>
          <p:cNvPr id="4" name="object 4"/>
          <p:cNvGraphicFramePr>
            <a:graphicFrameLocks noGrp="1"/>
          </p:cNvGraphicFramePr>
          <p:nvPr>
            <p:extLst>
              <p:ext uri="{D42A27DB-BD31-4B8C-83A1-F6EECF244321}">
                <p14:modId xmlns:p14="http://schemas.microsoft.com/office/powerpoint/2010/main" val="4019603171"/>
              </p:ext>
            </p:extLst>
          </p:nvPr>
        </p:nvGraphicFramePr>
        <p:xfrm>
          <a:off x="362584" y="1295272"/>
          <a:ext cx="11457304" cy="5093208"/>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658368">
                <a:tc>
                  <a:txBody>
                    <a:bodyPr wrap="square" lIns="54864" rIns="45720" tIns="27432" bIns="27432"/>
                    <a:lstStyle/>
                    <a:p>
                      <a:pPr algn="l">
                        <a:lnSpc>
                          <a:spcPct val="100000"/>
                        </a:lnSpc>
                        <a:spcBef>
                          <a:spcPts val="0"/>
                        </a:spcBef>
                        <a:spcAft>
                          <a:spcPts val="0"/>
                        </a:spcAft>
                      </a:pPr>
                      <a:r>
                        <a:rPr sz="1000" b="1">
                          <a:solidFill>
                            <a:srgbClr val="FFFFFF"/>
                          </a:solidFill>
                          <a:latin typeface="Aptos"/>
                        </a:rPr>
                        <a:t>Paper / Year</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Dataset</a:t>
                      </a:r>
                      <a:endParaRPr sz="1000" dirty="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Methodology</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Limitation</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1097280">
                <a:tc>
                  <a:txBody>
                    <a:bodyPr wrap="square" lIns="54864" rIns="45720" tIns="36576" bIns="36576"/>
                    <a:lstStyle/>
                    <a:p>
                      <a:pPr marL="73025">
                        <a:lnSpc>
                          <a:spcPct val="100000"/>
                        </a:lnSpc>
                        <a:spcBef>
                          <a:spcPts val="380"/>
                        </a:spcBef>
                        <a:spcAft>
                          <a:spcPts val="100"/>
                        </a:spcAft>
                      </a:pPr>
                      <a:r>
                        <a:rPr sz="740" b="1">
                          <a:solidFill>
                            <a:srgbClr val="000000"/>
                          </a:solidFill>
                          <a:latin typeface="Aptos"/>
                        </a:rPr>
                        <a:t>21. Ziwei Zhang; Peng Cui; Wenwu Zhu • 2018</a:t>
                      </a:r>
                      <a:endParaRPr sz="800" dirty="0">
                        <a:latin typeface="Calibri"/>
                        <a:cs typeface="Calibri"/>
                      </a:endParaRPr>
                    </a:p>
                    <a:p>
                      <a:pPr>
                        <a:spcBef>
                          <a:spcPts val="0"/>
                        </a:spcBef>
                        <a:spcAft>
                          <a:spcPts val="0"/>
                        </a:spcAft>
                      </a:pPr>
                      <a:r>
                        <a:rPr sz="730" b="0">
                          <a:solidFill>
                            <a:srgbClr val="000000"/>
                          </a:solidFill>
                          <a:latin typeface="Aptos"/>
                        </a:rPr>
                        <a:t>Deep Learning on Graphs: A Survey</a:t>
                      </a: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Multiple graph datasets from prior studies</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Reviewed graph recurrent networks, graph convolutional networks, graph autoencoders, graph reinforcement learning and graph adversarial methods.</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algn="l">
                        <a:lnSpc>
                          <a:spcPct val="100000"/>
                        </a:lnSpc>
                        <a:spcBef>
                          <a:spcPts val="0"/>
                        </a:spcBef>
                        <a:spcAft>
                          <a:spcPts val="0"/>
                        </a:spcAft>
                      </a:pPr>
                      <a:r>
                        <a:rPr sz="760" b="0">
                          <a:solidFill>
                            <a:srgbClr val="000000"/>
                          </a:solidFill>
                          <a:latin typeface="Aptos"/>
                        </a:rPr>
                        <a:t>Broad survey rather than AML-specific experimentation; financial transaction constraints are not the main focus.</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1097280">
                <a:tc>
                  <a:txBody>
                    <a:bodyPr wrap="square" lIns="54864" rIns="45720" tIns="36576" bIns="36576"/>
                    <a:lstStyle/>
                    <a:p>
                      <a:pPr marL="73025">
                        <a:lnSpc>
                          <a:spcPct val="100000"/>
                        </a:lnSpc>
                        <a:spcBef>
                          <a:spcPts val="385"/>
                        </a:spcBef>
                        <a:spcAft>
                          <a:spcPts val="100"/>
                        </a:spcAft>
                      </a:pPr>
                      <a:r>
                        <a:rPr sz="740" b="1">
                          <a:solidFill>
                            <a:srgbClr val="000000"/>
                          </a:solidFill>
                          <a:latin typeface="Aptos"/>
                        </a:rPr>
                        <a:t>22. Shirui Pan et al. • 2020</a:t>
                      </a:r>
                      <a:endParaRPr sz="800" dirty="0">
                        <a:latin typeface="Calibri"/>
                        <a:cs typeface="Calibri"/>
                      </a:endParaRPr>
                    </a:p>
                    <a:p>
                      <a:pPr>
                        <a:spcBef>
                          <a:spcPts val="0"/>
                        </a:spcBef>
                        <a:spcAft>
                          <a:spcPts val="0"/>
                        </a:spcAft>
                      </a:pPr>
                      <a:r>
                        <a:rPr sz="730" b="0">
                          <a:solidFill>
                            <a:srgbClr val="000000"/>
                          </a:solidFill>
                          <a:latin typeface="Aptos"/>
                        </a:rPr>
                        <a:t>A Comprehensive Survey on Graph Neural Networks</a:t>
                      </a: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Multiple benchmark graph datasets</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marR="313055" algn="l">
                        <a:lnSpc>
                          <a:spcPct val="100000"/>
                        </a:lnSpc>
                        <a:spcBef>
                          <a:spcPts val="0"/>
                        </a:spcBef>
                        <a:spcAft>
                          <a:spcPts val="0"/>
                        </a:spcAft>
                      </a:pPr>
                      <a:r>
                        <a:rPr sz="760" b="0">
                          <a:solidFill>
                            <a:srgbClr val="000000"/>
                          </a:solidFill>
                          <a:latin typeface="Aptos"/>
                        </a:rPr>
                        <a:t>Presented a taxonomy covering recurrent, convolutional, graph autoencoder and spatial-temporal GNN families and their applications.</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127000" algn="l">
                        <a:lnSpc>
                          <a:spcPct val="100000"/>
                        </a:lnSpc>
                        <a:spcBef>
                          <a:spcPts val="0"/>
                        </a:spcBef>
                        <a:spcAft>
                          <a:spcPts val="0"/>
                        </a:spcAft>
                      </a:pPr>
                      <a:r>
                        <a:rPr sz="760" b="0">
                          <a:solidFill>
                            <a:srgbClr val="000000"/>
                          </a:solidFill>
                          <a:latin typeface="Aptos"/>
                        </a:rPr>
                        <a:t>General-purpose survey; limited direct discussion of AML datasets, financial constraints and deployment.</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1097280">
                <a:tc>
                  <a:txBody>
                    <a:bodyPr wrap="square" lIns="54864" rIns="45720" tIns="36576" bIns="36576"/>
                    <a:lstStyle/>
                    <a:p>
                      <a:pPr marL="73025" marR="91440">
                        <a:lnSpc>
                          <a:spcPct val="100000"/>
                        </a:lnSpc>
                        <a:spcBef>
                          <a:spcPts val="390"/>
                        </a:spcBef>
                        <a:spcAft>
                          <a:spcPts val="100"/>
                        </a:spcAft>
                      </a:pPr>
                      <a:r>
                        <a:rPr sz="740" b="1">
                          <a:solidFill>
                            <a:srgbClr val="000000"/>
                          </a:solidFill>
                          <a:latin typeface="Aptos"/>
                        </a:rPr>
                        <a:t>23. Dawei Cheng; Yao Zou; Sheng Xiang; Changjun Jiang • 2025</a:t>
                      </a:r>
                      <a:endParaRPr sz="800" dirty="0">
                        <a:latin typeface="Calibri"/>
                        <a:cs typeface="Calibri"/>
                      </a:endParaRPr>
                    </a:p>
                    <a:p>
                      <a:pPr>
                        <a:spcBef>
                          <a:spcPts val="0"/>
                        </a:spcBef>
                        <a:spcAft>
                          <a:spcPts val="0"/>
                        </a:spcAft>
                      </a:pPr>
                      <a:r>
                        <a:rPr sz="730" b="0">
                          <a:solidFill>
                            <a:srgbClr val="000000"/>
                          </a:solidFill>
                          <a:latin typeface="Aptos"/>
                        </a:rPr>
                        <a:t>Graph Learning-Empowered Financial Fraud Detection: Progress and Future Directions</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Multiple financial fraud datasets from literature</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271780" algn="l">
                        <a:lnSpc>
                          <a:spcPct val="100000"/>
                        </a:lnSpc>
                        <a:spcBef>
                          <a:spcPts val="0"/>
                        </a:spcBef>
                        <a:spcAft>
                          <a:spcPts val="0"/>
                        </a:spcAft>
                      </a:pPr>
                      <a:r>
                        <a:rPr sz="760" b="0">
                          <a:solidFill>
                            <a:srgbClr val="000000"/>
                          </a:solidFill>
                          <a:latin typeface="Aptos"/>
                        </a:rPr>
                        <a:t>Surveyed graph learning methods for financial fraud, emphasizing relational structure, transaction networks, heterogeneous/dynamic graphs and future research directions.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247015" algn="l">
                        <a:lnSpc>
                          <a:spcPct val="100000"/>
                        </a:lnSpc>
                        <a:spcBef>
                          <a:spcPts val="0"/>
                        </a:spcBef>
                        <a:spcAft>
                          <a:spcPts val="0"/>
                        </a:spcAft>
                      </a:pPr>
                      <a:r>
                        <a:rPr sz="760" b="0">
                          <a:solidFill>
                            <a:srgbClr val="000000"/>
                          </a:solidFill>
                          <a:latin typeface="Aptos"/>
                        </a:rPr>
                        <a:t>Review paper; practical deployment, data privacy and benchmarking across proprietary datasets remain open challenges.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1097280">
                <a:tc>
                  <a:txBody>
                    <a:bodyPr wrap="square" lIns="54864" rIns="45720" tIns="36576" bIns="36576"/>
                    <a:lstStyle/>
                    <a:p>
                      <a:pPr marL="73025">
                        <a:lnSpc>
                          <a:spcPct val="100000"/>
                        </a:lnSpc>
                        <a:spcBef>
                          <a:spcPts val="390"/>
                        </a:spcBef>
                        <a:spcAft>
                          <a:spcPts val="100"/>
                        </a:spcAft>
                      </a:pPr>
                      <a:r>
                        <a:rPr sz="740" b="1">
                          <a:solidFill>
                            <a:srgbClr val="000000"/>
                          </a:solidFill>
                          <a:latin typeface="Aptos"/>
                        </a:rPr>
                        <a:t>24. Dawei Cheng; Yao Zou; Sheng Xiang; Changjun Jiang • 2025</a:t>
                      </a:r>
                      <a:endParaRPr sz="800" dirty="0">
                        <a:latin typeface="Calibri"/>
                        <a:cs typeface="Calibri"/>
                      </a:endParaRPr>
                    </a:p>
                    <a:p>
                      <a:pPr>
                        <a:spcBef>
                          <a:spcPts val="0"/>
                        </a:spcBef>
                        <a:spcAft>
                          <a:spcPts val="0"/>
                        </a:spcAft>
                      </a:pPr>
                      <a:r>
                        <a:rPr sz="730" b="0">
                          <a:solidFill>
                            <a:srgbClr val="000000"/>
                          </a:solidFill>
                          <a:latin typeface="Aptos"/>
                        </a:rPr>
                        <a:t>Graph Neural Networks for Financial Fraud Detection: A Review (extended/revised source)</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Multiple financial fraud datasets from prior studies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Organized GNN research by graph type, learning paradigm, fraud type and deployment considerations, with discussion of open problems.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84455" algn="l">
                        <a:lnSpc>
                          <a:spcPct val="100000"/>
                        </a:lnSpc>
                        <a:spcBef>
                          <a:spcPts val="0"/>
                        </a:spcBef>
                        <a:spcAft>
                          <a:spcPts val="0"/>
                        </a:spcAft>
                      </a:pPr>
                      <a:r>
                        <a:rPr sz="760" b="0">
                          <a:solidFill>
                            <a:srgbClr val="000000"/>
                          </a:solidFill>
                          <a:latin typeface="Aptos"/>
                        </a:rPr>
                        <a:t>Broad review; not a new detector and it cannot resolve the lack of high-quality public real-world AML labels.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45720">
                <a:tc>
                  <a:txBody>
                    <a:bodyPr wrap="square" lIns="54864" rIns="45720" tIns="27432" bIns="27432"/>
                    <a:lstStyle/>
                    <a:p>
                      <a:pPr marL="73025" marR="990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marR="110489">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2006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171450" algn="just">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r>
              <a:rPr sz="1600" b="1">
                <a:solidFill>
                  <a:srgbClr val="FFFFFF"/>
                </a:solidFill>
                <a:latin typeface="Aptos Display"/>
              </a:rPr>
              <a:t>LITERATURE REVIEW • PART 7</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r>
              <a:t>11</a:t>
            </a:r>
          </a:p>
        </p:txBody>
      </p:sp>
      <p:sp>
        <p:nvSpPr>
          <p:cNvPr id="3" name="object 3"/>
          <p:cNvSpPr txBox="1"/>
          <p:nvPr/>
        </p:nvSpPr>
        <p:spPr>
          <a:xfrm>
            <a:off x="5682488" y="933449"/>
            <a:ext cx="828040" cy="201295"/>
          </a:xfrm>
          <a:prstGeom prst="rect">
            <a:avLst/>
          </a:prstGeom>
        </p:spPr>
        <p:txBody>
          <a:bodyPr vert="horz" wrap="square" lIns="0" tIns="12700" rIns="0" bIns="0" rtlCol="0">
            <a:spAutoFit/>
          </a:bodyPr>
          <a:lstStyle/>
          <a:p>
            <a:pPr algn="ctr"/>
            <a:r>
              <a:rPr sz="1000" b="1">
                <a:solidFill>
                  <a:srgbClr val="C00000"/>
                </a:solidFill>
              </a:rPr>
              <a:t>Papers 25–26</a:t>
            </a:r>
          </a:p>
        </p:txBody>
      </p:sp>
      <p:graphicFrame>
        <p:nvGraphicFramePr>
          <p:cNvPr id="4" name="object 4"/>
          <p:cNvGraphicFramePr>
            <a:graphicFrameLocks noGrp="1"/>
          </p:cNvGraphicFramePr>
          <p:nvPr>
            <p:extLst>
              <p:ext uri="{D42A27DB-BD31-4B8C-83A1-F6EECF244321}">
                <p14:modId xmlns:p14="http://schemas.microsoft.com/office/powerpoint/2010/main" val="4019603171"/>
              </p:ext>
            </p:extLst>
          </p:nvPr>
        </p:nvGraphicFramePr>
        <p:xfrm>
          <a:off x="362584" y="1295272"/>
          <a:ext cx="11457304" cy="4910328"/>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658368">
                <a:tc>
                  <a:txBody>
                    <a:bodyPr wrap="square" lIns="54864" rIns="45720" tIns="27432" bIns="27432"/>
                    <a:lstStyle/>
                    <a:p>
                      <a:pPr algn="l">
                        <a:lnSpc>
                          <a:spcPct val="100000"/>
                        </a:lnSpc>
                        <a:spcBef>
                          <a:spcPts val="0"/>
                        </a:spcBef>
                        <a:spcAft>
                          <a:spcPts val="0"/>
                        </a:spcAft>
                      </a:pPr>
                      <a:r>
                        <a:rPr sz="1000" b="1">
                          <a:solidFill>
                            <a:srgbClr val="FFFFFF"/>
                          </a:solidFill>
                          <a:latin typeface="Aptos"/>
                        </a:rPr>
                        <a:t>Paper / Year</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Dataset</a:t>
                      </a:r>
                      <a:endParaRPr sz="1000" dirty="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Methodology</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wrap="square" lIns="54864" rIns="45720" tIns="27432" bIns="27432"/>
                    <a:lstStyle/>
                    <a:p>
                      <a:pPr algn="l">
                        <a:lnSpc>
                          <a:spcPct val="100000"/>
                        </a:lnSpc>
                        <a:spcBef>
                          <a:spcPts val="0"/>
                        </a:spcBef>
                        <a:spcAft>
                          <a:spcPts val="0"/>
                        </a:spcAft>
                      </a:pPr>
                      <a:r>
                        <a:rPr sz="1000" b="1">
                          <a:solidFill>
                            <a:srgbClr val="FFFFFF"/>
                          </a:solidFill>
                          <a:latin typeface="Aptos"/>
                        </a:rPr>
                        <a:t>Limitation</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2057400">
                <a:tc>
                  <a:txBody>
                    <a:bodyPr wrap="square" lIns="54864" rIns="45720" tIns="36576" bIns="36576"/>
                    <a:lstStyle/>
                    <a:p>
                      <a:pPr marL="73025">
                        <a:lnSpc>
                          <a:spcPct val="100000"/>
                        </a:lnSpc>
                        <a:spcBef>
                          <a:spcPts val="380"/>
                        </a:spcBef>
                        <a:spcAft>
                          <a:spcPts val="100"/>
                        </a:spcAft>
                      </a:pPr>
                      <a:r>
                        <a:rPr sz="740" b="1">
                          <a:solidFill>
                            <a:srgbClr val="000000"/>
                          </a:solidFill>
                          <a:latin typeface="Aptos"/>
                        </a:rPr>
                        <a:t>25. Mark Weber; Giacomo Domeniconi; Jie Chen et al. • 2019</a:t>
                      </a:r>
                      <a:endParaRPr sz="800" dirty="0">
                        <a:latin typeface="Calibri"/>
                        <a:cs typeface="Calibri"/>
                      </a:endParaRPr>
                    </a:p>
                    <a:p>
                      <a:pPr>
                        <a:spcBef>
                          <a:spcPts val="0"/>
                        </a:spcBef>
                        <a:spcAft>
                          <a:spcPts val="0"/>
                        </a:spcAft>
                      </a:pPr>
                      <a:r>
                        <a:rPr sz="730" b="0">
                          <a:solidFill>
                            <a:srgbClr val="000000"/>
                          </a:solidFill>
                          <a:latin typeface="Aptos"/>
                        </a:rPr>
                        <a:t>Anti-Money Laundering in Bitcoin: Experimenting with Graph Convolutional Networks for Financial Forensics</a:t>
                      </a: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Elliptic Bitcoin Dataset</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Explored graph convolution and conventional machine-learning baselines for identifying illicit Bitcoin transactions and demonstrated the value of relational information.</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algn="l">
                        <a:lnSpc>
                          <a:spcPct val="100000"/>
                        </a:lnSpc>
                        <a:spcBef>
                          <a:spcPts val="0"/>
                        </a:spcBef>
                        <a:spcAft>
                          <a:spcPts val="0"/>
                        </a:spcAft>
                      </a:pPr>
                      <a:r>
                        <a:rPr sz="760" b="0">
                          <a:solidFill>
                            <a:srgbClr val="000000"/>
                          </a:solidFill>
                          <a:latin typeface="Aptos"/>
                        </a:rPr>
                        <a:t>Elliptic labels are incomplete and the public dataset does not capture all real-world banking AML conditions.</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2057400">
                <a:tc>
                  <a:txBody>
                    <a:bodyPr wrap="square" lIns="54864" rIns="45720" tIns="36576" bIns="36576"/>
                    <a:lstStyle/>
                    <a:p>
                      <a:pPr marL="73025">
                        <a:lnSpc>
                          <a:spcPct val="100000"/>
                        </a:lnSpc>
                        <a:spcBef>
                          <a:spcPts val="385"/>
                        </a:spcBef>
                        <a:spcAft>
                          <a:spcPts val="100"/>
                        </a:spcAft>
                      </a:pPr>
                      <a:r>
                        <a:rPr sz="740" b="1">
                          <a:solidFill>
                            <a:srgbClr val="000000"/>
                          </a:solidFill>
                          <a:latin typeface="Aptos"/>
                        </a:rPr>
                        <a:t>26. IBM Research • 2020</a:t>
                      </a:r>
                      <a:endParaRPr sz="800" dirty="0">
                        <a:latin typeface="Calibri"/>
                        <a:cs typeface="Calibri"/>
                      </a:endParaRPr>
                    </a:p>
                    <a:p>
                      <a:pPr>
                        <a:spcBef>
                          <a:spcPts val="0"/>
                        </a:spcBef>
                        <a:spcAft>
                          <a:spcPts val="0"/>
                        </a:spcAft>
                      </a:pPr>
                      <a:r>
                        <a:rPr sz="730" b="0">
                          <a:solidFill>
                            <a:srgbClr val="000000"/>
                          </a:solidFill>
                          <a:latin typeface="Aptos"/>
                        </a:rPr>
                        <a:t>AMLSim: Synthetic Data Generation for Anti-Money Laundering Research</a:t>
                      </a: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AMLSim synthetic banking transaction data</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marR="313055" algn="l">
                        <a:lnSpc>
                          <a:spcPct val="100000"/>
                        </a:lnSpc>
                        <a:spcBef>
                          <a:spcPts val="0"/>
                        </a:spcBef>
                        <a:spcAft>
                          <a:spcPts val="0"/>
                        </a:spcAft>
                      </a:pPr>
                      <a:r>
                        <a:rPr sz="760" b="0">
                          <a:solidFill>
                            <a:srgbClr val="000000"/>
                          </a:solidFill>
                          <a:latin typeface="Aptos"/>
                        </a:rPr>
                        <a:t>Generates synthetic banking transaction networks containing normal and predefined illicit behaviors for AML model development and evaluation.</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127000" algn="l">
                        <a:lnSpc>
                          <a:spcPct val="100000"/>
                        </a:lnSpc>
                        <a:spcBef>
                          <a:spcPts val="0"/>
                        </a:spcBef>
                        <a:spcAft>
                          <a:spcPts val="0"/>
                        </a:spcAft>
                      </a:pPr>
                      <a:r>
                        <a:rPr sz="760" b="0">
                          <a:solidFill>
                            <a:srgbClr val="000000"/>
                          </a:solidFill>
                          <a:latin typeface="Aptos"/>
                        </a:rPr>
                        <a:t>Synthetic data cannot fully reproduce the complexity and distribution of real bank transactions; transferability to real-world institutions must be validated.</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45720">
                <a:tc>
                  <a:txBody>
                    <a:bodyPr wrap="square" lIns="54864" rIns="45720" tIns="27432" bIns="27432"/>
                    <a:lstStyle/>
                    <a:p>
                      <a:pPr marL="73025" marR="91440" algn="l">
                        <a:lnSpc>
                          <a:spcPct val="100000"/>
                        </a:lnSpc>
                        <a:spcBef>
                          <a:spcPts val="0"/>
                        </a:spcBef>
                        <a:spcAft>
                          <a:spcPts val="0"/>
                        </a:spcAft>
                      </a:pPr>
                      <a:r>
                        <a:rPr sz="760" b="0">
                          <a:solidFill>
                            <a:srgbClr val="000000"/>
                          </a:solidFill>
                          <a:latin typeface="Aptos"/>
                        </a:rPr>
                        <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271780" algn="l">
                        <a:lnSpc>
                          <a:spcPct val="100000"/>
                        </a:lnSpc>
                        <a:spcBef>
                          <a:spcPts val="0"/>
                        </a:spcBef>
                        <a:spcAft>
                          <a:spcPts val="0"/>
                        </a:spcAft>
                      </a:pPr>
                      <a:r>
                        <a:rPr sz="760" b="0">
                          <a:solidFill>
                            <a:srgbClr val="000000"/>
                          </a:solidFill>
                          <a:latin typeface="Aptos"/>
                        </a:rPr>
                        <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247015" algn="l">
                        <a:lnSpc>
                          <a:spcPct val="100000"/>
                        </a:lnSpc>
                        <a:spcBef>
                          <a:spcPts val="0"/>
                        </a:spcBef>
                        <a:spcAft>
                          <a:spcPts val="0"/>
                        </a:spcAft>
                      </a:pPr>
                      <a:r>
                        <a:rPr sz="760" b="0">
                          <a:solidFill>
                            <a:srgbClr val="000000"/>
                          </a:solidFill>
                          <a:latin typeface="Aptos"/>
                        </a:rPr>
                        <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45720">
                <a:tc>
                  <a:txBody>
                    <a:bodyPr wrap="square" lIns="54864" rIns="45720" tIns="27432" bIns="27432"/>
                    <a:lstStyle/>
                    <a:p>
                      <a:pPr marL="73025" algn="l">
                        <a:lnSpc>
                          <a:spcPct val="100000"/>
                        </a:lnSpc>
                        <a:spcBef>
                          <a:spcPts val="0"/>
                        </a:spcBef>
                        <a:spcAft>
                          <a:spcPts val="0"/>
                        </a:spcAft>
                      </a:pPr>
                      <a:r>
                        <a:rPr sz="760" b="0">
                          <a:solidFill>
                            <a:srgbClr val="000000"/>
                          </a:solidFill>
                          <a:latin typeface="Aptos"/>
                        </a:rPr>
                        <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3660" algn="l">
                        <a:lnSpc>
                          <a:spcPct val="100000"/>
                        </a:lnSpc>
                        <a:spcBef>
                          <a:spcPts val="0"/>
                        </a:spcBef>
                        <a:spcAft>
                          <a:spcPts val="0"/>
                        </a:spcAft>
                      </a:pPr>
                      <a:r>
                        <a:rPr sz="760" b="0">
                          <a:solidFill>
                            <a:srgbClr val="000000"/>
                          </a:solidFill>
                          <a:latin typeface="Aptos"/>
                        </a:rPr>
                        <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295" algn="l">
                        <a:lnSpc>
                          <a:spcPct val="100000"/>
                        </a:lnSpc>
                        <a:spcBef>
                          <a:spcPts val="0"/>
                        </a:spcBef>
                        <a:spcAft>
                          <a:spcPts val="0"/>
                        </a:spcAft>
                      </a:pPr>
                      <a:r>
                        <a:rPr sz="760" b="0">
                          <a:solidFill>
                            <a:srgbClr val="000000"/>
                          </a:solidFill>
                          <a:latin typeface="Aptos"/>
                        </a:rPr>
                        <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wrap="square" lIns="54864" rIns="45720" tIns="27432" bIns="27432"/>
                    <a:lstStyle/>
                    <a:p>
                      <a:pPr marL="74930" marR="84455" algn="l">
                        <a:lnSpc>
                          <a:spcPct val="100000"/>
                        </a:lnSpc>
                        <a:spcBef>
                          <a:spcPts val="0"/>
                        </a:spcBef>
                        <a:spcAft>
                          <a:spcPts val="0"/>
                        </a:spcAft>
                      </a:pPr>
                      <a:r>
                        <a:rPr sz="760" b="0">
                          <a:solidFill>
                            <a:srgbClr val="000000"/>
                          </a:solidFill>
                          <a:latin typeface="Aptos"/>
                        </a:rPr>
                        <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45720">
                <a:tc>
                  <a:txBody>
                    <a:bodyPr wrap="square" lIns="54864" rIns="45720" tIns="27432" bIns="27432"/>
                    <a:lstStyle/>
                    <a:p>
                      <a:pPr marL="73025" marR="990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3660" marR="110489">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295" marR="2006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wrap="square" lIns="54864" rIns="45720" tIns="27432" bIns="27432"/>
                    <a:lstStyle/>
                    <a:p>
                      <a:pPr marL="74930" marR="171450" algn="just">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443865" algn="ctr">
              <a:lnSpc>
                <a:spcPct val="100000"/>
              </a:lnSpc>
              <a:spcBef>
                <a:spcPts val="105"/>
              </a:spcBef>
            </a:pPr>
            <a:r>
              <a:rPr sz="2400" b="1"/>
              <a:t>EDA • DATASET QUALITY</a:t>
            </a:r>
          </a:p>
        </p:txBody>
      </p:sp>
      <p:sp>
        <p:nvSpPr>
          <p:cNvPr id="3" name="object 3"/>
          <p:cNvSpPr txBox="1"/>
          <p:nvPr/>
        </p:nvSpPr>
        <p:spPr>
          <a:xfrm>
            <a:off x="4493514" y="933449"/>
            <a:ext cx="3202305" cy="201295"/>
          </a:xfrm>
          <a:prstGeom prst="rect">
            <a:avLst/>
          </a:prstGeom>
        </p:spPr>
        <p:txBody>
          <a:bodyPr vert="horz" wrap="square" lIns="0" tIns="12700" rIns="0" bIns="0" rtlCol="0">
            <a:spAutoFit/>
          </a:bodyPr>
          <a:lstStyle/>
          <a:p>
            <a:pPr marL="12700" algn="ctr">
              <a:lnSpc>
                <a:spcPct val="100000"/>
              </a:lnSpc>
              <a:spcBef>
                <a:spcPts val="100"/>
              </a:spcBef>
            </a:pPr>
            <a:r>
              <a:rPr sz="1200" b="0"/>
              <a:t>EDA of Elliptic transaction data</a:t>
            </a:r>
            <a:endParaRPr sz="1150">
              <a:latin typeface="Calibri"/>
              <a:cs typeface="Calibri"/>
            </a:endParaRPr>
          </a:p>
        </p:txBody>
      </p:sp>
      <p:grpSp>
        <p:nvGrpSpPr>
          <p:cNvPr id="4" name="object 4"/>
          <p:cNvGrpSpPr/>
          <p:nvPr/>
        </p:nvGrpSpPr>
        <p:grpSpPr>
          <a:xfrm>
            <a:off x="536448" y="1310601"/>
            <a:ext cx="2218690" cy="1167130"/>
            <a:chOff x="536448" y="1310601"/>
            <a:chExt cx="2218690" cy="1167130"/>
          </a:xfrm>
        </p:grpSpPr>
        <p:pic>
          <p:nvPicPr>
            <p:cNvPr id="5" name="object 5"/>
            <p:cNvPicPr/>
            <p:nvPr/>
          </p:nvPicPr>
          <p:blipFill>
            <a:blip r:embed="rId2" cstate="print"/>
            <a:stretch>
              <a:fillRect/>
            </a:stretch>
          </p:blipFill>
          <p:spPr>
            <a:xfrm>
              <a:off x="536448" y="1310601"/>
              <a:ext cx="2218563" cy="1167041"/>
            </a:xfrm>
            <a:prstGeom prst="rect">
              <a:avLst/>
            </a:prstGeom>
          </p:spPr>
        </p:pic>
        <p:sp>
          <p:nvSpPr>
            <p:cNvPr id="6" name="object 6"/>
            <p:cNvSpPr/>
            <p:nvPr/>
          </p:nvSpPr>
          <p:spPr>
            <a:xfrm>
              <a:off x="621792" y="1371599"/>
              <a:ext cx="2057400" cy="1005840"/>
            </a:xfrm>
            <a:custGeom>
              <a:avLst/>
              <a:gdLst/>
              <a:ahLst/>
              <a:cxnLst/>
              <a:rect l="l" t="t" r="r" b="b"/>
              <a:pathLst>
                <a:path w="2057400" h="1005839">
                  <a:moveTo>
                    <a:pt x="1984247" y="0"/>
                  </a:moveTo>
                  <a:lnTo>
                    <a:pt x="73151" y="0"/>
                  </a:lnTo>
                  <a:lnTo>
                    <a:pt x="44678" y="5750"/>
                  </a:lnTo>
                  <a:lnTo>
                    <a:pt x="21426" y="21431"/>
                  </a:lnTo>
                  <a:lnTo>
                    <a:pt x="5748" y="44684"/>
                  </a:lnTo>
                  <a:lnTo>
                    <a:pt x="0" y="73151"/>
                  </a:lnTo>
                  <a:lnTo>
                    <a:pt x="0" y="932688"/>
                  </a:lnTo>
                  <a:lnTo>
                    <a:pt x="5748" y="961155"/>
                  </a:lnTo>
                  <a:lnTo>
                    <a:pt x="21426" y="984408"/>
                  </a:lnTo>
                  <a:lnTo>
                    <a:pt x="44678" y="1000089"/>
                  </a:lnTo>
                  <a:lnTo>
                    <a:pt x="73151" y="1005839"/>
                  </a:lnTo>
                  <a:lnTo>
                    <a:pt x="1984247"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7" y="0"/>
                  </a:lnTo>
                  <a:close/>
                </a:path>
              </a:pathLst>
            </a:custGeom>
            <a:solidFill>
              <a:srgbClr val="FFFFFF"/>
            </a:solidFill>
          </p:spPr>
          <p:txBody>
            <a:bodyPr wrap="square" lIns="0" tIns="0" rIns="0" bIns="0" rtlCol="0"/>
            <a:lstStyle/>
            <a:p>
              <a:endParaRPr/>
            </a:p>
          </p:txBody>
        </p:sp>
        <p:sp>
          <p:nvSpPr>
            <p:cNvPr id="7" name="object 7"/>
            <p:cNvSpPr/>
            <p:nvPr/>
          </p:nvSpPr>
          <p:spPr>
            <a:xfrm>
              <a:off x="621792" y="1371599"/>
              <a:ext cx="2057400" cy="1005840"/>
            </a:xfrm>
            <a:custGeom>
              <a:avLst/>
              <a:gdLst/>
              <a:ahLst/>
              <a:cxnLst/>
              <a:rect l="l" t="t" r="r" b="b"/>
              <a:pathLst>
                <a:path w="2057400" h="1005839">
                  <a:moveTo>
                    <a:pt x="0" y="73151"/>
                  </a:moveTo>
                  <a:lnTo>
                    <a:pt x="5748" y="44684"/>
                  </a:lnTo>
                  <a:lnTo>
                    <a:pt x="21426" y="21431"/>
                  </a:lnTo>
                  <a:lnTo>
                    <a:pt x="44678" y="5750"/>
                  </a:lnTo>
                  <a:lnTo>
                    <a:pt x="73151" y="0"/>
                  </a:lnTo>
                  <a:lnTo>
                    <a:pt x="1984247"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7" y="1005839"/>
                  </a:lnTo>
                  <a:lnTo>
                    <a:pt x="73151" y="1005839"/>
                  </a:lnTo>
                  <a:lnTo>
                    <a:pt x="44678" y="1000089"/>
                  </a:lnTo>
                  <a:lnTo>
                    <a:pt x="21426" y="984408"/>
                  </a:lnTo>
                  <a:lnTo>
                    <a:pt x="5748"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1131824" y="1519809"/>
            <a:ext cx="1036955" cy="689610"/>
          </a:xfrm>
          <a:prstGeom prst="rect">
            <a:avLst/>
          </a:prstGeom>
        </p:spPr>
        <p:txBody>
          <a:bodyPr vert="horz" wrap="square" lIns="0" tIns="12700" rIns="0" bIns="0" rtlCol="0">
            <a:spAutoFit/>
          </a:bodyPr>
          <a:lstStyle/>
          <a:p>
            <a:pPr algn="ctr">
              <a:lnSpc>
                <a:spcPct val="100000"/>
              </a:lnSpc>
              <a:spcBef>
                <a:spcPts val="100"/>
              </a:spcBef>
            </a:pPr>
            <a:r>
              <a:t>44,950</a:t>
            </a:r>
            <a:br/>
            <a:r>
              <a:t>FEATURE ROWS</a:t>
            </a:r>
            <a:endParaRPr sz="2400" dirty="0">
              <a:latin typeface="Calibri"/>
              <a:cs typeface="Calibri"/>
            </a:endParaRPr>
          </a:p>
        </p:txBody>
      </p:sp>
      <p:grpSp>
        <p:nvGrpSpPr>
          <p:cNvPr id="9" name="object 9"/>
          <p:cNvGrpSpPr/>
          <p:nvPr/>
        </p:nvGrpSpPr>
        <p:grpSpPr>
          <a:xfrm>
            <a:off x="2758439" y="1310601"/>
            <a:ext cx="2218690" cy="1167130"/>
            <a:chOff x="2758439" y="1310601"/>
            <a:chExt cx="2218690" cy="1167130"/>
          </a:xfrm>
        </p:grpSpPr>
        <p:pic>
          <p:nvPicPr>
            <p:cNvPr id="10" name="object 10"/>
            <p:cNvPicPr/>
            <p:nvPr/>
          </p:nvPicPr>
          <p:blipFill>
            <a:blip r:embed="rId2" cstate="print"/>
            <a:stretch>
              <a:fillRect/>
            </a:stretch>
          </p:blipFill>
          <p:spPr>
            <a:xfrm>
              <a:off x="2758439" y="1310601"/>
              <a:ext cx="2218563" cy="1167041"/>
            </a:xfrm>
            <a:prstGeom prst="rect">
              <a:avLst/>
            </a:prstGeom>
          </p:spPr>
        </p:pic>
        <p:sp>
          <p:nvSpPr>
            <p:cNvPr id="11" name="object 11"/>
            <p:cNvSpPr/>
            <p:nvPr/>
          </p:nvSpPr>
          <p:spPr>
            <a:xfrm>
              <a:off x="2843783" y="1371599"/>
              <a:ext cx="2057400" cy="1005840"/>
            </a:xfrm>
            <a:custGeom>
              <a:avLst/>
              <a:gdLst/>
              <a:ahLst/>
              <a:cxnLst/>
              <a:rect l="l" t="t" r="r" b="b"/>
              <a:pathLst>
                <a:path w="2057400" h="1005839">
                  <a:moveTo>
                    <a:pt x="1984248" y="0"/>
                  </a:moveTo>
                  <a:lnTo>
                    <a:pt x="73152" y="0"/>
                  </a:lnTo>
                  <a:lnTo>
                    <a:pt x="44684" y="5750"/>
                  </a:lnTo>
                  <a:lnTo>
                    <a:pt x="21431" y="21431"/>
                  </a:lnTo>
                  <a:lnTo>
                    <a:pt x="5750" y="44684"/>
                  </a:lnTo>
                  <a:lnTo>
                    <a:pt x="0" y="73151"/>
                  </a:lnTo>
                  <a:lnTo>
                    <a:pt x="0" y="932688"/>
                  </a:lnTo>
                  <a:lnTo>
                    <a:pt x="5750" y="961155"/>
                  </a:lnTo>
                  <a:lnTo>
                    <a:pt x="21431" y="984408"/>
                  </a:lnTo>
                  <a:lnTo>
                    <a:pt x="44684" y="1000089"/>
                  </a:lnTo>
                  <a:lnTo>
                    <a:pt x="73152" y="1005839"/>
                  </a:lnTo>
                  <a:lnTo>
                    <a:pt x="1984248"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8" y="0"/>
                  </a:lnTo>
                  <a:close/>
                </a:path>
              </a:pathLst>
            </a:custGeom>
            <a:solidFill>
              <a:srgbClr val="FFFFFF"/>
            </a:solidFill>
          </p:spPr>
          <p:txBody>
            <a:bodyPr wrap="square" lIns="0" tIns="0" rIns="0" bIns="0" rtlCol="0"/>
            <a:lstStyle/>
            <a:p>
              <a:endParaRPr/>
            </a:p>
          </p:txBody>
        </p:sp>
        <p:sp>
          <p:nvSpPr>
            <p:cNvPr id="12" name="object 12"/>
            <p:cNvSpPr/>
            <p:nvPr/>
          </p:nvSpPr>
          <p:spPr>
            <a:xfrm>
              <a:off x="2843783" y="1371599"/>
              <a:ext cx="2057400" cy="1005840"/>
            </a:xfrm>
            <a:custGeom>
              <a:avLst/>
              <a:gdLst/>
              <a:ahLst/>
              <a:cxnLst/>
              <a:rect l="l" t="t" r="r" b="b"/>
              <a:pathLst>
                <a:path w="2057400" h="1005839">
                  <a:moveTo>
                    <a:pt x="0" y="73151"/>
                  </a:moveTo>
                  <a:lnTo>
                    <a:pt x="5750" y="44684"/>
                  </a:lnTo>
                  <a:lnTo>
                    <a:pt x="21431" y="21431"/>
                  </a:lnTo>
                  <a:lnTo>
                    <a:pt x="44684" y="5750"/>
                  </a:lnTo>
                  <a:lnTo>
                    <a:pt x="73152" y="0"/>
                  </a:lnTo>
                  <a:lnTo>
                    <a:pt x="1984248"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8" y="1005839"/>
                  </a:lnTo>
                  <a:lnTo>
                    <a:pt x="73152" y="1005839"/>
                  </a:lnTo>
                  <a:lnTo>
                    <a:pt x="44684" y="1000089"/>
                  </a:lnTo>
                  <a:lnTo>
                    <a:pt x="21431" y="984408"/>
                  </a:lnTo>
                  <a:lnTo>
                    <a:pt x="5750"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13" name="object 13"/>
          <p:cNvSpPr txBox="1"/>
          <p:nvPr/>
        </p:nvSpPr>
        <p:spPr>
          <a:xfrm>
            <a:off x="3323971" y="1519809"/>
            <a:ext cx="1095375" cy="689610"/>
          </a:xfrm>
          <a:prstGeom prst="rect">
            <a:avLst/>
          </a:prstGeom>
        </p:spPr>
        <p:txBody>
          <a:bodyPr vert="horz" wrap="square" lIns="0" tIns="12700" rIns="0" bIns="0" rtlCol="0">
            <a:spAutoFit/>
          </a:bodyPr>
          <a:lstStyle/>
          <a:p>
            <a:pPr marL="3810" algn="ctr">
              <a:lnSpc>
                <a:spcPct val="100000"/>
              </a:lnSpc>
              <a:spcBef>
                <a:spcPts val="100"/>
              </a:spcBef>
            </a:pPr>
            <a:r>
              <a:t>167</a:t>
            </a:r>
            <a:br/>
            <a:r>
              <a:t>FEATURE COLUMNS</a:t>
            </a:r>
            <a:endParaRPr sz="2400" dirty="0">
              <a:latin typeface="Calibri"/>
              <a:cs typeface="Calibri"/>
            </a:endParaRPr>
          </a:p>
        </p:txBody>
      </p:sp>
      <p:grpSp>
        <p:nvGrpSpPr>
          <p:cNvPr id="14" name="object 14"/>
          <p:cNvGrpSpPr/>
          <p:nvPr/>
        </p:nvGrpSpPr>
        <p:grpSpPr>
          <a:xfrm>
            <a:off x="4980432" y="1310601"/>
            <a:ext cx="2218690" cy="1167130"/>
            <a:chOff x="4980432" y="1310601"/>
            <a:chExt cx="2218690" cy="1167130"/>
          </a:xfrm>
        </p:grpSpPr>
        <p:pic>
          <p:nvPicPr>
            <p:cNvPr id="15" name="object 15"/>
            <p:cNvPicPr/>
            <p:nvPr/>
          </p:nvPicPr>
          <p:blipFill>
            <a:blip r:embed="rId2" cstate="print"/>
            <a:stretch>
              <a:fillRect/>
            </a:stretch>
          </p:blipFill>
          <p:spPr>
            <a:xfrm>
              <a:off x="4980432" y="1310601"/>
              <a:ext cx="2218563" cy="1167041"/>
            </a:xfrm>
            <a:prstGeom prst="rect">
              <a:avLst/>
            </a:prstGeom>
          </p:spPr>
        </p:pic>
        <p:sp>
          <p:nvSpPr>
            <p:cNvPr id="16" name="object 16"/>
            <p:cNvSpPr/>
            <p:nvPr/>
          </p:nvSpPr>
          <p:spPr>
            <a:xfrm>
              <a:off x="5065776" y="1371599"/>
              <a:ext cx="2057400" cy="1005840"/>
            </a:xfrm>
            <a:custGeom>
              <a:avLst/>
              <a:gdLst/>
              <a:ahLst/>
              <a:cxnLst/>
              <a:rect l="l" t="t" r="r" b="b"/>
              <a:pathLst>
                <a:path w="2057400" h="1005839">
                  <a:moveTo>
                    <a:pt x="1984248" y="0"/>
                  </a:moveTo>
                  <a:lnTo>
                    <a:pt x="73151" y="0"/>
                  </a:lnTo>
                  <a:lnTo>
                    <a:pt x="44684" y="5750"/>
                  </a:lnTo>
                  <a:lnTo>
                    <a:pt x="21431" y="21431"/>
                  </a:lnTo>
                  <a:lnTo>
                    <a:pt x="5750" y="44684"/>
                  </a:lnTo>
                  <a:lnTo>
                    <a:pt x="0" y="73151"/>
                  </a:lnTo>
                  <a:lnTo>
                    <a:pt x="0" y="932688"/>
                  </a:lnTo>
                  <a:lnTo>
                    <a:pt x="5750" y="961155"/>
                  </a:lnTo>
                  <a:lnTo>
                    <a:pt x="21431" y="984408"/>
                  </a:lnTo>
                  <a:lnTo>
                    <a:pt x="44684" y="1000089"/>
                  </a:lnTo>
                  <a:lnTo>
                    <a:pt x="73151" y="1005839"/>
                  </a:lnTo>
                  <a:lnTo>
                    <a:pt x="1984248"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8" y="0"/>
                  </a:lnTo>
                  <a:close/>
                </a:path>
              </a:pathLst>
            </a:custGeom>
            <a:solidFill>
              <a:srgbClr val="FFFFFF"/>
            </a:solidFill>
          </p:spPr>
          <p:txBody>
            <a:bodyPr wrap="square" lIns="0" tIns="0" rIns="0" bIns="0" rtlCol="0"/>
            <a:lstStyle/>
            <a:p>
              <a:endParaRPr/>
            </a:p>
          </p:txBody>
        </p:sp>
        <p:sp>
          <p:nvSpPr>
            <p:cNvPr id="17" name="object 17"/>
            <p:cNvSpPr/>
            <p:nvPr/>
          </p:nvSpPr>
          <p:spPr>
            <a:xfrm>
              <a:off x="5065776" y="1371599"/>
              <a:ext cx="2057400" cy="1005840"/>
            </a:xfrm>
            <a:custGeom>
              <a:avLst/>
              <a:gdLst/>
              <a:ahLst/>
              <a:cxnLst/>
              <a:rect l="l" t="t" r="r" b="b"/>
              <a:pathLst>
                <a:path w="2057400" h="1005839">
                  <a:moveTo>
                    <a:pt x="0" y="73151"/>
                  </a:moveTo>
                  <a:lnTo>
                    <a:pt x="5750" y="44684"/>
                  </a:lnTo>
                  <a:lnTo>
                    <a:pt x="21431" y="21431"/>
                  </a:lnTo>
                  <a:lnTo>
                    <a:pt x="44684" y="5750"/>
                  </a:lnTo>
                  <a:lnTo>
                    <a:pt x="73151" y="0"/>
                  </a:lnTo>
                  <a:lnTo>
                    <a:pt x="1984248"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8" y="1005839"/>
                  </a:lnTo>
                  <a:lnTo>
                    <a:pt x="73151" y="1005839"/>
                  </a:lnTo>
                  <a:lnTo>
                    <a:pt x="44684" y="1000089"/>
                  </a:lnTo>
                  <a:lnTo>
                    <a:pt x="21431" y="984408"/>
                  </a:lnTo>
                  <a:lnTo>
                    <a:pt x="5750"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18" name="object 18"/>
          <p:cNvSpPr txBox="1"/>
          <p:nvPr/>
        </p:nvSpPr>
        <p:spPr>
          <a:xfrm>
            <a:off x="5747765" y="1519809"/>
            <a:ext cx="693420" cy="689610"/>
          </a:xfrm>
          <a:prstGeom prst="rect">
            <a:avLst/>
          </a:prstGeom>
        </p:spPr>
        <p:txBody>
          <a:bodyPr vert="horz" wrap="square" lIns="0" tIns="12700" rIns="0" bIns="0" rtlCol="0">
            <a:spAutoFit/>
          </a:bodyPr>
          <a:lstStyle/>
          <a:p>
            <a:pPr marL="5080" algn="ctr">
              <a:lnSpc>
                <a:spcPct val="100000"/>
              </a:lnSpc>
              <a:spcBef>
                <a:spcPts val="100"/>
              </a:spcBef>
            </a:pPr>
            <a:r>
              <a:t>234,355</a:t>
            </a:r>
            <a:br/>
            <a:r>
              <a:t>EDGES</a:t>
            </a:r>
            <a:endParaRPr sz="2400" dirty="0">
              <a:latin typeface="Calibri"/>
              <a:cs typeface="Calibri"/>
            </a:endParaRPr>
          </a:p>
        </p:txBody>
      </p:sp>
      <p:grpSp>
        <p:nvGrpSpPr>
          <p:cNvPr id="19" name="object 19"/>
          <p:cNvGrpSpPr/>
          <p:nvPr/>
        </p:nvGrpSpPr>
        <p:grpSpPr>
          <a:xfrm>
            <a:off x="7202423" y="1310601"/>
            <a:ext cx="2218690" cy="1167130"/>
            <a:chOff x="7202423" y="1310601"/>
            <a:chExt cx="2218690" cy="1167130"/>
          </a:xfrm>
        </p:grpSpPr>
        <p:pic>
          <p:nvPicPr>
            <p:cNvPr id="20" name="object 20"/>
            <p:cNvPicPr/>
            <p:nvPr/>
          </p:nvPicPr>
          <p:blipFill>
            <a:blip r:embed="rId2" cstate="print"/>
            <a:stretch>
              <a:fillRect/>
            </a:stretch>
          </p:blipFill>
          <p:spPr>
            <a:xfrm>
              <a:off x="7202423" y="1310601"/>
              <a:ext cx="2218562" cy="1167041"/>
            </a:xfrm>
            <a:prstGeom prst="rect">
              <a:avLst/>
            </a:prstGeom>
          </p:spPr>
        </p:pic>
        <p:sp>
          <p:nvSpPr>
            <p:cNvPr id="21" name="object 21"/>
            <p:cNvSpPr/>
            <p:nvPr/>
          </p:nvSpPr>
          <p:spPr>
            <a:xfrm>
              <a:off x="7287767" y="1371599"/>
              <a:ext cx="2057400" cy="1005840"/>
            </a:xfrm>
            <a:custGeom>
              <a:avLst/>
              <a:gdLst/>
              <a:ahLst/>
              <a:cxnLst/>
              <a:rect l="l" t="t" r="r" b="b"/>
              <a:pathLst>
                <a:path w="2057400" h="1005839">
                  <a:moveTo>
                    <a:pt x="1984248" y="0"/>
                  </a:moveTo>
                  <a:lnTo>
                    <a:pt x="73151" y="0"/>
                  </a:lnTo>
                  <a:lnTo>
                    <a:pt x="44684" y="5750"/>
                  </a:lnTo>
                  <a:lnTo>
                    <a:pt x="21431" y="21431"/>
                  </a:lnTo>
                  <a:lnTo>
                    <a:pt x="5750" y="44684"/>
                  </a:lnTo>
                  <a:lnTo>
                    <a:pt x="0" y="73151"/>
                  </a:lnTo>
                  <a:lnTo>
                    <a:pt x="0" y="932688"/>
                  </a:lnTo>
                  <a:lnTo>
                    <a:pt x="5750" y="961155"/>
                  </a:lnTo>
                  <a:lnTo>
                    <a:pt x="21431" y="984408"/>
                  </a:lnTo>
                  <a:lnTo>
                    <a:pt x="44684" y="1000089"/>
                  </a:lnTo>
                  <a:lnTo>
                    <a:pt x="73151" y="1005839"/>
                  </a:lnTo>
                  <a:lnTo>
                    <a:pt x="1984248"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8" y="0"/>
                  </a:lnTo>
                  <a:close/>
                </a:path>
              </a:pathLst>
            </a:custGeom>
            <a:solidFill>
              <a:srgbClr val="FFFFFF"/>
            </a:solidFill>
          </p:spPr>
          <p:txBody>
            <a:bodyPr wrap="square" lIns="0" tIns="0" rIns="0" bIns="0" rtlCol="0"/>
            <a:lstStyle/>
            <a:p>
              <a:endParaRPr/>
            </a:p>
          </p:txBody>
        </p:sp>
        <p:sp>
          <p:nvSpPr>
            <p:cNvPr id="22" name="object 22"/>
            <p:cNvSpPr/>
            <p:nvPr/>
          </p:nvSpPr>
          <p:spPr>
            <a:xfrm>
              <a:off x="7287767" y="1371599"/>
              <a:ext cx="2057400" cy="1005840"/>
            </a:xfrm>
            <a:custGeom>
              <a:avLst/>
              <a:gdLst/>
              <a:ahLst/>
              <a:cxnLst/>
              <a:rect l="l" t="t" r="r" b="b"/>
              <a:pathLst>
                <a:path w="2057400" h="1005839">
                  <a:moveTo>
                    <a:pt x="0" y="73151"/>
                  </a:moveTo>
                  <a:lnTo>
                    <a:pt x="5750" y="44684"/>
                  </a:lnTo>
                  <a:lnTo>
                    <a:pt x="21431" y="21431"/>
                  </a:lnTo>
                  <a:lnTo>
                    <a:pt x="44684" y="5750"/>
                  </a:lnTo>
                  <a:lnTo>
                    <a:pt x="73151" y="0"/>
                  </a:lnTo>
                  <a:lnTo>
                    <a:pt x="1984248"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8" y="1005839"/>
                  </a:lnTo>
                  <a:lnTo>
                    <a:pt x="73151" y="1005839"/>
                  </a:lnTo>
                  <a:lnTo>
                    <a:pt x="44684" y="1000089"/>
                  </a:lnTo>
                  <a:lnTo>
                    <a:pt x="21431" y="984408"/>
                  </a:lnTo>
                  <a:lnTo>
                    <a:pt x="5750"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23" name="object 23"/>
          <p:cNvSpPr txBox="1"/>
          <p:nvPr/>
        </p:nvSpPr>
        <p:spPr>
          <a:xfrm>
            <a:off x="7897114" y="1519809"/>
            <a:ext cx="839469" cy="689610"/>
          </a:xfrm>
          <a:prstGeom prst="rect">
            <a:avLst/>
          </a:prstGeom>
        </p:spPr>
        <p:txBody>
          <a:bodyPr vert="horz" wrap="square" lIns="0" tIns="12700" rIns="0" bIns="0" rtlCol="0">
            <a:spAutoFit/>
          </a:bodyPr>
          <a:lstStyle/>
          <a:p>
            <a:pPr marL="5080" algn="ctr">
              <a:lnSpc>
                <a:spcPct val="100000"/>
              </a:lnSpc>
              <a:spcBef>
                <a:spcPts val="100"/>
              </a:spcBef>
            </a:pPr>
            <a:r>
              <a:t>15</a:t>
            </a:r>
            <a:br/>
            <a:r>
              <a:t>MISSING VALUES</a:t>
            </a:r>
            <a:endParaRPr sz="2400" dirty="0">
              <a:latin typeface="Calibri"/>
              <a:cs typeface="Calibri"/>
            </a:endParaRPr>
          </a:p>
        </p:txBody>
      </p:sp>
      <p:grpSp>
        <p:nvGrpSpPr>
          <p:cNvPr id="24" name="object 24"/>
          <p:cNvGrpSpPr/>
          <p:nvPr/>
        </p:nvGrpSpPr>
        <p:grpSpPr>
          <a:xfrm>
            <a:off x="9424416" y="1310601"/>
            <a:ext cx="2218690" cy="1167130"/>
            <a:chOff x="9424416" y="1310601"/>
            <a:chExt cx="2218690" cy="1167130"/>
          </a:xfrm>
        </p:grpSpPr>
        <p:pic>
          <p:nvPicPr>
            <p:cNvPr id="25" name="object 25"/>
            <p:cNvPicPr/>
            <p:nvPr/>
          </p:nvPicPr>
          <p:blipFill>
            <a:blip r:embed="rId2" cstate="print"/>
            <a:stretch>
              <a:fillRect/>
            </a:stretch>
          </p:blipFill>
          <p:spPr>
            <a:xfrm>
              <a:off x="9424416" y="1310601"/>
              <a:ext cx="2218562" cy="1167041"/>
            </a:xfrm>
            <a:prstGeom prst="rect">
              <a:avLst/>
            </a:prstGeom>
          </p:spPr>
        </p:pic>
        <p:sp>
          <p:nvSpPr>
            <p:cNvPr id="26" name="object 26"/>
            <p:cNvSpPr/>
            <p:nvPr/>
          </p:nvSpPr>
          <p:spPr>
            <a:xfrm>
              <a:off x="9509760" y="1371599"/>
              <a:ext cx="2057400" cy="1005840"/>
            </a:xfrm>
            <a:custGeom>
              <a:avLst/>
              <a:gdLst/>
              <a:ahLst/>
              <a:cxnLst/>
              <a:rect l="l" t="t" r="r" b="b"/>
              <a:pathLst>
                <a:path w="2057400" h="1005839">
                  <a:moveTo>
                    <a:pt x="1984248" y="0"/>
                  </a:moveTo>
                  <a:lnTo>
                    <a:pt x="73151" y="0"/>
                  </a:lnTo>
                  <a:lnTo>
                    <a:pt x="44684" y="5750"/>
                  </a:lnTo>
                  <a:lnTo>
                    <a:pt x="21431" y="21431"/>
                  </a:lnTo>
                  <a:lnTo>
                    <a:pt x="5750" y="44684"/>
                  </a:lnTo>
                  <a:lnTo>
                    <a:pt x="0" y="73151"/>
                  </a:lnTo>
                  <a:lnTo>
                    <a:pt x="0" y="932688"/>
                  </a:lnTo>
                  <a:lnTo>
                    <a:pt x="5750" y="961155"/>
                  </a:lnTo>
                  <a:lnTo>
                    <a:pt x="21431" y="984408"/>
                  </a:lnTo>
                  <a:lnTo>
                    <a:pt x="44684" y="1000089"/>
                  </a:lnTo>
                  <a:lnTo>
                    <a:pt x="73151" y="1005839"/>
                  </a:lnTo>
                  <a:lnTo>
                    <a:pt x="1984248"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8" y="0"/>
                  </a:lnTo>
                  <a:close/>
                </a:path>
              </a:pathLst>
            </a:custGeom>
            <a:solidFill>
              <a:srgbClr val="FFFFFF"/>
            </a:solidFill>
          </p:spPr>
          <p:txBody>
            <a:bodyPr wrap="square" lIns="0" tIns="0" rIns="0" bIns="0" rtlCol="0"/>
            <a:lstStyle/>
            <a:p>
              <a:endParaRPr/>
            </a:p>
          </p:txBody>
        </p:sp>
        <p:sp>
          <p:nvSpPr>
            <p:cNvPr id="27" name="object 27"/>
            <p:cNvSpPr/>
            <p:nvPr/>
          </p:nvSpPr>
          <p:spPr>
            <a:xfrm>
              <a:off x="9509760" y="1371599"/>
              <a:ext cx="2057400" cy="1005840"/>
            </a:xfrm>
            <a:custGeom>
              <a:avLst/>
              <a:gdLst/>
              <a:ahLst/>
              <a:cxnLst/>
              <a:rect l="l" t="t" r="r" b="b"/>
              <a:pathLst>
                <a:path w="2057400" h="1005839">
                  <a:moveTo>
                    <a:pt x="0" y="73151"/>
                  </a:moveTo>
                  <a:lnTo>
                    <a:pt x="5750" y="44684"/>
                  </a:lnTo>
                  <a:lnTo>
                    <a:pt x="21431" y="21431"/>
                  </a:lnTo>
                  <a:lnTo>
                    <a:pt x="44684" y="5750"/>
                  </a:lnTo>
                  <a:lnTo>
                    <a:pt x="73151" y="0"/>
                  </a:lnTo>
                  <a:lnTo>
                    <a:pt x="1984248"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8" y="1005839"/>
                  </a:lnTo>
                  <a:lnTo>
                    <a:pt x="73151" y="1005839"/>
                  </a:lnTo>
                  <a:lnTo>
                    <a:pt x="44684" y="1000089"/>
                  </a:lnTo>
                  <a:lnTo>
                    <a:pt x="21431" y="984408"/>
                  </a:lnTo>
                  <a:lnTo>
                    <a:pt x="5750"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28" name="object 28"/>
          <p:cNvSpPr txBox="1"/>
          <p:nvPr/>
        </p:nvSpPr>
        <p:spPr>
          <a:xfrm>
            <a:off x="10051668" y="1527181"/>
            <a:ext cx="974980" cy="682238"/>
          </a:xfrm>
          <a:prstGeom prst="rect">
            <a:avLst/>
          </a:prstGeom>
        </p:spPr>
        <p:txBody>
          <a:bodyPr vert="horz" wrap="square" lIns="0" tIns="12700" rIns="0" bIns="0" rtlCol="0">
            <a:spAutoFit/>
          </a:bodyPr>
          <a:lstStyle/>
          <a:p>
            <a:pPr marL="4445" algn="ctr">
              <a:lnSpc>
                <a:spcPct val="100000"/>
              </a:lnSpc>
              <a:spcBef>
                <a:spcPts val="100"/>
              </a:spcBef>
            </a:pPr>
            <a:r>
              <a:t>203,769</a:t>
            </a:r>
            <a:br/>
            <a:r>
              <a:t>CLASS LABELS</a:t>
            </a:r>
            <a:endParaRPr sz="2400" dirty="0">
              <a:latin typeface="Calibri"/>
              <a:cs typeface="Calibri"/>
            </a:endParaRPr>
          </a:p>
        </p:txBody>
      </p:sp>
      <p:grpSp>
        <p:nvGrpSpPr>
          <p:cNvPr id="29" name="object 29"/>
          <p:cNvGrpSpPr/>
          <p:nvPr/>
        </p:nvGrpSpPr>
        <p:grpSpPr>
          <a:xfrm>
            <a:off x="554736" y="2636507"/>
            <a:ext cx="11069955" cy="3041650"/>
            <a:chOff x="554736" y="2636507"/>
            <a:chExt cx="11069955" cy="3041650"/>
          </a:xfrm>
        </p:grpSpPr>
        <p:pic>
          <p:nvPicPr>
            <p:cNvPr id="30" name="object 30"/>
            <p:cNvPicPr/>
            <p:nvPr/>
          </p:nvPicPr>
          <p:blipFill>
            <a:blip r:embed="rId3" cstate="print"/>
            <a:stretch>
              <a:fillRect/>
            </a:stretch>
          </p:blipFill>
          <p:spPr>
            <a:xfrm>
              <a:off x="554736" y="2636507"/>
              <a:ext cx="11069955" cy="3041523"/>
            </a:xfrm>
            <a:prstGeom prst="rect">
              <a:avLst/>
            </a:prstGeom>
          </p:spPr>
        </p:pic>
        <p:sp>
          <p:nvSpPr>
            <p:cNvPr id="31" name="object 31"/>
            <p:cNvSpPr/>
            <p:nvPr/>
          </p:nvSpPr>
          <p:spPr>
            <a:xfrm>
              <a:off x="640080" y="2697479"/>
              <a:ext cx="10909300" cy="2880360"/>
            </a:xfrm>
            <a:custGeom>
              <a:avLst/>
              <a:gdLst/>
              <a:ahLst/>
              <a:cxnLst/>
              <a:rect l="l" t="t" r="r" b="b"/>
              <a:pathLst>
                <a:path w="10909300" h="2880360">
                  <a:moveTo>
                    <a:pt x="10835640" y="0"/>
                  </a:moveTo>
                  <a:lnTo>
                    <a:pt x="73164" y="0"/>
                  </a:lnTo>
                  <a:lnTo>
                    <a:pt x="44684" y="5750"/>
                  </a:lnTo>
                  <a:lnTo>
                    <a:pt x="21428" y="21431"/>
                  </a:lnTo>
                  <a:lnTo>
                    <a:pt x="5749" y="44684"/>
                  </a:lnTo>
                  <a:lnTo>
                    <a:pt x="0" y="73152"/>
                  </a:lnTo>
                  <a:lnTo>
                    <a:pt x="0" y="2807208"/>
                  </a:lnTo>
                  <a:lnTo>
                    <a:pt x="5749" y="2835675"/>
                  </a:lnTo>
                  <a:lnTo>
                    <a:pt x="21428" y="2858928"/>
                  </a:lnTo>
                  <a:lnTo>
                    <a:pt x="44684" y="2874609"/>
                  </a:lnTo>
                  <a:lnTo>
                    <a:pt x="73164" y="2880360"/>
                  </a:lnTo>
                  <a:lnTo>
                    <a:pt x="10835640" y="2880360"/>
                  </a:lnTo>
                  <a:lnTo>
                    <a:pt x="10864107" y="2874609"/>
                  </a:lnTo>
                  <a:lnTo>
                    <a:pt x="10887360" y="2858928"/>
                  </a:lnTo>
                  <a:lnTo>
                    <a:pt x="10903041" y="2835675"/>
                  </a:lnTo>
                  <a:lnTo>
                    <a:pt x="10908792" y="2807208"/>
                  </a:lnTo>
                  <a:lnTo>
                    <a:pt x="10908792" y="73152"/>
                  </a:lnTo>
                  <a:lnTo>
                    <a:pt x="10903041" y="44684"/>
                  </a:lnTo>
                  <a:lnTo>
                    <a:pt x="10887360" y="21431"/>
                  </a:lnTo>
                  <a:lnTo>
                    <a:pt x="10864107" y="5750"/>
                  </a:lnTo>
                  <a:lnTo>
                    <a:pt x="10835640" y="0"/>
                  </a:lnTo>
                  <a:close/>
                </a:path>
              </a:pathLst>
            </a:custGeom>
            <a:solidFill>
              <a:srgbClr val="FFFFFF"/>
            </a:solidFill>
          </p:spPr>
          <p:txBody>
            <a:bodyPr wrap="square" lIns="0" tIns="0" rIns="0" bIns="0" rtlCol="0"/>
            <a:lstStyle/>
            <a:p>
              <a:endParaRPr/>
            </a:p>
          </p:txBody>
        </p:sp>
        <p:sp>
          <p:nvSpPr>
            <p:cNvPr id="32" name="object 32"/>
            <p:cNvSpPr/>
            <p:nvPr/>
          </p:nvSpPr>
          <p:spPr>
            <a:xfrm>
              <a:off x="640080" y="2697479"/>
              <a:ext cx="10909300" cy="2880360"/>
            </a:xfrm>
            <a:custGeom>
              <a:avLst/>
              <a:gdLst/>
              <a:ahLst/>
              <a:cxnLst/>
              <a:rect l="l" t="t" r="r" b="b"/>
              <a:pathLst>
                <a:path w="10909300" h="2880360">
                  <a:moveTo>
                    <a:pt x="0" y="73152"/>
                  </a:moveTo>
                  <a:lnTo>
                    <a:pt x="5749" y="44684"/>
                  </a:lnTo>
                  <a:lnTo>
                    <a:pt x="21428" y="21431"/>
                  </a:lnTo>
                  <a:lnTo>
                    <a:pt x="44684" y="5750"/>
                  </a:lnTo>
                  <a:lnTo>
                    <a:pt x="73164" y="0"/>
                  </a:lnTo>
                  <a:lnTo>
                    <a:pt x="10835640" y="0"/>
                  </a:lnTo>
                  <a:lnTo>
                    <a:pt x="10864107" y="5750"/>
                  </a:lnTo>
                  <a:lnTo>
                    <a:pt x="10887360" y="21431"/>
                  </a:lnTo>
                  <a:lnTo>
                    <a:pt x="10903041" y="44684"/>
                  </a:lnTo>
                  <a:lnTo>
                    <a:pt x="10908792" y="73152"/>
                  </a:lnTo>
                  <a:lnTo>
                    <a:pt x="10908792" y="2807208"/>
                  </a:lnTo>
                  <a:lnTo>
                    <a:pt x="10903041" y="2835675"/>
                  </a:lnTo>
                  <a:lnTo>
                    <a:pt x="10887360" y="2858928"/>
                  </a:lnTo>
                  <a:lnTo>
                    <a:pt x="10864107" y="2874609"/>
                  </a:lnTo>
                  <a:lnTo>
                    <a:pt x="10835640" y="2880360"/>
                  </a:lnTo>
                  <a:lnTo>
                    <a:pt x="73164" y="2880360"/>
                  </a:lnTo>
                  <a:lnTo>
                    <a:pt x="44684" y="2874609"/>
                  </a:lnTo>
                  <a:lnTo>
                    <a:pt x="21428" y="2858928"/>
                  </a:lnTo>
                  <a:lnTo>
                    <a:pt x="5749" y="2835675"/>
                  </a:lnTo>
                  <a:lnTo>
                    <a:pt x="0" y="2807208"/>
                  </a:lnTo>
                  <a:lnTo>
                    <a:pt x="0" y="73152"/>
                  </a:lnTo>
                  <a:close/>
                </a:path>
              </a:pathLst>
            </a:custGeom>
            <a:ln w="12192">
              <a:solidFill>
                <a:srgbClr val="DDD2C4"/>
              </a:solidFill>
            </a:ln>
          </p:spPr>
          <p:txBody>
            <a:bodyPr wrap="square" lIns="0" tIns="0" rIns="0" bIns="0" rtlCol="0"/>
            <a:lstStyle/>
            <a:p>
              <a:endParaRPr/>
            </a:p>
          </p:txBody>
        </p:sp>
      </p:grpSp>
      <p:sp>
        <p:nvSpPr>
          <p:cNvPr id="33" name="object 33"/>
          <p:cNvSpPr txBox="1">
            <a:spLocks noGrp="1"/>
          </p:cNvSpPr>
          <p:nvPr>
            <p:ph type="body" idx="1"/>
          </p:nvPr>
        </p:nvSpPr>
        <p:spPr>
          <a:xfrm>
            <a:off x="947724" y="2981960"/>
            <a:ext cx="6196330" cy="2532745"/>
          </a:xfrm>
          <a:prstGeom prst="rect">
            <a:avLst/>
          </a:prstGeom>
        </p:spPr>
        <p:txBody>
          <a:bodyPr vert="horz" wrap="square" lIns="0" tIns="11430" rIns="0" bIns="0" rtlCol="0">
            <a:spAutoFit/>
          </a:bodyPr>
          <a:lstStyle/>
          <a:p>
            <a:pPr marL="12700">
              <a:lnSpc>
                <a:spcPct val="100000"/>
              </a:lnSpc>
              <a:spcBef>
                <a:spcPts val="90"/>
              </a:spcBef>
            </a:pPr>
            <a:r>
              <a:rPr sz="1400" b="0"/>
              <a:t>EDA PROCESS</a:t>
            </a:r>
            <a:br/>
            <a:br/>
            <a:r>
              <a:rPr sz="1400" b="0"/>
              <a:t>• Loaded class labels, transaction edges and feature data</a:t>
            </a:r>
            <a:br/>
            <a:r>
              <a:rPr sz="1400" b="0"/>
              <a:t>• Checked dimensions, columns and data types</a:t>
            </a:r>
            <a:br/>
            <a:r>
              <a:rPr sz="1400" b="0"/>
              <a:t>• Counted missing values in the feature dataset</a:t>
            </a:r>
            <a:br/>
            <a:r>
              <a:rPr sz="1400" b="0"/>
              <a:t>• Examined licit, illicit and unknown classes</a:t>
            </a:r>
            <a:br/>
            <a:r>
              <a:rPr sz="1400" b="0"/>
              <a:t>• Analyzed feature distributions and correlations</a:t>
            </a:r>
            <a:br/>
            <a:r>
              <a:rPr sz="1400" b="0"/>
              <a:t>• Studied transaction connectivity</a:t>
            </a:r>
            <a:endParaRPr lang="en-IN" spc="-10" dirty="0"/>
          </a:p>
        </p:txBody>
      </p:sp>
      <p:sp>
        <p:nvSpPr>
          <p:cNvPr id="34" name="object 34"/>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35" name="object 35"/>
          <p:cNvSpPr txBox="1">
            <a:spLocks noGrp="1"/>
          </p:cNvSpPr>
          <p:nvPr>
            <p:ph type="sldNum" sz="quarter" idx="7"/>
          </p:nvPr>
        </p:nvSpPr>
        <p:spPr>
          <a:prstGeom prst="rect">
            <a:avLst/>
          </a:prstGeom>
        </p:spPr>
        <p:txBody>
          <a:bodyPr vert="horz" wrap="square" lIns="0" tIns="0" rIns="0" bIns="0" rtlCol="0">
            <a:spAutoFit/>
          </a:bodyPr>
          <a:lstStyle/>
          <a:p>
            <a:r>
              <a:t>12</a:t>
            </a:r>
          </a:p>
        </p:txBody>
      </p:sp>
      <p:pic>
        <p:nvPicPr>
          <p:cNvPr id="36" name="Picture 35" descr="eda_cell16.png"/>
          <p:cNvPicPr>
            <a:picLocks noChangeAspect="1"/>
          </p:cNvPicPr>
          <p:nvPr/>
        </p:nvPicPr>
        <p:blipFill>
          <a:blip r:embed="rId4"/>
          <a:stretch>
            <a:fillRect/>
          </a:stretch>
        </p:blipFill>
        <p:spPr>
          <a:xfrm>
            <a:off x="7300000" y="2750000"/>
            <a:ext cx="4200000" cy="300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269875" algn="ctr">
              <a:lnSpc>
                <a:spcPct val="100000"/>
              </a:lnSpc>
              <a:spcBef>
                <a:spcPts val="105"/>
              </a:spcBef>
            </a:pPr>
            <a:r>
              <a:rPr sz="2400" b="1"/>
              <a:t>EDA • CLASS LABELS</a:t>
            </a:r>
          </a:p>
        </p:txBody>
      </p:sp>
      <p:sp>
        <p:nvSpPr>
          <p:cNvPr id="3" name="object 3"/>
          <p:cNvSpPr txBox="1"/>
          <p:nvPr/>
        </p:nvSpPr>
        <p:spPr>
          <a:xfrm>
            <a:off x="4935473" y="933449"/>
            <a:ext cx="2315210" cy="201295"/>
          </a:xfrm>
          <a:prstGeom prst="rect">
            <a:avLst/>
          </a:prstGeom>
        </p:spPr>
        <p:txBody>
          <a:bodyPr vert="horz" wrap="square" lIns="0" tIns="12700" rIns="0" bIns="0" rtlCol="0">
            <a:spAutoFit/>
          </a:bodyPr>
          <a:lstStyle/>
          <a:p>
            <a:pPr marL="12700" algn="ctr">
              <a:lnSpc>
                <a:spcPct val="100000"/>
              </a:lnSpc>
              <a:spcBef>
                <a:spcPts val="100"/>
              </a:spcBef>
            </a:pPr>
            <a:r>
              <a:rPr sz="1200" b="0"/>
              <a:t>Licit, illicit and unknown transaction labels</a:t>
            </a:r>
            <a:endParaRPr sz="1150">
              <a:latin typeface="Calibri"/>
              <a:cs typeface="Calibri"/>
            </a:endParaRPr>
          </a:p>
        </p:txBody>
      </p:sp>
      <p:grpSp>
        <p:nvGrpSpPr>
          <p:cNvPr id="9" name="object 9"/>
          <p:cNvGrpSpPr/>
          <p:nvPr/>
        </p:nvGrpSpPr>
        <p:grpSpPr>
          <a:xfrm>
            <a:off x="7229856" y="1310665"/>
            <a:ext cx="4394835" cy="4321810"/>
            <a:chOff x="7229856" y="1310665"/>
            <a:chExt cx="4394835" cy="4321810"/>
          </a:xfrm>
        </p:grpSpPr>
        <p:pic>
          <p:nvPicPr>
            <p:cNvPr id="10" name="object 10"/>
            <p:cNvPicPr/>
            <p:nvPr/>
          </p:nvPicPr>
          <p:blipFill>
            <a:blip r:embed="rId2" cstate="print"/>
            <a:stretch>
              <a:fillRect/>
            </a:stretch>
          </p:blipFill>
          <p:spPr>
            <a:xfrm>
              <a:off x="7229856" y="1310665"/>
              <a:ext cx="4394834" cy="4321683"/>
            </a:xfrm>
            <a:prstGeom prst="rect">
              <a:avLst/>
            </a:prstGeom>
          </p:spPr>
        </p:pic>
        <p:sp>
          <p:nvSpPr>
            <p:cNvPr id="11" name="object 11"/>
            <p:cNvSpPr/>
            <p:nvPr/>
          </p:nvSpPr>
          <p:spPr>
            <a:xfrm>
              <a:off x="7315200" y="1371600"/>
              <a:ext cx="4234180" cy="4160520"/>
            </a:xfrm>
            <a:custGeom>
              <a:avLst/>
              <a:gdLst/>
              <a:ahLst/>
              <a:cxnLst/>
              <a:rect l="l" t="t" r="r" b="b"/>
              <a:pathLst>
                <a:path w="4234180" h="4160520">
                  <a:moveTo>
                    <a:pt x="4160520" y="0"/>
                  </a:moveTo>
                  <a:lnTo>
                    <a:pt x="73151" y="0"/>
                  </a:lnTo>
                  <a:lnTo>
                    <a:pt x="44684" y="5750"/>
                  </a:lnTo>
                  <a:lnTo>
                    <a:pt x="21431" y="21431"/>
                  </a:lnTo>
                  <a:lnTo>
                    <a:pt x="5750" y="44684"/>
                  </a:lnTo>
                  <a:lnTo>
                    <a:pt x="0" y="73151"/>
                  </a:lnTo>
                  <a:lnTo>
                    <a:pt x="0" y="4087368"/>
                  </a:lnTo>
                  <a:lnTo>
                    <a:pt x="5750" y="4115835"/>
                  </a:lnTo>
                  <a:lnTo>
                    <a:pt x="21431" y="4139088"/>
                  </a:lnTo>
                  <a:lnTo>
                    <a:pt x="44684" y="4154769"/>
                  </a:lnTo>
                  <a:lnTo>
                    <a:pt x="73151" y="4160520"/>
                  </a:lnTo>
                  <a:lnTo>
                    <a:pt x="4160520" y="4160520"/>
                  </a:lnTo>
                  <a:lnTo>
                    <a:pt x="4188987" y="4154769"/>
                  </a:lnTo>
                  <a:lnTo>
                    <a:pt x="4212240" y="4139088"/>
                  </a:lnTo>
                  <a:lnTo>
                    <a:pt x="4227921" y="4115835"/>
                  </a:lnTo>
                  <a:lnTo>
                    <a:pt x="4233672" y="4087368"/>
                  </a:lnTo>
                  <a:lnTo>
                    <a:pt x="4233672" y="73151"/>
                  </a:lnTo>
                  <a:lnTo>
                    <a:pt x="4227921" y="44684"/>
                  </a:lnTo>
                  <a:lnTo>
                    <a:pt x="4212240" y="21431"/>
                  </a:lnTo>
                  <a:lnTo>
                    <a:pt x="4188987" y="5750"/>
                  </a:lnTo>
                  <a:lnTo>
                    <a:pt x="4160520" y="0"/>
                  </a:lnTo>
                  <a:close/>
                </a:path>
              </a:pathLst>
            </a:custGeom>
            <a:solidFill>
              <a:srgbClr val="FFFFFF"/>
            </a:solidFill>
          </p:spPr>
          <p:txBody>
            <a:bodyPr wrap="square" lIns="0" tIns="0" rIns="0" bIns="0" rtlCol="0"/>
            <a:lstStyle/>
            <a:p>
              <a:endParaRPr/>
            </a:p>
          </p:txBody>
        </p:sp>
        <p:sp>
          <p:nvSpPr>
            <p:cNvPr id="12" name="object 12"/>
            <p:cNvSpPr/>
            <p:nvPr/>
          </p:nvSpPr>
          <p:spPr>
            <a:xfrm>
              <a:off x="7315200" y="1371600"/>
              <a:ext cx="4234180" cy="4160520"/>
            </a:xfrm>
            <a:custGeom>
              <a:avLst/>
              <a:gdLst/>
              <a:ahLst/>
              <a:cxnLst/>
              <a:rect l="l" t="t" r="r" b="b"/>
              <a:pathLst>
                <a:path w="4234180" h="4160520">
                  <a:moveTo>
                    <a:pt x="0" y="73151"/>
                  </a:moveTo>
                  <a:lnTo>
                    <a:pt x="5750" y="44684"/>
                  </a:lnTo>
                  <a:lnTo>
                    <a:pt x="21431" y="21431"/>
                  </a:lnTo>
                  <a:lnTo>
                    <a:pt x="44684" y="5750"/>
                  </a:lnTo>
                  <a:lnTo>
                    <a:pt x="73151" y="0"/>
                  </a:lnTo>
                  <a:lnTo>
                    <a:pt x="4160520" y="0"/>
                  </a:lnTo>
                  <a:lnTo>
                    <a:pt x="4188987" y="5750"/>
                  </a:lnTo>
                  <a:lnTo>
                    <a:pt x="4212240" y="21431"/>
                  </a:lnTo>
                  <a:lnTo>
                    <a:pt x="4227921" y="44684"/>
                  </a:lnTo>
                  <a:lnTo>
                    <a:pt x="4233672" y="73151"/>
                  </a:lnTo>
                  <a:lnTo>
                    <a:pt x="4233672" y="4087368"/>
                  </a:lnTo>
                  <a:lnTo>
                    <a:pt x="4227921" y="4115835"/>
                  </a:lnTo>
                  <a:lnTo>
                    <a:pt x="4212240" y="4139088"/>
                  </a:lnTo>
                  <a:lnTo>
                    <a:pt x="4188987" y="4154769"/>
                  </a:lnTo>
                  <a:lnTo>
                    <a:pt x="4160520" y="4160520"/>
                  </a:lnTo>
                  <a:lnTo>
                    <a:pt x="73151" y="4160520"/>
                  </a:lnTo>
                  <a:lnTo>
                    <a:pt x="44684" y="4154769"/>
                  </a:lnTo>
                  <a:lnTo>
                    <a:pt x="21431" y="4139088"/>
                  </a:lnTo>
                  <a:lnTo>
                    <a:pt x="5750" y="4115835"/>
                  </a:lnTo>
                  <a:lnTo>
                    <a:pt x="0" y="4087368"/>
                  </a:lnTo>
                  <a:lnTo>
                    <a:pt x="0" y="73151"/>
                  </a:lnTo>
                  <a:close/>
                </a:path>
                <a:path w="4234180" h="4160520">
                  <a:moveTo>
                    <a:pt x="457200" y="1874520"/>
                  </a:moveTo>
                  <a:lnTo>
                    <a:pt x="3776472" y="1874520"/>
                  </a:lnTo>
                </a:path>
              </a:pathLst>
            </a:custGeom>
            <a:ln w="12192">
              <a:solidFill>
                <a:srgbClr val="DDD2C4"/>
              </a:solidFill>
            </a:ln>
          </p:spPr>
          <p:txBody>
            <a:bodyPr wrap="square" lIns="0" tIns="0" rIns="0" bIns="0" rtlCol="0"/>
            <a:lstStyle/>
            <a:p>
              <a:endParaRPr/>
            </a:p>
          </p:txBody>
        </p:sp>
      </p:grpSp>
      <p:sp>
        <p:nvSpPr>
          <p:cNvPr id="13" name="object 13"/>
          <p:cNvSpPr txBox="1"/>
          <p:nvPr/>
        </p:nvSpPr>
        <p:spPr>
          <a:xfrm>
            <a:off x="7703946" y="1651184"/>
            <a:ext cx="3452495" cy="3329757"/>
          </a:xfrm>
          <a:prstGeom prst="rect">
            <a:avLst/>
          </a:prstGeom>
        </p:spPr>
        <p:txBody>
          <a:bodyPr vert="horz" wrap="square" lIns="0" tIns="107314" rIns="0" bIns="0" rtlCol="0">
            <a:spAutoFit/>
          </a:bodyPr>
          <a:lstStyle/>
          <a:p>
            <a:pPr marL="8255" algn="l">
              <a:lnSpc>
                <a:spcPct val="100000"/>
              </a:lnSpc>
              <a:spcBef>
                <a:spcPts val="844"/>
              </a:spcBef>
            </a:pPr>
            <a:r>
              <a:rPr sz="1400" b="0"/>
              <a:t>CLASS LABEL SUMMARY</a:t>
            </a:r>
            <a:br/>
            <a:br/>
            <a:r>
              <a:rPr sz="1400" b="0"/>
              <a:t>203,769 total labels</a:t>
            </a:r>
            <a:br/>
            <a:br/>
            <a:r>
              <a:rPr sz="1400" b="0"/>
              <a:t>157,205  •  UNKNOWN</a:t>
            </a:r>
            <a:br/>
            <a:r>
              <a:rPr sz="1400" b="0"/>
              <a:t>42,019   •  LICIT</a:t>
            </a:r>
            <a:br/>
            <a:r>
              <a:rPr sz="1400" b="0"/>
              <a:t>4,545    •  ILLICIT</a:t>
            </a:r>
            <a:br/>
            <a:br/>
            <a:r>
              <a:rPr sz="1400" b="0"/>
              <a:t>Illicit transactions form a small portion of the labelled data, making class imbalance an important consideration for AML model training and evaluation.</a:t>
            </a:r>
            <a:endParaRPr sz="1400" dirty="0">
              <a:latin typeface="Calibri"/>
              <a:cs typeface="Calibri"/>
            </a:endParaRPr>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r>
              <a:t>13</a:t>
            </a:r>
          </a:p>
        </p:txBody>
      </p:sp>
      <p:pic>
        <p:nvPicPr>
          <p:cNvPr id="16" name="Picture 15" descr="eda_cell19.png"/>
          <p:cNvPicPr>
            <a:picLocks noChangeAspect="1"/>
          </p:cNvPicPr>
          <p:nvPr/>
        </p:nvPicPr>
        <p:blipFill>
          <a:blip r:embed="rId4"/>
          <a:stretch>
            <a:fillRect/>
          </a:stretch>
        </p:blipFill>
        <p:spPr>
          <a:xfrm>
            <a:off x="567309" y="1365121"/>
            <a:ext cx="6755883" cy="418221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489584" algn="ctr">
              <a:lnSpc>
                <a:spcPct val="100000"/>
              </a:lnSpc>
              <a:spcBef>
                <a:spcPts val="105"/>
              </a:spcBef>
            </a:pPr>
            <a:r>
              <a:rPr sz="2400" b="1"/>
              <a:t>EDA • FEATURE DATA</a:t>
            </a:r>
          </a:p>
        </p:txBody>
      </p:sp>
      <p:sp>
        <p:nvSpPr>
          <p:cNvPr id="3" name="object 3"/>
          <p:cNvSpPr txBox="1"/>
          <p:nvPr/>
        </p:nvSpPr>
        <p:spPr>
          <a:xfrm>
            <a:off x="4328921" y="933449"/>
            <a:ext cx="3529965" cy="201295"/>
          </a:xfrm>
          <a:prstGeom prst="rect">
            <a:avLst/>
          </a:prstGeom>
        </p:spPr>
        <p:txBody>
          <a:bodyPr vert="horz" wrap="square" lIns="0" tIns="12700" rIns="0" bIns="0" rtlCol="0">
            <a:spAutoFit/>
          </a:bodyPr>
          <a:lstStyle/>
          <a:p>
            <a:pPr marL="12700" algn="ctr">
              <a:lnSpc>
                <a:spcPct val="100000"/>
              </a:lnSpc>
              <a:spcBef>
                <a:spcPts val="100"/>
              </a:spcBef>
            </a:pPr>
            <a:r>
              <a:rPr sz="1200" b="0"/>
              <a:t>Selected transaction feature distributions</a:t>
            </a:r>
            <a:endParaRPr sz="1150">
              <a:latin typeface="Calibri"/>
              <a:cs typeface="Calibri"/>
            </a:endParaRPr>
          </a:p>
        </p:txBody>
      </p:sp>
      <p:grpSp>
        <p:nvGrpSpPr>
          <p:cNvPr id="9" name="object 9"/>
          <p:cNvGrpSpPr/>
          <p:nvPr/>
        </p:nvGrpSpPr>
        <p:grpSpPr>
          <a:xfrm>
            <a:off x="7595616" y="1310665"/>
            <a:ext cx="4029075" cy="4321810"/>
            <a:chOff x="7595616" y="1310665"/>
            <a:chExt cx="4029075" cy="4321810"/>
          </a:xfrm>
        </p:grpSpPr>
        <p:pic>
          <p:nvPicPr>
            <p:cNvPr id="10" name="object 10"/>
            <p:cNvPicPr/>
            <p:nvPr/>
          </p:nvPicPr>
          <p:blipFill>
            <a:blip r:embed="rId2" cstate="print"/>
            <a:stretch>
              <a:fillRect/>
            </a:stretch>
          </p:blipFill>
          <p:spPr>
            <a:xfrm>
              <a:off x="7595616" y="1310665"/>
              <a:ext cx="4029075" cy="4321683"/>
            </a:xfrm>
            <a:prstGeom prst="rect">
              <a:avLst/>
            </a:prstGeom>
          </p:spPr>
        </p:pic>
        <p:sp>
          <p:nvSpPr>
            <p:cNvPr id="11" name="object 11"/>
            <p:cNvSpPr/>
            <p:nvPr/>
          </p:nvSpPr>
          <p:spPr>
            <a:xfrm>
              <a:off x="7680960" y="1371600"/>
              <a:ext cx="3868420" cy="4160520"/>
            </a:xfrm>
            <a:custGeom>
              <a:avLst/>
              <a:gdLst/>
              <a:ahLst/>
              <a:cxnLst/>
              <a:rect l="l" t="t" r="r" b="b"/>
              <a:pathLst>
                <a:path w="3868420" h="4160520">
                  <a:moveTo>
                    <a:pt x="3794760" y="0"/>
                  </a:moveTo>
                  <a:lnTo>
                    <a:pt x="73151" y="0"/>
                  </a:lnTo>
                  <a:lnTo>
                    <a:pt x="44684" y="5750"/>
                  </a:lnTo>
                  <a:lnTo>
                    <a:pt x="21431" y="21431"/>
                  </a:lnTo>
                  <a:lnTo>
                    <a:pt x="5750" y="44684"/>
                  </a:lnTo>
                  <a:lnTo>
                    <a:pt x="0" y="73151"/>
                  </a:lnTo>
                  <a:lnTo>
                    <a:pt x="0" y="4087368"/>
                  </a:lnTo>
                  <a:lnTo>
                    <a:pt x="5750" y="4115835"/>
                  </a:lnTo>
                  <a:lnTo>
                    <a:pt x="21431" y="4139088"/>
                  </a:lnTo>
                  <a:lnTo>
                    <a:pt x="44684" y="4154769"/>
                  </a:lnTo>
                  <a:lnTo>
                    <a:pt x="73151" y="4160520"/>
                  </a:lnTo>
                  <a:lnTo>
                    <a:pt x="3794760" y="4160520"/>
                  </a:lnTo>
                  <a:lnTo>
                    <a:pt x="3823227" y="4154769"/>
                  </a:lnTo>
                  <a:lnTo>
                    <a:pt x="3846480" y="4139088"/>
                  </a:lnTo>
                  <a:lnTo>
                    <a:pt x="3862161" y="4115835"/>
                  </a:lnTo>
                  <a:lnTo>
                    <a:pt x="3867912" y="4087368"/>
                  </a:lnTo>
                  <a:lnTo>
                    <a:pt x="3867912" y="73151"/>
                  </a:lnTo>
                  <a:lnTo>
                    <a:pt x="3862161" y="44684"/>
                  </a:lnTo>
                  <a:lnTo>
                    <a:pt x="3846480" y="21431"/>
                  </a:lnTo>
                  <a:lnTo>
                    <a:pt x="3823227" y="5750"/>
                  </a:lnTo>
                  <a:lnTo>
                    <a:pt x="3794760" y="0"/>
                  </a:lnTo>
                  <a:close/>
                </a:path>
              </a:pathLst>
            </a:custGeom>
            <a:solidFill>
              <a:srgbClr val="FFFFFF"/>
            </a:solidFill>
          </p:spPr>
          <p:txBody>
            <a:bodyPr wrap="square" lIns="0" tIns="0" rIns="0" bIns="0" rtlCol="0"/>
            <a:lstStyle/>
            <a:p>
              <a:endParaRPr/>
            </a:p>
          </p:txBody>
        </p:sp>
        <p:sp>
          <p:nvSpPr>
            <p:cNvPr id="12" name="object 12"/>
            <p:cNvSpPr/>
            <p:nvPr/>
          </p:nvSpPr>
          <p:spPr>
            <a:xfrm>
              <a:off x="7680960" y="1371600"/>
              <a:ext cx="3868420" cy="4160520"/>
            </a:xfrm>
            <a:custGeom>
              <a:avLst/>
              <a:gdLst/>
              <a:ahLst/>
              <a:cxnLst/>
              <a:rect l="l" t="t" r="r" b="b"/>
              <a:pathLst>
                <a:path w="3868420" h="4160520">
                  <a:moveTo>
                    <a:pt x="0" y="73151"/>
                  </a:moveTo>
                  <a:lnTo>
                    <a:pt x="5750" y="44684"/>
                  </a:lnTo>
                  <a:lnTo>
                    <a:pt x="21431" y="21431"/>
                  </a:lnTo>
                  <a:lnTo>
                    <a:pt x="44684" y="5750"/>
                  </a:lnTo>
                  <a:lnTo>
                    <a:pt x="73151" y="0"/>
                  </a:lnTo>
                  <a:lnTo>
                    <a:pt x="3794760" y="0"/>
                  </a:lnTo>
                  <a:lnTo>
                    <a:pt x="3823227" y="5750"/>
                  </a:lnTo>
                  <a:lnTo>
                    <a:pt x="3846480" y="21431"/>
                  </a:lnTo>
                  <a:lnTo>
                    <a:pt x="3862161" y="44684"/>
                  </a:lnTo>
                  <a:lnTo>
                    <a:pt x="3867912" y="73151"/>
                  </a:lnTo>
                  <a:lnTo>
                    <a:pt x="3867912" y="4087368"/>
                  </a:lnTo>
                  <a:lnTo>
                    <a:pt x="3862161" y="4115835"/>
                  </a:lnTo>
                  <a:lnTo>
                    <a:pt x="3846480" y="4139088"/>
                  </a:lnTo>
                  <a:lnTo>
                    <a:pt x="3823227" y="4154769"/>
                  </a:lnTo>
                  <a:lnTo>
                    <a:pt x="3794760" y="4160520"/>
                  </a:lnTo>
                  <a:lnTo>
                    <a:pt x="73151" y="4160520"/>
                  </a:lnTo>
                  <a:lnTo>
                    <a:pt x="44684" y="4154769"/>
                  </a:lnTo>
                  <a:lnTo>
                    <a:pt x="21431" y="4139088"/>
                  </a:lnTo>
                  <a:lnTo>
                    <a:pt x="5750" y="4115835"/>
                  </a:lnTo>
                  <a:lnTo>
                    <a:pt x="0" y="4087368"/>
                  </a:lnTo>
                  <a:lnTo>
                    <a:pt x="0" y="73151"/>
                  </a:lnTo>
                  <a:close/>
                </a:path>
              </a:pathLst>
            </a:custGeom>
            <a:ln w="12192">
              <a:solidFill>
                <a:srgbClr val="DDD2C4"/>
              </a:solidFill>
            </a:ln>
          </p:spPr>
          <p:txBody>
            <a:bodyPr wrap="square" lIns="0" tIns="0" rIns="0" bIns="0" rtlCol="0"/>
            <a:lstStyle/>
            <a:p>
              <a:endParaRPr/>
            </a:p>
          </p:txBody>
        </p:sp>
      </p:grpSp>
      <p:sp>
        <p:nvSpPr>
          <p:cNvPr id="13" name="object 13"/>
          <p:cNvSpPr txBox="1"/>
          <p:nvPr/>
        </p:nvSpPr>
        <p:spPr>
          <a:xfrm>
            <a:off x="7944357" y="1701164"/>
            <a:ext cx="1453515" cy="238125"/>
          </a:xfrm>
          <a:prstGeom prst="rect">
            <a:avLst/>
          </a:prstGeom>
        </p:spPr>
        <p:txBody>
          <a:bodyPr vert="horz" wrap="square" lIns="0" tIns="11430" rIns="0" bIns="0" rtlCol="0">
            <a:spAutoFit/>
          </a:bodyPr>
          <a:lstStyle/>
          <a:p>
            <a:pPr marL="12700">
              <a:lnSpc>
                <a:spcPct val="100000"/>
              </a:lnSpc>
              <a:spcBef>
                <a:spcPts val="90"/>
              </a:spcBef>
            </a:pPr>
            <a:r>
              <a:rPr sz="1400" b="1" spc="-20" dirty="0">
                <a:solidFill>
                  <a:srgbClr val="C00000"/>
                </a:solidFill>
                <a:latin typeface="Calibri"/>
                <a:cs typeface="Calibri"/>
              </a:rPr>
              <a:t>WHAT</a:t>
            </a:r>
            <a:r>
              <a:rPr sz="1400" b="1" spc="-30" dirty="0">
                <a:solidFill>
                  <a:srgbClr val="C00000"/>
                </a:solidFill>
                <a:latin typeface="Calibri"/>
                <a:cs typeface="Calibri"/>
              </a:rPr>
              <a:t> </a:t>
            </a:r>
            <a:r>
              <a:rPr sz="1400" b="1" dirty="0">
                <a:solidFill>
                  <a:srgbClr val="C00000"/>
                </a:solidFill>
                <a:latin typeface="Calibri"/>
                <a:cs typeface="Calibri"/>
              </a:rPr>
              <a:t>THIS</a:t>
            </a:r>
            <a:r>
              <a:rPr sz="1400" b="1" spc="-40" dirty="0">
                <a:solidFill>
                  <a:srgbClr val="C00000"/>
                </a:solidFill>
                <a:latin typeface="Calibri"/>
                <a:cs typeface="Calibri"/>
              </a:rPr>
              <a:t> </a:t>
            </a:r>
            <a:r>
              <a:rPr sz="1400" b="1" spc="-20" dirty="0">
                <a:solidFill>
                  <a:srgbClr val="C00000"/>
                </a:solidFill>
                <a:latin typeface="Calibri"/>
                <a:cs typeface="Calibri"/>
              </a:rPr>
              <a:t>SHOWS</a:t>
            </a:r>
            <a:endParaRPr sz="1400">
              <a:latin typeface="Calibri"/>
              <a:cs typeface="Calibri"/>
            </a:endParaRPr>
          </a:p>
        </p:txBody>
      </p:sp>
      <p:sp>
        <p:nvSpPr>
          <p:cNvPr id="17" name="object 17"/>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r>
              <a:t>14</a:t>
            </a:r>
          </a:p>
        </p:txBody>
      </p:sp>
      <p:sp>
        <p:nvSpPr>
          <p:cNvPr id="14" name="object 14"/>
          <p:cNvSpPr txBox="1"/>
          <p:nvPr/>
        </p:nvSpPr>
        <p:spPr>
          <a:xfrm>
            <a:off x="7858886" y="2000224"/>
            <a:ext cx="3255010" cy="2813591"/>
          </a:xfrm>
          <a:prstGeom prst="rect">
            <a:avLst/>
          </a:prstGeom>
        </p:spPr>
        <p:txBody>
          <a:bodyPr vert="horz" wrap="square" lIns="0" tIns="12700" rIns="0" bIns="0" rtlCol="0">
            <a:spAutoFit/>
          </a:bodyPr>
          <a:lstStyle/>
          <a:p>
            <a:pPr marL="285750" lvl="0" indent="-285750" algn="l">
              <a:buFont typeface="Arial" panose="020B0604020202020204" pitchFamily="34" charset="0"/>
              <a:buChar char="•"/>
            </a:pPr>
            <a:r>
              <a:rPr sz="1300" b="0"/>
              <a:t>Selected numerical features show different distributions.</a:t>
            </a:r>
            <a:br/>
            <a:br/>
            <a:r>
              <a:rPr sz="1300" b="0"/>
              <a:t>The plots reveal skewness, spread and unusual values.</a:t>
            </a:r>
            <a:br/>
            <a:br/>
            <a:r>
              <a:rPr sz="1300" b="0"/>
              <a:t>These observations support preprocessing and feature preparation.</a:t>
            </a:r>
            <a:br/>
            <a:br/>
            <a:r>
              <a:rPr sz="1300" b="0"/>
              <a:t>Plots use a 100,000-row sample of selected features.</a:t>
            </a:r>
          </a:p>
        </p:txBody>
      </p:sp>
      <p:pic>
        <p:nvPicPr>
          <p:cNvPr id="19" name="Picture 18" descr="eda_cell21.png"/>
          <p:cNvPicPr>
            <a:picLocks noChangeAspect="1"/>
          </p:cNvPicPr>
          <p:nvPr/>
        </p:nvPicPr>
        <p:blipFill>
          <a:blip r:embed="rId4"/>
          <a:stretch>
            <a:fillRect/>
          </a:stretch>
        </p:blipFill>
        <p:spPr>
          <a:xfrm>
            <a:off x="1524000" y="1310665"/>
            <a:ext cx="4450526" cy="474680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630672" y="341122"/>
            <a:ext cx="4056127" cy="352019"/>
          </a:xfrm>
          <a:prstGeom prst="rect">
            <a:avLst/>
          </a:prstGeom>
        </p:spPr>
        <p:txBody>
          <a:bodyPr vert="horz" wrap="square" lIns="0" tIns="13335" rIns="0" bIns="0" rtlCol="0">
            <a:spAutoFit/>
          </a:bodyPr>
          <a:lstStyle/>
          <a:p>
            <a:pPr marL="12700" algn="ctr">
              <a:lnSpc>
                <a:spcPct val="100000"/>
              </a:lnSpc>
              <a:spcBef>
                <a:spcPts val="105"/>
              </a:spcBef>
            </a:pPr>
            <a:r>
              <a:rPr sz="2200" b="1"/>
              <a:t>EDA • CORRELATION &amp; OUTLIERS</a:t>
            </a:r>
            <a:endParaRPr spc="-10" dirty="0"/>
          </a:p>
        </p:txBody>
      </p:sp>
      <p:sp>
        <p:nvSpPr>
          <p:cNvPr id="3" name="object 3"/>
          <p:cNvSpPr txBox="1"/>
          <p:nvPr/>
        </p:nvSpPr>
        <p:spPr>
          <a:xfrm>
            <a:off x="4618482" y="933449"/>
            <a:ext cx="3458718" cy="197490"/>
          </a:xfrm>
          <a:prstGeom prst="rect">
            <a:avLst/>
          </a:prstGeom>
        </p:spPr>
        <p:txBody>
          <a:bodyPr vert="horz" wrap="square" lIns="0" tIns="12700" rIns="0" bIns="0" rtlCol="0">
            <a:spAutoFit/>
          </a:bodyPr>
          <a:lstStyle/>
          <a:p>
            <a:pPr marL="12700" algn="ctr">
              <a:lnSpc>
                <a:spcPct val="100000"/>
              </a:lnSpc>
              <a:spcBef>
                <a:spcPts val="100"/>
              </a:spcBef>
            </a:pPr>
            <a:r>
              <a:rPr sz="1200" b="0"/>
              <a:t>Feature relationships and extreme values</a:t>
            </a:r>
            <a:endParaRPr sz="1150" i="1" dirty="0">
              <a:latin typeface="Calibri"/>
              <a:cs typeface="Calibri"/>
            </a:endParaRPr>
          </a:p>
        </p:txBody>
      </p:sp>
      <p:sp>
        <p:nvSpPr>
          <p:cNvPr id="9" name="object 9"/>
          <p:cNvSpPr txBox="1"/>
          <p:nvPr/>
        </p:nvSpPr>
        <p:spPr>
          <a:xfrm>
            <a:off x="2393442" y="5284089"/>
            <a:ext cx="2378710" cy="197490"/>
          </a:xfrm>
          <a:prstGeom prst="rect">
            <a:avLst/>
          </a:prstGeom>
        </p:spPr>
        <p:txBody>
          <a:bodyPr vert="horz" wrap="square" lIns="0" tIns="12700" rIns="0" bIns="0" rtlCol="0">
            <a:spAutoFit/>
          </a:bodyPr>
          <a:lstStyle/>
          <a:p>
            <a:pPr marL="12700">
              <a:lnSpc>
                <a:spcPct val="100000"/>
              </a:lnSpc>
              <a:spcBef>
                <a:spcPts val="100"/>
              </a:spcBef>
            </a:pPr>
            <a:r>
              <a:t>SELECTED FEATURE BOXPLOT</a:t>
            </a:r>
            <a:endParaRPr sz="1200" b="1" dirty="0">
              <a:solidFill>
                <a:srgbClr val="C00000"/>
              </a:solidFill>
              <a:latin typeface="Calibri"/>
              <a:cs typeface="Calibri"/>
            </a:endParaRPr>
          </a:p>
        </p:txBody>
      </p:sp>
      <p:sp>
        <p:nvSpPr>
          <p:cNvPr id="15" name="object 15"/>
          <p:cNvSpPr txBox="1"/>
          <p:nvPr/>
        </p:nvSpPr>
        <p:spPr>
          <a:xfrm>
            <a:off x="7579182" y="5284089"/>
            <a:ext cx="2741295" cy="197490"/>
          </a:xfrm>
          <a:prstGeom prst="rect">
            <a:avLst/>
          </a:prstGeom>
        </p:spPr>
        <p:txBody>
          <a:bodyPr vert="horz" wrap="square" lIns="0" tIns="12700" rIns="0" bIns="0" rtlCol="0">
            <a:spAutoFit/>
          </a:bodyPr>
          <a:lstStyle/>
          <a:p>
            <a:pPr marL="12700">
              <a:lnSpc>
                <a:spcPct val="100000"/>
              </a:lnSpc>
              <a:spcBef>
                <a:spcPts val="100"/>
              </a:spcBef>
            </a:pPr>
            <a:r>
              <a:t>CORRELATION HEATMAP</a:t>
            </a:r>
            <a:endParaRPr sz="1200" b="1" dirty="0">
              <a:solidFill>
                <a:srgbClr val="C00000"/>
              </a:solidFill>
              <a:latin typeface="Calibri"/>
              <a:cs typeface="Calibri"/>
            </a:endParaRPr>
          </a:p>
        </p:txBody>
      </p:sp>
      <p:sp>
        <p:nvSpPr>
          <p:cNvPr id="16" name="object 16"/>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r>
              <a:t>15</a:t>
            </a:r>
          </a:p>
        </p:txBody>
      </p:sp>
      <p:pic>
        <p:nvPicPr>
          <p:cNvPr id="18" name="Picture 17" descr="eda_cell22.png"/>
          <p:cNvPicPr>
            <a:picLocks noChangeAspect="1"/>
          </p:cNvPicPr>
          <p:nvPr/>
        </p:nvPicPr>
        <p:blipFill>
          <a:blip r:embed="rId4"/>
          <a:stretch>
            <a:fillRect/>
          </a:stretch>
        </p:blipFill>
        <p:spPr>
          <a:xfrm>
            <a:off x="802132" y="1295400"/>
            <a:ext cx="4876800" cy="3857749"/>
          </a:xfrm>
          <a:prstGeom prst="rect">
            <a:avLst/>
          </a:prstGeom>
        </p:spPr>
      </p:pic>
      <p:pic>
        <p:nvPicPr>
          <p:cNvPr id="19" name="Picture 18" descr="eda_cell24.png"/>
          <p:cNvPicPr>
            <a:picLocks noChangeAspect="1"/>
          </p:cNvPicPr>
          <p:nvPr/>
        </p:nvPicPr>
        <p:blipFill>
          <a:blip r:embed="rId5"/>
          <a:stretch>
            <a:fillRect/>
          </a:stretch>
        </p:blipFill>
        <p:spPr>
          <a:xfrm>
            <a:off x="6124936" y="1295399"/>
            <a:ext cx="5264931" cy="385774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544830" algn="ctr">
              <a:lnSpc>
                <a:spcPct val="100000"/>
              </a:lnSpc>
              <a:spcBef>
                <a:spcPts val="105"/>
              </a:spcBef>
            </a:pPr>
            <a:r>
              <a:rPr sz="2400" b="1"/>
              <a:t>EDA • GRAPH STRUCTURE</a:t>
            </a:r>
          </a:p>
        </p:txBody>
      </p:sp>
      <p:sp>
        <p:nvSpPr>
          <p:cNvPr id="3" name="object 3"/>
          <p:cNvSpPr txBox="1"/>
          <p:nvPr/>
        </p:nvSpPr>
        <p:spPr>
          <a:xfrm>
            <a:off x="4166572" y="960120"/>
            <a:ext cx="3867276" cy="197490"/>
          </a:xfrm>
          <a:prstGeom prst="rect">
            <a:avLst/>
          </a:prstGeom>
        </p:spPr>
        <p:txBody>
          <a:bodyPr vert="horz" wrap="square" lIns="0" tIns="12700" rIns="0" bIns="0" rtlCol="0">
            <a:spAutoFit/>
          </a:bodyPr>
          <a:lstStyle/>
          <a:p>
            <a:pPr marL="12700" algn="ctr">
              <a:lnSpc>
                <a:spcPct val="100000"/>
              </a:lnSpc>
              <a:spcBef>
                <a:spcPts val="100"/>
              </a:spcBef>
            </a:pPr>
            <a:r>
              <a:rPr sz="1200" b="0"/>
              <a:t>Structure derived from the transaction edge list</a:t>
            </a:r>
            <a:endParaRPr sz="1150" i="1" dirty="0">
              <a:latin typeface="Calibri"/>
              <a:cs typeface="Calibri"/>
            </a:endParaRPr>
          </a:p>
        </p:txBody>
      </p:sp>
      <p:sp>
        <p:nvSpPr>
          <p:cNvPr id="8" name="object 8"/>
          <p:cNvSpPr txBox="1"/>
          <p:nvPr/>
        </p:nvSpPr>
        <p:spPr>
          <a:xfrm>
            <a:off x="810564" y="1640204"/>
            <a:ext cx="1311275" cy="212238"/>
          </a:xfrm>
          <a:prstGeom prst="rect">
            <a:avLst/>
          </a:prstGeom>
        </p:spPr>
        <p:txBody>
          <a:bodyPr vert="horz" wrap="square" lIns="0" tIns="12065" rIns="0" bIns="0" rtlCol="0">
            <a:spAutoFit/>
          </a:bodyPr>
          <a:lstStyle/>
          <a:p>
            <a:pPr marL="12700">
              <a:lnSpc>
                <a:spcPct val="100000"/>
              </a:lnSpc>
              <a:spcBef>
                <a:spcPts val="95"/>
              </a:spcBef>
            </a:pPr>
            <a:r>
              <a:t>GRAPH DATA</a:t>
            </a:r>
            <a:endParaRPr sz="1300" dirty="0">
              <a:latin typeface="Calibri"/>
              <a:cs typeface="Calibri"/>
            </a:endParaRPr>
          </a:p>
        </p:txBody>
      </p:sp>
      <p:sp>
        <p:nvSpPr>
          <p:cNvPr id="9" name="object 9"/>
          <p:cNvSpPr txBox="1"/>
          <p:nvPr/>
        </p:nvSpPr>
        <p:spPr>
          <a:xfrm>
            <a:off x="810564" y="2069668"/>
            <a:ext cx="3654425" cy="227626"/>
          </a:xfrm>
          <a:prstGeom prst="rect">
            <a:avLst/>
          </a:prstGeom>
        </p:spPr>
        <p:txBody>
          <a:bodyPr vert="horz" wrap="square" lIns="0" tIns="12065" rIns="0" bIns="0" rtlCol="0">
            <a:spAutoFit/>
          </a:bodyPr>
          <a:lstStyle/>
          <a:p>
            <a:pPr marL="12700">
              <a:lnSpc>
                <a:spcPct val="100000"/>
              </a:lnSpc>
              <a:spcBef>
                <a:spcPts val="95"/>
              </a:spcBef>
            </a:pPr>
            <a:r>
              <a:t>Elliptic transaction network</a:t>
            </a:r>
            <a:endParaRPr sz="1300" b="1" dirty="0">
              <a:latin typeface="Calibri"/>
              <a:cs typeface="Calibri"/>
            </a:endParaRPr>
          </a:p>
        </p:txBody>
      </p:sp>
      <p:sp>
        <p:nvSpPr>
          <p:cNvPr id="10" name="object 10"/>
          <p:cNvSpPr txBox="1"/>
          <p:nvPr/>
        </p:nvSpPr>
        <p:spPr>
          <a:xfrm>
            <a:off x="810564" y="2585465"/>
            <a:ext cx="633730" cy="172085"/>
          </a:xfrm>
          <a:prstGeom prst="rect">
            <a:avLst/>
          </a:prstGeom>
        </p:spPr>
        <p:txBody>
          <a:bodyPr vert="horz" wrap="square" lIns="0" tIns="13970" rIns="0" bIns="0" rtlCol="0">
            <a:spAutoFit/>
          </a:bodyPr>
          <a:lstStyle/>
          <a:p>
            <a:pPr marL="12700">
              <a:lnSpc>
                <a:spcPct val="100000"/>
              </a:lnSpc>
              <a:spcBef>
                <a:spcPts val="110"/>
              </a:spcBef>
            </a:pPr>
            <a:r>
              <a:t>TRANSACTION EDGES</a:t>
            </a:r>
            <a:endParaRPr sz="950">
              <a:latin typeface="Calibri"/>
              <a:cs typeface="Calibri"/>
            </a:endParaRPr>
          </a:p>
        </p:txBody>
      </p:sp>
      <p:sp>
        <p:nvSpPr>
          <p:cNvPr id="11" name="object 11"/>
          <p:cNvSpPr txBox="1"/>
          <p:nvPr/>
        </p:nvSpPr>
        <p:spPr>
          <a:xfrm>
            <a:off x="2685414" y="2585466"/>
            <a:ext cx="2038986" cy="197490"/>
          </a:xfrm>
          <a:prstGeom prst="rect">
            <a:avLst/>
          </a:prstGeom>
        </p:spPr>
        <p:txBody>
          <a:bodyPr vert="horz" wrap="square" lIns="0" tIns="12700" rIns="0" bIns="0" rtlCol="0">
            <a:spAutoFit/>
          </a:bodyPr>
          <a:lstStyle/>
          <a:p>
            <a:pPr marL="12700">
              <a:lnSpc>
                <a:spcPct val="100000"/>
              </a:lnSpc>
              <a:spcBef>
                <a:spcPts val="100"/>
              </a:spcBef>
            </a:pPr>
            <a:r>
              <a:t>234,355</a:t>
            </a:r>
            <a:endParaRPr sz="1150" dirty="0">
              <a:latin typeface="Calibri"/>
              <a:cs typeface="Calibri"/>
            </a:endParaRPr>
          </a:p>
        </p:txBody>
      </p:sp>
      <p:sp>
        <p:nvSpPr>
          <p:cNvPr id="12" name="object 12"/>
          <p:cNvSpPr txBox="1"/>
          <p:nvPr/>
        </p:nvSpPr>
        <p:spPr>
          <a:xfrm>
            <a:off x="810564" y="3088639"/>
            <a:ext cx="427355" cy="172085"/>
          </a:xfrm>
          <a:prstGeom prst="rect">
            <a:avLst/>
          </a:prstGeom>
        </p:spPr>
        <p:txBody>
          <a:bodyPr vert="horz" wrap="square" lIns="0" tIns="13970" rIns="0" bIns="0" rtlCol="0">
            <a:spAutoFit/>
          </a:bodyPr>
          <a:lstStyle/>
          <a:p>
            <a:pPr marL="12700">
              <a:lnSpc>
                <a:spcPct val="100000"/>
              </a:lnSpc>
              <a:spcBef>
                <a:spcPts val="110"/>
              </a:spcBef>
            </a:pPr>
            <a:r>
              <a:t>UNIQUE SOURCES</a:t>
            </a:r>
            <a:endParaRPr sz="950">
              <a:latin typeface="Calibri"/>
              <a:cs typeface="Calibri"/>
            </a:endParaRPr>
          </a:p>
        </p:txBody>
      </p:sp>
      <p:sp>
        <p:nvSpPr>
          <p:cNvPr id="13" name="object 13"/>
          <p:cNvSpPr txBox="1"/>
          <p:nvPr/>
        </p:nvSpPr>
        <p:spPr>
          <a:xfrm>
            <a:off x="2685414" y="3088639"/>
            <a:ext cx="1454150" cy="197490"/>
          </a:xfrm>
          <a:prstGeom prst="rect">
            <a:avLst/>
          </a:prstGeom>
        </p:spPr>
        <p:txBody>
          <a:bodyPr vert="horz" wrap="square" lIns="0" tIns="12700" rIns="0" bIns="0" rtlCol="0">
            <a:spAutoFit/>
          </a:bodyPr>
          <a:lstStyle/>
          <a:p>
            <a:pPr marL="12700">
              <a:lnSpc>
                <a:spcPct val="100000"/>
              </a:lnSpc>
              <a:spcBef>
                <a:spcPts val="100"/>
              </a:spcBef>
            </a:pPr>
            <a:r>
              <a:t>166,345</a:t>
            </a:r>
            <a:endParaRPr sz="1150" dirty="0">
              <a:latin typeface="Calibri"/>
              <a:cs typeface="Calibri"/>
            </a:endParaRPr>
          </a:p>
        </p:txBody>
      </p:sp>
      <p:sp>
        <p:nvSpPr>
          <p:cNvPr id="14" name="object 14"/>
          <p:cNvSpPr txBox="1"/>
          <p:nvPr/>
        </p:nvSpPr>
        <p:spPr>
          <a:xfrm>
            <a:off x="810564" y="3591814"/>
            <a:ext cx="832485" cy="172085"/>
          </a:xfrm>
          <a:prstGeom prst="rect">
            <a:avLst/>
          </a:prstGeom>
        </p:spPr>
        <p:txBody>
          <a:bodyPr vert="horz" wrap="square" lIns="0" tIns="13970" rIns="0" bIns="0" rtlCol="0">
            <a:spAutoFit/>
          </a:bodyPr>
          <a:lstStyle/>
          <a:p>
            <a:pPr marL="12700">
              <a:lnSpc>
                <a:spcPct val="100000"/>
              </a:lnSpc>
              <a:spcBef>
                <a:spcPts val="110"/>
              </a:spcBef>
            </a:pPr>
            <a:r>
              <a:t>UNIQUE DESTINATIONS</a:t>
            </a:r>
            <a:endParaRPr sz="950">
              <a:latin typeface="Calibri"/>
              <a:cs typeface="Calibri"/>
            </a:endParaRPr>
          </a:p>
        </p:txBody>
      </p:sp>
      <p:sp>
        <p:nvSpPr>
          <p:cNvPr id="15" name="object 15"/>
          <p:cNvSpPr txBox="1"/>
          <p:nvPr/>
        </p:nvSpPr>
        <p:spPr>
          <a:xfrm>
            <a:off x="2685414" y="3591814"/>
            <a:ext cx="2172335" cy="197490"/>
          </a:xfrm>
          <a:prstGeom prst="rect">
            <a:avLst/>
          </a:prstGeom>
        </p:spPr>
        <p:txBody>
          <a:bodyPr vert="horz" wrap="square" lIns="0" tIns="12700" rIns="0" bIns="0" rtlCol="0">
            <a:spAutoFit/>
          </a:bodyPr>
          <a:lstStyle/>
          <a:p>
            <a:pPr marL="12700">
              <a:lnSpc>
                <a:spcPct val="100000"/>
              </a:lnSpc>
              <a:spcBef>
                <a:spcPts val="100"/>
              </a:spcBef>
            </a:pPr>
            <a:r>
              <a:t>148,447</a:t>
            </a:r>
            <a:endParaRPr sz="1150" dirty="0">
              <a:latin typeface="Calibri"/>
              <a:cs typeface="Calibri"/>
            </a:endParaRPr>
          </a:p>
        </p:txBody>
      </p:sp>
      <p:sp>
        <p:nvSpPr>
          <p:cNvPr id="16" name="object 16"/>
          <p:cNvSpPr txBox="1"/>
          <p:nvPr/>
        </p:nvSpPr>
        <p:spPr>
          <a:xfrm>
            <a:off x="810564" y="4094429"/>
            <a:ext cx="775970" cy="172085"/>
          </a:xfrm>
          <a:prstGeom prst="rect">
            <a:avLst/>
          </a:prstGeom>
        </p:spPr>
        <p:txBody>
          <a:bodyPr vert="horz" wrap="square" lIns="0" tIns="13970" rIns="0" bIns="0" rtlCol="0">
            <a:spAutoFit/>
          </a:bodyPr>
          <a:lstStyle/>
          <a:p>
            <a:pPr marL="12700">
              <a:lnSpc>
                <a:spcPct val="100000"/>
              </a:lnSpc>
              <a:spcBef>
                <a:spcPts val="110"/>
              </a:spcBef>
            </a:pPr>
            <a:r>
              <a:t>AVG. OUTGOING</a:t>
            </a:r>
            <a:endParaRPr sz="950">
              <a:latin typeface="Calibri"/>
              <a:cs typeface="Calibri"/>
            </a:endParaRPr>
          </a:p>
        </p:txBody>
      </p:sp>
      <p:sp>
        <p:nvSpPr>
          <p:cNvPr id="17" name="object 17"/>
          <p:cNvSpPr txBox="1"/>
          <p:nvPr/>
        </p:nvSpPr>
        <p:spPr>
          <a:xfrm>
            <a:off x="2685414" y="4094429"/>
            <a:ext cx="1800225" cy="198131"/>
          </a:xfrm>
          <a:prstGeom prst="rect">
            <a:avLst/>
          </a:prstGeom>
        </p:spPr>
        <p:txBody>
          <a:bodyPr vert="horz" wrap="square" lIns="0" tIns="13335" rIns="0" bIns="0" rtlCol="0">
            <a:spAutoFit/>
          </a:bodyPr>
          <a:lstStyle/>
          <a:p>
            <a:pPr marL="12700">
              <a:lnSpc>
                <a:spcPct val="100000"/>
              </a:lnSpc>
              <a:spcBef>
                <a:spcPts val="105"/>
              </a:spcBef>
            </a:pPr>
            <a:r>
              <a:t>1.41</a:t>
            </a:r>
            <a:endParaRPr sz="1150" dirty="0">
              <a:latin typeface="Calibri"/>
              <a:cs typeface="Calibri"/>
            </a:endParaRPr>
          </a:p>
        </p:txBody>
      </p:sp>
      <p:sp>
        <p:nvSpPr>
          <p:cNvPr id="18" name="object 18"/>
          <p:cNvSpPr txBox="1"/>
          <p:nvPr/>
        </p:nvSpPr>
        <p:spPr>
          <a:xfrm>
            <a:off x="810564" y="4598034"/>
            <a:ext cx="814069" cy="172085"/>
          </a:xfrm>
          <a:prstGeom prst="rect">
            <a:avLst/>
          </a:prstGeom>
        </p:spPr>
        <p:txBody>
          <a:bodyPr vert="horz" wrap="square" lIns="0" tIns="13970" rIns="0" bIns="0" rtlCol="0">
            <a:spAutoFit/>
          </a:bodyPr>
          <a:lstStyle/>
          <a:p>
            <a:pPr marL="12700">
              <a:lnSpc>
                <a:spcPct val="100000"/>
              </a:lnSpc>
              <a:spcBef>
                <a:spcPts val="110"/>
              </a:spcBef>
            </a:pPr>
            <a:r>
              <a:t>AVG. INCOMING</a:t>
            </a:r>
            <a:endParaRPr sz="950">
              <a:latin typeface="Calibri"/>
              <a:cs typeface="Calibri"/>
            </a:endParaRPr>
          </a:p>
        </p:txBody>
      </p:sp>
      <p:sp>
        <p:nvSpPr>
          <p:cNvPr id="19" name="object 19"/>
          <p:cNvSpPr txBox="1"/>
          <p:nvPr/>
        </p:nvSpPr>
        <p:spPr>
          <a:xfrm>
            <a:off x="2685414" y="4598035"/>
            <a:ext cx="2894330" cy="566822"/>
          </a:xfrm>
          <a:prstGeom prst="rect">
            <a:avLst/>
          </a:prstGeom>
        </p:spPr>
        <p:txBody>
          <a:bodyPr vert="horz" wrap="square" lIns="0" tIns="12700" rIns="0" bIns="0" rtlCol="0">
            <a:spAutoFit/>
          </a:bodyPr>
          <a:lstStyle/>
          <a:p>
            <a:pPr marL="12700">
              <a:lnSpc>
                <a:spcPct val="100000"/>
              </a:lnSpc>
              <a:spcBef>
                <a:spcPts val="100"/>
              </a:spcBef>
            </a:pPr>
            <a:r>
              <a:t>1.58</a:t>
            </a:r>
            <a:endParaRPr sz="1150" dirty="0">
              <a:latin typeface="Calibri"/>
              <a:cs typeface="Calibri"/>
            </a:endParaRPr>
          </a:p>
        </p:txBody>
      </p:sp>
      <p:sp>
        <p:nvSpPr>
          <p:cNvPr id="24" name="object 24"/>
          <p:cNvSpPr txBox="1"/>
          <p:nvPr/>
        </p:nvSpPr>
        <p:spPr>
          <a:xfrm>
            <a:off x="7487817" y="1654605"/>
            <a:ext cx="2965423" cy="227626"/>
          </a:xfrm>
          <a:prstGeom prst="rect">
            <a:avLst/>
          </a:prstGeom>
        </p:spPr>
        <p:txBody>
          <a:bodyPr vert="horz" wrap="square" lIns="0" tIns="12065" rIns="0" bIns="0" rtlCol="0">
            <a:spAutoFit/>
          </a:bodyPr>
          <a:lstStyle/>
          <a:p>
            <a:pPr marL="12700">
              <a:lnSpc>
                <a:spcPct val="100000"/>
              </a:lnSpc>
              <a:spcBef>
                <a:spcPts val="95"/>
              </a:spcBef>
            </a:pPr>
            <a:r>
              <a:t>NETWORK OVERVIEW</a:t>
            </a:r>
            <a:endParaRPr sz="1300" b="1" dirty="0">
              <a:solidFill>
                <a:srgbClr val="C00000"/>
              </a:solidFill>
              <a:latin typeface="Calibri"/>
              <a:cs typeface="Calibri"/>
            </a:endParaRPr>
          </a:p>
        </p:txBody>
      </p:sp>
      <p:sp>
        <p:nvSpPr>
          <p:cNvPr id="25" name="object 25"/>
          <p:cNvSpPr txBox="1"/>
          <p:nvPr/>
        </p:nvSpPr>
        <p:spPr>
          <a:xfrm>
            <a:off x="6673977" y="2111197"/>
            <a:ext cx="4548505" cy="1520929"/>
          </a:xfrm>
          <a:prstGeom prst="rect">
            <a:avLst/>
          </a:prstGeom>
        </p:spPr>
        <p:txBody>
          <a:bodyPr vert="horz" wrap="square" lIns="0" tIns="12700" rIns="0" bIns="0" rtlCol="0">
            <a:spAutoFit/>
          </a:bodyPr>
          <a:lstStyle/>
          <a:p>
            <a:pPr algn="ctr"/>
            <a:r>
              <a:t>The edge list represents transaction-to-transaction connections using txId1 and txId2. These relationships are important for constructing the financial transaction graph used by GNN models.</a:t>
            </a:r>
          </a:p>
        </p:txBody>
      </p:sp>
      <p:sp>
        <p:nvSpPr>
          <p:cNvPr id="26" name="object 26"/>
          <p:cNvSpPr/>
          <p:nvPr/>
        </p:nvSpPr>
        <p:spPr>
          <a:xfrm>
            <a:off x="7485888" y="4663440"/>
            <a:ext cx="2926080" cy="457200"/>
          </a:xfrm>
          <a:custGeom>
            <a:avLst/>
            <a:gdLst/>
            <a:ahLst/>
            <a:cxnLst/>
            <a:rect l="l" t="t" r="r" b="b"/>
            <a:pathLst>
              <a:path w="2926079" h="457200">
                <a:moveTo>
                  <a:pt x="2697479" y="0"/>
                </a:moveTo>
                <a:lnTo>
                  <a:pt x="228600" y="0"/>
                </a:lnTo>
                <a:lnTo>
                  <a:pt x="182533" y="4644"/>
                </a:lnTo>
                <a:lnTo>
                  <a:pt x="139624" y="17966"/>
                </a:lnTo>
                <a:lnTo>
                  <a:pt x="100793" y="39045"/>
                </a:lnTo>
                <a:lnTo>
                  <a:pt x="66960" y="66960"/>
                </a:lnTo>
                <a:lnTo>
                  <a:pt x="39045" y="100793"/>
                </a:lnTo>
                <a:lnTo>
                  <a:pt x="17966" y="139624"/>
                </a:lnTo>
                <a:lnTo>
                  <a:pt x="4644" y="182533"/>
                </a:lnTo>
                <a:lnTo>
                  <a:pt x="0" y="228600"/>
                </a:lnTo>
                <a:lnTo>
                  <a:pt x="4644" y="274666"/>
                </a:lnTo>
                <a:lnTo>
                  <a:pt x="17966" y="317575"/>
                </a:lnTo>
                <a:lnTo>
                  <a:pt x="39045" y="356406"/>
                </a:lnTo>
                <a:lnTo>
                  <a:pt x="66960" y="390239"/>
                </a:lnTo>
                <a:lnTo>
                  <a:pt x="100793" y="418154"/>
                </a:lnTo>
                <a:lnTo>
                  <a:pt x="139624" y="439233"/>
                </a:lnTo>
                <a:lnTo>
                  <a:pt x="182533" y="452555"/>
                </a:lnTo>
                <a:lnTo>
                  <a:pt x="228600" y="457200"/>
                </a:lnTo>
                <a:lnTo>
                  <a:pt x="2697479" y="457200"/>
                </a:lnTo>
                <a:lnTo>
                  <a:pt x="2743546" y="452555"/>
                </a:lnTo>
                <a:lnTo>
                  <a:pt x="2786455" y="439233"/>
                </a:lnTo>
                <a:lnTo>
                  <a:pt x="2825286" y="418154"/>
                </a:lnTo>
                <a:lnTo>
                  <a:pt x="2859119" y="390239"/>
                </a:lnTo>
                <a:lnTo>
                  <a:pt x="2887034" y="356406"/>
                </a:lnTo>
                <a:lnTo>
                  <a:pt x="2908113" y="317575"/>
                </a:lnTo>
                <a:lnTo>
                  <a:pt x="2921435" y="274666"/>
                </a:lnTo>
                <a:lnTo>
                  <a:pt x="2926079" y="228600"/>
                </a:lnTo>
                <a:lnTo>
                  <a:pt x="2921435" y="182533"/>
                </a:lnTo>
                <a:lnTo>
                  <a:pt x="2908113" y="139624"/>
                </a:lnTo>
                <a:lnTo>
                  <a:pt x="2887034" y="100793"/>
                </a:lnTo>
                <a:lnTo>
                  <a:pt x="2859119" y="66960"/>
                </a:lnTo>
                <a:lnTo>
                  <a:pt x="2825286" y="39045"/>
                </a:lnTo>
                <a:lnTo>
                  <a:pt x="2786455" y="17966"/>
                </a:lnTo>
                <a:lnTo>
                  <a:pt x="2743546" y="4644"/>
                </a:lnTo>
                <a:lnTo>
                  <a:pt x="2697479" y="0"/>
                </a:lnTo>
                <a:close/>
              </a:path>
            </a:pathLst>
          </a:custGeom>
          <a:solidFill>
            <a:srgbClr val="006FC0"/>
          </a:solidFill>
        </p:spPr>
        <p:txBody>
          <a:bodyPr wrap="square" lIns="0" tIns="0" rIns="0" bIns="0" rtlCol="0"/>
          <a:lstStyle/>
          <a:p>
            <a:endParaRPr/>
          </a:p>
        </p:txBody>
      </p:sp>
      <p:sp>
        <p:nvSpPr>
          <p:cNvPr id="27" name="object 27"/>
          <p:cNvSpPr txBox="1"/>
          <p:nvPr/>
        </p:nvSpPr>
        <p:spPr>
          <a:xfrm>
            <a:off x="7941436" y="4793295"/>
            <a:ext cx="2002410" cy="197490"/>
          </a:xfrm>
          <a:prstGeom prst="rect">
            <a:avLst/>
          </a:prstGeom>
        </p:spPr>
        <p:txBody>
          <a:bodyPr vert="horz" wrap="square" lIns="0" tIns="12700" rIns="0" bIns="0" rtlCol="0">
            <a:spAutoFit/>
          </a:bodyPr>
          <a:lstStyle/>
          <a:p>
            <a:pPr marL="12700">
              <a:lnSpc>
                <a:spcPct val="100000"/>
              </a:lnSpc>
              <a:spcBef>
                <a:spcPts val="100"/>
              </a:spcBef>
            </a:pPr>
            <a:r>
              <a:t>TRANSACTION GRAPH</a:t>
            </a:r>
            <a:endParaRPr sz="1200" dirty="0">
              <a:solidFill>
                <a:schemeClr val="bg1"/>
              </a:solidFill>
              <a:latin typeface="Calibri"/>
              <a:cs typeface="Calibri"/>
            </a:endParaRPr>
          </a:p>
        </p:txBody>
      </p:sp>
      <p:sp>
        <p:nvSpPr>
          <p:cNvPr id="28" name="object 28"/>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29" name="object 29"/>
          <p:cNvSpPr txBox="1">
            <a:spLocks noGrp="1"/>
          </p:cNvSpPr>
          <p:nvPr>
            <p:ph type="sldNum" sz="quarter" idx="7"/>
          </p:nvPr>
        </p:nvSpPr>
        <p:spPr>
          <a:prstGeom prst="rect">
            <a:avLst/>
          </a:prstGeom>
        </p:spPr>
        <p:txBody>
          <a:bodyPr vert="horz" wrap="square" lIns="0" tIns="0" rIns="0" bIns="0" rtlCol="0">
            <a:spAutoFit/>
          </a:bodyPr>
          <a:lstStyle/>
          <a:p>
            <a:r>
              <a:t>16</a:t>
            </a:r>
          </a:p>
        </p:txBody>
      </p:sp>
      <p:sp>
        <p:nvSpPr>
          <p:cNvPr id="30" name="Rounded Rectangle 29"/>
          <p:cNvSpPr/>
          <p:nvPr/>
        </p:nvSpPr>
        <p:spPr>
          <a:xfrm>
            <a:off x="431574" y="1319459"/>
            <a:ext cx="5547360" cy="4321810"/>
          </a:xfrm>
          <a:prstGeom prst="roundRect">
            <a:avLst/>
          </a:prstGeom>
          <a:solidFill>
            <a:srgbClr val="FFFFFF"/>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169152" y="1310665"/>
            <a:ext cx="5547360" cy="4321810"/>
          </a:xfrm>
          <a:prstGeom prst="roundRect">
            <a:avLst/>
          </a:prstGeom>
          <a:solidFill>
            <a:srgbClr val="FFFFFF"/>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0000" y="1550000"/>
            <a:ext cx="5000000" cy="3900000"/>
          </a:xfrm>
          <a:prstGeom prst="rect">
            <a:avLst/>
          </a:prstGeom>
          <a:noFill/>
        </p:spPr>
        <p:txBody>
          <a:bodyPr wrap="square">
            <a:spAutoFit/>
          </a:bodyPr>
          <a:lstStyle/>
          <a:p>
            <a:pPr algn="l"/>
            <a:r>
              <a:rPr sz="1600" b="0"/>
              <a:t>GRAPH DATA</a:t>
            </a:r>
            <a:br/>
            <a:br/>
            <a:r>
              <a:rPr sz="1600" b="0"/>
              <a:t>Elliptic transaction network</a:t>
            </a:r>
            <a:br/>
            <a:br/>
            <a:r>
              <a:rPr sz="1600" b="0"/>
              <a:t>TRANSACTION EDGES        234,355</a:t>
            </a:r>
            <a:br/>
            <a:r>
              <a:rPr sz="1600" b="0"/>
              <a:t>UNIQUE SOURCES           166,345</a:t>
            </a:r>
            <a:br/>
            <a:r>
              <a:rPr sz="1600" b="0"/>
              <a:t>UNIQUE DESTINATIONS      148,447</a:t>
            </a:r>
            <a:br/>
            <a:r>
              <a:rPr sz="1600" b="0"/>
              <a:t>AVG. OUTGOING CONNECTIONS   1.41</a:t>
            </a:r>
            <a:br/>
            <a:r>
              <a:rPr sz="1600" b="0"/>
              <a:t>AVG. INCOMING CONNECTIONS   1.58</a:t>
            </a:r>
          </a:p>
        </p:txBody>
      </p:sp>
      <p:sp>
        <p:nvSpPr>
          <p:cNvPr id="33" name="TextBox 32"/>
          <p:cNvSpPr txBox="1"/>
          <p:nvPr/>
        </p:nvSpPr>
        <p:spPr>
          <a:xfrm>
            <a:off x="6650000" y="1500000"/>
            <a:ext cx="4500000" cy="1100000"/>
          </a:xfrm>
          <a:prstGeom prst="rect">
            <a:avLst/>
          </a:prstGeom>
          <a:noFill/>
        </p:spPr>
        <p:txBody>
          <a:bodyPr wrap="square">
            <a:spAutoFit/>
          </a:bodyPr>
          <a:lstStyle/>
          <a:p>
            <a:pPr algn="ctr"/>
            <a:r>
              <a:rPr sz="1300" b="0"/>
              <a:t>NETWORK OVERVIEW</a:t>
            </a:r>
            <a:br/>
            <a:br/>
            <a:r>
              <a:rPr sz="1300" b="0"/>
              <a:t>The edge list stores transaction-to-transaction connections using txId1 and txId2. These relationships form the graph structure used for GNN-based AML analysis.</a:t>
            </a:r>
          </a:p>
        </p:txBody>
      </p:sp>
      <p:pic>
        <p:nvPicPr>
          <p:cNvPr id="34" name="Picture 33" descr="image.png"/>
          <p:cNvPicPr>
            <a:picLocks noChangeAspect="1"/>
          </p:cNvPicPr>
          <p:nvPr/>
        </p:nvPicPr>
        <p:blipFill>
          <a:blip r:embed="rId3"/>
          <a:stretch>
            <a:fillRect/>
          </a:stretch>
        </p:blipFill>
        <p:spPr>
          <a:xfrm>
            <a:off x="6650000" y="2900000"/>
            <a:ext cx="4500000" cy="2450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7145">
              <a:lnSpc>
                <a:spcPct val="100000"/>
              </a:lnSpc>
              <a:spcBef>
                <a:spcPts val="105"/>
              </a:spcBef>
            </a:pPr>
            <a:r>
              <a:rPr dirty="0"/>
              <a:t>PROPOSED</a:t>
            </a:r>
            <a:r>
              <a:rPr spc="-55" dirty="0"/>
              <a:t> </a:t>
            </a:r>
            <a:r>
              <a:rPr dirty="0"/>
              <a:t>MODEL</a:t>
            </a:r>
            <a:r>
              <a:rPr spc="-50" dirty="0"/>
              <a:t> </a:t>
            </a:r>
            <a:r>
              <a:rPr spc="-10" dirty="0"/>
              <a:t>WORKFLOW</a:t>
            </a:r>
          </a:p>
        </p:txBody>
      </p:sp>
      <p:grpSp>
        <p:nvGrpSpPr>
          <p:cNvPr id="3" name="object 3"/>
          <p:cNvGrpSpPr/>
          <p:nvPr/>
        </p:nvGrpSpPr>
        <p:grpSpPr>
          <a:xfrm>
            <a:off x="463295" y="1331785"/>
            <a:ext cx="1874520" cy="3569335"/>
            <a:chOff x="463295" y="1331785"/>
            <a:chExt cx="1874520" cy="3569335"/>
          </a:xfrm>
        </p:grpSpPr>
        <p:pic>
          <p:nvPicPr>
            <p:cNvPr id="4" name="object 4"/>
            <p:cNvPicPr/>
            <p:nvPr/>
          </p:nvPicPr>
          <p:blipFill>
            <a:blip r:embed="rId2" cstate="print"/>
            <a:stretch>
              <a:fillRect/>
            </a:stretch>
          </p:blipFill>
          <p:spPr>
            <a:xfrm>
              <a:off x="463295" y="1539239"/>
              <a:ext cx="1874139" cy="3361563"/>
            </a:xfrm>
            <a:prstGeom prst="rect">
              <a:avLst/>
            </a:prstGeom>
          </p:spPr>
        </p:pic>
        <p:sp>
          <p:nvSpPr>
            <p:cNvPr id="5" name="object 5"/>
            <p:cNvSpPr/>
            <p:nvPr/>
          </p:nvSpPr>
          <p:spPr>
            <a:xfrm>
              <a:off x="548639" y="1600199"/>
              <a:ext cx="1713230" cy="3200400"/>
            </a:xfrm>
            <a:custGeom>
              <a:avLst/>
              <a:gdLst/>
              <a:ahLst/>
              <a:cxnLst/>
              <a:rect l="l" t="t" r="r" b="b"/>
              <a:pathLst>
                <a:path w="1713230" h="3200400">
                  <a:moveTo>
                    <a:pt x="1639824" y="0"/>
                  </a:moveTo>
                  <a:lnTo>
                    <a:pt x="73215" y="0"/>
                  </a:lnTo>
                  <a:lnTo>
                    <a:pt x="44716" y="5750"/>
                  </a:lnTo>
                  <a:lnTo>
                    <a:pt x="21443" y="21431"/>
                  </a:lnTo>
                  <a:lnTo>
                    <a:pt x="5753" y="44684"/>
                  </a:lnTo>
                  <a:lnTo>
                    <a:pt x="0" y="73151"/>
                  </a:lnTo>
                  <a:lnTo>
                    <a:pt x="0" y="3127248"/>
                  </a:lnTo>
                  <a:lnTo>
                    <a:pt x="5753" y="3155715"/>
                  </a:lnTo>
                  <a:lnTo>
                    <a:pt x="21443" y="3178968"/>
                  </a:lnTo>
                  <a:lnTo>
                    <a:pt x="44716" y="3194649"/>
                  </a:lnTo>
                  <a:lnTo>
                    <a:pt x="73215" y="3200400"/>
                  </a:lnTo>
                  <a:lnTo>
                    <a:pt x="1639824" y="3200400"/>
                  </a:lnTo>
                  <a:lnTo>
                    <a:pt x="1668291" y="3194649"/>
                  </a:lnTo>
                  <a:lnTo>
                    <a:pt x="1691544" y="3178968"/>
                  </a:lnTo>
                  <a:lnTo>
                    <a:pt x="1707225" y="3155715"/>
                  </a:lnTo>
                  <a:lnTo>
                    <a:pt x="1712976" y="3127248"/>
                  </a:lnTo>
                  <a:lnTo>
                    <a:pt x="1712976" y="73151"/>
                  </a:lnTo>
                  <a:lnTo>
                    <a:pt x="1707225" y="44684"/>
                  </a:lnTo>
                  <a:lnTo>
                    <a:pt x="1691544" y="21431"/>
                  </a:lnTo>
                  <a:lnTo>
                    <a:pt x="1668291" y="5750"/>
                  </a:lnTo>
                  <a:lnTo>
                    <a:pt x="1639824" y="0"/>
                  </a:lnTo>
                  <a:close/>
                </a:path>
              </a:pathLst>
            </a:custGeom>
            <a:solidFill>
              <a:srgbClr val="FFFFFF"/>
            </a:solidFill>
          </p:spPr>
          <p:txBody>
            <a:bodyPr wrap="square" lIns="0" tIns="0" rIns="0" bIns="0" rtlCol="0"/>
            <a:lstStyle/>
            <a:p>
              <a:endParaRPr/>
            </a:p>
          </p:txBody>
        </p:sp>
        <p:sp>
          <p:nvSpPr>
            <p:cNvPr id="6" name="object 6"/>
            <p:cNvSpPr/>
            <p:nvPr/>
          </p:nvSpPr>
          <p:spPr>
            <a:xfrm>
              <a:off x="548639" y="1600199"/>
              <a:ext cx="1713230" cy="3200400"/>
            </a:xfrm>
            <a:custGeom>
              <a:avLst/>
              <a:gdLst/>
              <a:ahLst/>
              <a:cxnLst/>
              <a:rect l="l" t="t" r="r" b="b"/>
              <a:pathLst>
                <a:path w="1713230" h="3200400">
                  <a:moveTo>
                    <a:pt x="0" y="73151"/>
                  </a:moveTo>
                  <a:lnTo>
                    <a:pt x="5753" y="44684"/>
                  </a:lnTo>
                  <a:lnTo>
                    <a:pt x="21443" y="21431"/>
                  </a:lnTo>
                  <a:lnTo>
                    <a:pt x="44716" y="5750"/>
                  </a:lnTo>
                  <a:lnTo>
                    <a:pt x="73215" y="0"/>
                  </a:lnTo>
                  <a:lnTo>
                    <a:pt x="1639824" y="0"/>
                  </a:lnTo>
                  <a:lnTo>
                    <a:pt x="1668291" y="5750"/>
                  </a:lnTo>
                  <a:lnTo>
                    <a:pt x="1691544" y="21431"/>
                  </a:lnTo>
                  <a:lnTo>
                    <a:pt x="1707225" y="44684"/>
                  </a:lnTo>
                  <a:lnTo>
                    <a:pt x="1712976" y="73151"/>
                  </a:lnTo>
                  <a:lnTo>
                    <a:pt x="1712976" y="3127248"/>
                  </a:lnTo>
                  <a:lnTo>
                    <a:pt x="1707225" y="3155715"/>
                  </a:lnTo>
                  <a:lnTo>
                    <a:pt x="1691544" y="3178968"/>
                  </a:lnTo>
                  <a:lnTo>
                    <a:pt x="1668291" y="3194649"/>
                  </a:lnTo>
                  <a:lnTo>
                    <a:pt x="1639824" y="3200400"/>
                  </a:lnTo>
                  <a:lnTo>
                    <a:pt x="73215" y="3200400"/>
                  </a:lnTo>
                  <a:lnTo>
                    <a:pt x="44716" y="3194649"/>
                  </a:lnTo>
                  <a:lnTo>
                    <a:pt x="21443" y="3178968"/>
                  </a:lnTo>
                  <a:lnTo>
                    <a:pt x="5753" y="3155715"/>
                  </a:lnTo>
                  <a:lnTo>
                    <a:pt x="0" y="3127248"/>
                  </a:lnTo>
                  <a:lnTo>
                    <a:pt x="0" y="73151"/>
                  </a:lnTo>
                  <a:close/>
                </a:path>
              </a:pathLst>
            </a:custGeom>
            <a:ln w="12192">
              <a:solidFill>
                <a:srgbClr val="DDD2C4"/>
              </a:solidFill>
            </a:ln>
          </p:spPr>
          <p:txBody>
            <a:bodyPr wrap="square" lIns="0" tIns="0" rIns="0" bIns="0" rtlCol="0"/>
            <a:lstStyle/>
            <a:p>
              <a:endParaRPr/>
            </a:p>
          </p:txBody>
        </p:sp>
        <p:sp>
          <p:nvSpPr>
            <p:cNvPr id="7" name="object 7"/>
            <p:cNvSpPr/>
            <p:nvPr/>
          </p:nvSpPr>
          <p:spPr>
            <a:xfrm>
              <a:off x="1149095" y="1344167"/>
              <a:ext cx="512445" cy="512445"/>
            </a:xfrm>
            <a:custGeom>
              <a:avLst/>
              <a:gdLst/>
              <a:ahLst/>
              <a:cxnLst/>
              <a:rect l="l" t="t" r="r" b="b"/>
              <a:pathLst>
                <a:path w="512444" h="512444">
                  <a:moveTo>
                    <a:pt x="256031" y="0"/>
                  </a:moveTo>
                  <a:lnTo>
                    <a:pt x="210010" y="4126"/>
                  </a:lnTo>
                  <a:lnTo>
                    <a:pt x="166694" y="16023"/>
                  </a:lnTo>
                  <a:lnTo>
                    <a:pt x="126808" y="34967"/>
                  </a:lnTo>
                  <a:lnTo>
                    <a:pt x="91074" y="60232"/>
                  </a:lnTo>
                  <a:lnTo>
                    <a:pt x="60215" y="91095"/>
                  </a:lnTo>
                  <a:lnTo>
                    <a:pt x="34956" y="126830"/>
                  </a:lnTo>
                  <a:lnTo>
                    <a:pt x="16018" y="166714"/>
                  </a:lnTo>
                  <a:lnTo>
                    <a:pt x="4125" y="210023"/>
                  </a:lnTo>
                  <a:lnTo>
                    <a:pt x="0" y="256032"/>
                  </a:lnTo>
                  <a:lnTo>
                    <a:pt x="4125" y="302040"/>
                  </a:lnTo>
                  <a:lnTo>
                    <a:pt x="16018" y="345349"/>
                  </a:lnTo>
                  <a:lnTo>
                    <a:pt x="34956" y="385233"/>
                  </a:lnTo>
                  <a:lnTo>
                    <a:pt x="60215" y="420968"/>
                  </a:lnTo>
                  <a:lnTo>
                    <a:pt x="91074" y="451831"/>
                  </a:lnTo>
                  <a:lnTo>
                    <a:pt x="126808" y="477096"/>
                  </a:lnTo>
                  <a:lnTo>
                    <a:pt x="166694" y="496040"/>
                  </a:lnTo>
                  <a:lnTo>
                    <a:pt x="210010"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4"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8" name="object 8"/>
            <p:cNvSpPr/>
            <p:nvPr/>
          </p:nvSpPr>
          <p:spPr>
            <a:xfrm>
              <a:off x="1149095" y="1344167"/>
              <a:ext cx="512445" cy="512445"/>
            </a:xfrm>
            <a:custGeom>
              <a:avLst/>
              <a:gdLst/>
              <a:ahLst/>
              <a:cxnLst/>
              <a:rect l="l" t="t" r="r" b="b"/>
              <a:pathLst>
                <a:path w="512444" h="512444">
                  <a:moveTo>
                    <a:pt x="0" y="256032"/>
                  </a:moveTo>
                  <a:lnTo>
                    <a:pt x="4125" y="210023"/>
                  </a:lnTo>
                  <a:lnTo>
                    <a:pt x="16018" y="166714"/>
                  </a:lnTo>
                  <a:lnTo>
                    <a:pt x="34956" y="126830"/>
                  </a:lnTo>
                  <a:lnTo>
                    <a:pt x="60215" y="91095"/>
                  </a:lnTo>
                  <a:lnTo>
                    <a:pt x="91074" y="60232"/>
                  </a:lnTo>
                  <a:lnTo>
                    <a:pt x="126808" y="34967"/>
                  </a:lnTo>
                  <a:lnTo>
                    <a:pt x="166694" y="16023"/>
                  </a:lnTo>
                  <a:lnTo>
                    <a:pt x="210010"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4"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10" y="507937"/>
                  </a:lnTo>
                  <a:lnTo>
                    <a:pt x="166694" y="496040"/>
                  </a:lnTo>
                  <a:lnTo>
                    <a:pt x="126808" y="477096"/>
                  </a:lnTo>
                  <a:lnTo>
                    <a:pt x="91074" y="451831"/>
                  </a:lnTo>
                  <a:lnTo>
                    <a:pt x="60215" y="420968"/>
                  </a:lnTo>
                  <a:lnTo>
                    <a:pt x="34956" y="385233"/>
                  </a:lnTo>
                  <a:lnTo>
                    <a:pt x="16018" y="345349"/>
                  </a:lnTo>
                  <a:lnTo>
                    <a:pt x="4125" y="302040"/>
                  </a:lnTo>
                  <a:lnTo>
                    <a:pt x="0" y="256032"/>
                  </a:lnTo>
                  <a:close/>
                </a:path>
              </a:pathLst>
            </a:custGeom>
            <a:ln w="24383">
              <a:solidFill>
                <a:srgbClr val="FFFFFF"/>
              </a:solidFill>
            </a:ln>
          </p:spPr>
          <p:txBody>
            <a:bodyPr wrap="square" lIns="0" tIns="0" rIns="0" bIns="0" rtlCol="0"/>
            <a:lstStyle/>
            <a:p>
              <a:endParaRPr/>
            </a:p>
          </p:txBody>
        </p:sp>
      </p:grpSp>
      <p:sp>
        <p:nvSpPr>
          <p:cNvPr id="9" name="object 9"/>
          <p:cNvSpPr txBox="1"/>
          <p:nvPr/>
        </p:nvSpPr>
        <p:spPr>
          <a:xfrm>
            <a:off x="1340611" y="1451229"/>
            <a:ext cx="128905" cy="270510"/>
          </a:xfrm>
          <a:prstGeom prst="rect">
            <a:avLst/>
          </a:prstGeom>
        </p:spPr>
        <p:txBody>
          <a:bodyPr vert="horz" wrap="square" lIns="0" tIns="13335" rIns="0" bIns="0" rtlCol="0">
            <a:spAutoFit/>
          </a:bodyPr>
          <a:lstStyle/>
          <a:p>
            <a:pPr marL="12700">
              <a:lnSpc>
                <a:spcPct val="100000"/>
              </a:lnSpc>
              <a:spcBef>
                <a:spcPts val="105"/>
              </a:spcBef>
            </a:pPr>
            <a:r>
              <a:rPr sz="1600" b="1" spc="-50" dirty="0">
                <a:solidFill>
                  <a:srgbClr val="FFFFFF"/>
                </a:solidFill>
                <a:latin typeface="Calibri"/>
                <a:cs typeface="Calibri"/>
              </a:rPr>
              <a:t>1</a:t>
            </a:r>
            <a:endParaRPr sz="1600">
              <a:latin typeface="Calibri"/>
              <a:cs typeface="Calibri"/>
            </a:endParaRPr>
          </a:p>
        </p:txBody>
      </p:sp>
      <p:sp>
        <p:nvSpPr>
          <p:cNvPr id="10" name="object 10"/>
          <p:cNvSpPr txBox="1"/>
          <p:nvPr/>
        </p:nvSpPr>
        <p:spPr>
          <a:xfrm>
            <a:off x="1102233" y="1988546"/>
            <a:ext cx="608521" cy="190437"/>
          </a:xfrm>
          <a:prstGeom prst="rect">
            <a:avLst/>
          </a:prstGeom>
        </p:spPr>
        <p:txBody>
          <a:bodyPr vert="horz" wrap="square" lIns="0" tIns="13335" rIns="0" bIns="0" rtlCol="0">
            <a:spAutoFit/>
          </a:bodyPr>
          <a:lstStyle/>
          <a:p>
            <a:pPr marL="12700">
              <a:lnSpc>
                <a:spcPct val="100000"/>
              </a:lnSpc>
              <a:spcBef>
                <a:spcPts val="105"/>
              </a:spcBef>
            </a:pPr>
            <a:r>
              <a:rPr lang="en-IN" sz="1150" b="1" dirty="0">
                <a:solidFill>
                  <a:srgbClr val="C00000"/>
                </a:solidFill>
                <a:latin typeface="Calibri"/>
                <a:cs typeface="Calibri"/>
              </a:rPr>
              <a:t>DATASET</a:t>
            </a:r>
            <a:endParaRPr sz="1150" b="1" dirty="0">
              <a:solidFill>
                <a:srgbClr val="C00000"/>
              </a:solidFill>
              <a:latin typeface="Calibri"/>
              <a:cs typeface="Calibri"/>
            </a:endParaRPr>
          </a:p>
        </p:txBody>
      </p:sp>
      <p:sp>
        <p:nvSpPr>
          <p:cNvPr id="11" name="object 11"/>
          <p:cNvSpPr txBox="1"/>
          <p:nvPr/>
        </p:nvSpPr>
        <p:spPr>
          <a:xfrm>
            <a:off x="398779" y="2633577"/>
            <a:ext cx="1668527" cy="566822"/>
          </a:xfrm>
          <a:prstGeom prst="rect">
            <a:avLst/>
          </a:prstGeom>
        </p:spPr>
        <p:txBody>
          <a:bodyPr vert="horz" wrap="square" lIns="0" tIns="12700" rIns="0" bIns="0" rtlCol="0">
            <a:spAutoFit/>
          </a:bodyPr>
          <a:lstStyle/>
          <a:p>
            <a:pPr marL="341630" marR="5080" lvl="6" indent="-329565" algn="ctr">
              <a:spcBef>
                <a:spcPts val="100"/>
              </a:spcBef>
            </a:pPr>
            <a:r>
              <a:rPr lang="en-IN" sz="900" dirty="0"/>
              <a:t>           Load the crop yield dataset containing agricultural and environmental features.</a:t>
            </a:r>
            <a:endParaRPr sz="900" dirty="0">
              <a:latin typeface="Calibri"/>
              <a:cs typeface="Calibri"/>
            </a:endParaRPr>
          </a:p>
        </p:txBody>
      </p:sp>
      <p:grpSp>
        <p:nvGrpSpPr>
          <p:cNvPr id="12" name="object 12"/>
          <p:cNvGrpSpPr/>
          <p:nvPr/>
        </p:nvGrpSpPr>
        <p:grpSpPr>
          <a:xfrm>
            <a:off x="2340864" y="1331785"/>
            <a:ext cx="1871345" cy="3569335"/>
            <a:chOff x="2340864" y="1331785"/>
            <a:chExt cx="1871345" cy="3569335"/>
          </a:xfrm>
        </p:grpSpPr>
        <p:pic>
          <p:nvPicPr>
            <p:cNvPr id="13" name="object 13"/>
            <p:cNvPicPr/>
            <p:nvPr/>
          </p:nvPicPr>
          <p:blipFill>
            <a:blip r:embed="rId3" cstate="print"/>
            <a:stretch>
              <a:fillRect/>
            </a:stretch>
          </p:blipFill>
          <p:spPr>
            <a:xfrm>
              <a:off x="2340864" y="1539239"/>
              <a:ext cx="1871090" cy="3361563"/>
            </a:xfrm>
            <a:prstGeom prst="rect">
              <a:avLst/>
            </a:prstGeom>
          </p:spPr>
        </p:pic>
        <p:sp>
          <p:nvSpPr>
            <p:cNvPr id="14" name="object 14"/>
            <p:cNvSpPr/>
            <p:nvPr/>
          </p:nvSpPr>
          <p:spPr>
            <a:xfrm>
              <a:off x="2426208" y="1600199"/>
              <a:ext cx="1710055" cy="3200400"/>
            </a:xfrm>
            <a:custGeom>
              <a:avLst/>
              <a:gdLst/>
              <a:ahLst/>
              <a:cxnLst/>
              <a:rect l="l" t="t" r="r" b="b"/>
              <a:pathLst>
                <a:path w="1710054" h="3200400">
                  <a:moveTo>
                    <a:pt x="1636903" y="0"/>
                  </a:moveTo>
                  <a:lnTo>
                    <a:pt x="73025" y="0"/>
                  </a:lnTo>
                  <a:lnTo>
                    <a:pt x="44630" y="5748"/>
                  </a:lnTo>
                  <a:lnTo>
                    <a:pt x="21415" y="21415"/>
                  </a:lnTo>
                  <a:lnTo>
                    <a:pt x="5748" y="44630"/>
                  </a:lnTo>
                  <a:lnTo>
                    <a:pt x="0" y="73025"/>
                  </a:lnTo>
                  <a:lnTo>
                    <a:pt x="0" y="3127375"/>
                  </a:lnTo>
                  <a:lnTo>
                    <a:pt x="5748" y="3155769"/>
                  </a:lnTo>
                  <a:lnTo>
                    <a:pt x="21415" y="3178984"/>
                  </a:lnTo>
                  <a:lnTo>
                    <a:pt x="44630" y="3194651"/>
                  </a:lnTo>
                  <a:lnTo>
                    <a:pt x="73025" y="3200400"/>
                  </a:lnTo>
                  <a:lnTo>
                    <a:pt x="1636903" y="3200400"/>
                  </a:lnTo>
                  <a:lnTo>
                    <a:pt x="1665297" y="3194651"/>
                  </a:lnTo>
                  <a:lnTo>
                    <a:pt x="1688512" y="3178984"/>
                  </a:lnTo>
                  <a:lnTo>
                    <a:pt x="1704179" y="3155769"/>
                  </a:lnTo>
                  <a:lnTo>
                    <a:pt x="1709928" y="3127375"/>
                  </a:lnTo>
                  <a:lnTo>
                    <a:pt x="1709928" y="73025"/>
                  </a:lnTo>
                  <a:lnTo>
                    <a:pt x="1704179" y="44630"/>
                  </a:lnTo>
                  <a:lnTo>
                    <a:pt x="1688512" y="21415"/>
                  </a:lnTo>
                  <a:lnTo>
                    <a:pt x="1665297" y="5748"/>
                  </a:lnTo>
                  <a:lnTo>
                    <a:pt x="1636903" y="0"/>
                  </a:lnTo>
                  <a:close/>
                </a:path>
              </a:pathLst>
            </a:custGeom>
            <a:solidFill>
              <a:srgbClr val="FFFFFF"/>
            </a:solidFill>
          </p:spPr>
          <p:txBody>
            <a:bodyPr wrap="square" lIns="0" tIns="0" rIns="0" bIns="0" rtlCol="0"/>
            <a:lstStyle/>
            <a:p>
              <a:endParaRPr/>
            </a:p>
          </p:txBody>
        </p:sp>
        <p:sp>
          <p:nvSpPr>
            <p:cNvPr id="15" name="object 15"/>
            <p:cNvSpPr/>
            <p:nvPr/>
          </p:nvSpPr>
          <p:spPr>
            <a:xfrm>
              <a:off x="2426208" y="1600199"/>
              <a:ext cx="1710055" cy="3200400"/>
            </a:xfrm>
            <a:custGeom>
              <a:avLst/>
              <a:gdLst/>
              <a:ahLst/>
              <a:cxnLst/>
              <a:rect l="l" t="t" r="r" b="b"/>
              <a:pathLst>
                <a:path w="1710054" h="3200400">
                  <a:moveTo>
                    <a:pt x="0" y="73025"/>
                  </a:moveTo>
                  <a:lnTo>
                    <a:pt x="5748" y="44630"/>
                  </a:lnTo>
                  <a:lnTo>
                    <a:pt x="21415" y="21415"/>
                  </a:lnTo>
                  <a:lnTo>
                    <a:pt x="44630" y="5748"/>
                  </a:lnTo>
                  <a:lnTo>
                    <a:pt x="73025" y="0"/>
                  </a:lnTo>
                  <a:lnTo>
                    <a:pt x="1636903" y="0"/>
                  </a:lnTo>
                  <a:lnTo>
                    <a:pt x="1665297" y="5748"/>
                  </a:lnTo>
                  <a:lnTo>
                    <a:pt x="1688512" y="21415"/>
                  </a:lnTo>
                  <a:lnTo>
                    <a:pt x="1704179" y="44630"/>
                  </a:lnTo>
                  <a:lnTo>
                    <a:pt x="1709928" y="73025"/>
                  </a:lnTo>
                  <a:lnTo>
                    <a:pt x="1709928" y="3127375"/>
                  </a:lnTo>
                  <a:lnTo>
                    <a:pt x="1704179" y="3155769"/>
                  </a:lnTo>
                  <a:lnTo>
                    <a:pt x="1688512" y="3178984"/>
                  </a:lnTo>
                  <a:lnTo>
                    <a:pt x="1665297" y="3194651"/>
                  </a:lnTo>
                  <a:lnTo>
                    <a:pt x="1636903" y="3200400"/>
                  </a:lnTo>
                  <a:lnTo>
                    <a:pt x="73025" y="3200400"/>
                  </a:lnTo>
                  <a:lnTo>
                    <a:pt x="44630" y="3194651"/>
                  </a:lnTo>
                  <a:lnTo>
                    <a:pt x="21415" y="3178984"/>
                  </a:lnTo>
                  <a:lnTo>
                    <a:pt x="5748" y="3155769"/>
                  </a:lnTo>
                  <a:lnTo>
                    <a:pt x="0" y="3127375"/>
                  </a:lnTo>
                  <a:lnTo>
                    <a:pt x="0" y="73025"/>
                  </a:lnTo>
                  <a:close/>
                </a:path>
              </a:pathLst>
            </a:custGeom>
            <a:ln w="12192">
              <a:solidFill>
                <a:srgbClr val="DDD2C4"/>
              </a:solidFill>
            </a:ln>
          </p:spPr>
          <p:txBody>
            <a:bodyPr wrap="square" lIns="0" tIns="0" rIns="0" bIns="0" rtlCol="0"/>
            <a:lstStyle/>
            <a:p>
              <a:endParaRPr/>
            </a:p>
          </p:txBody>
        </p:sp>
        <p:sp>
          <p:nvSpPr>
            <p:cNvPr id="16" name="object 16"/>
            <p:cNvSpPr/>
            <p:nvPr/>
          </p:nvSpPr>
          <p:spPr>
            <a:xfrm>
              <a:off x="3023616"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3"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17" name="object 17"/>
            <p:cNvSpPr/>
            <p:nvPr/>
          </p:nvSpPr>
          <p:spPr>
            <a:xfrm>
              <a:off x="3023616"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3"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18" name="object 18"/>
          <p:cNvSpPr txBox="1"/>
          <p:nvPr/>
        </p:nvSpPr>
        <p:spPr>
          <a:xfrm>
            <a:off x="3217291" y="1451229"/>
            <a:ext cx="128905" cy="270510"/>
          </a:xfrm>
          <a:prstGeom prst="rect">
            <a:avLst/>
          </a:prstGeom>
        </p:spPr>
        <p:txBody>
          <a:bodyPr vert="horz" wrap="square" lIns="0" tIns="13335" rIns="0" bIns="0" rtlCol="0">
            <a:spAutoFit/>
          </a:bodyPr>
          <a:lstStyle/>
          <a:p>
            <a:pPr marL="12700">
              <a:lnSpc>
                <a:spcPct val="100000"/>
              </a:lnSpc>
              <a:spcBef>
                <a:spcPts val="105"/>
              </a:spcBef>
            </a:pPr>
            <a:r>
              <a:rPr sz="1600" b="1" spc="-50" dirty="0">
                <a:solidFill>
                  <a:srgbClr val="FFFFFF"/>
                </a:solidFill>
                <a:latin typeface="Calibri"/>
                <a:cs typeface="Calibri"/>
              </a:rPr>
              <a:t>2</a:t>
            </a:r>
            <a:endParaRPr sz="1600">
              <a:latin typeface="Calibri"/>
              <a:cs typeface="Calibri"/>
            </a:endParaRPr>
          </a:p>
        </p:txBody>
      </p:sp>
      <p:sp>
        <p:nvSpPr>
          <p:cNvPr id="19" name="object 19"/>
          <p:cNvSpPr txBox="1"/>
          <p:nvPr/>
        </p:nvSpPr>
        <p:spPr>
          <a:xfrm>
            <a:off x="2891028" y="2041929"/>
            <a:ext cx="802005" cy="167354"/>
          </a:xfrm>
          <a:prstGeom prst="rect">
            <a:avLst/>
          </a:prstGeom>
        </p:spPr>
        <p:txBody>
          <a:bodyPr vert="horz" wrap="square" lIns="0" tIns="13335" rIns="0" bIns="0" rtlCol="0">
            <a:spAutoFit/>
          </a:bodyPr>
          <a:lstStyle/>
          <a:p>
            <a:pPr marL="12700">
              <a:lnSpc>
                <a:spcPct val="100000"/>
              </a:lnSpc>
              <a:spcBef>
                <a:spcPts val="105"/>
              </a:spcBef>
            </a:pPr>
            <a:r>
              <a:rPr sz="1000" b="1" spc="-10" dirty="0">
                <a:solidFill>
                  <a:srgbClr val="C00000"/>
                </a:solidFill>
                <a:latin typeface="Calibri"/>
                <a:cs typeface="Calibri"/>
              </a:rPr>
              <a:t>PREPROCESS</a:t>
            </a:r>
            <a:endParaRPr sz="1000" dirty="0">
              <a:latin typeface="Calibri"/>
              <a:cs typeface="Calibri"/>
            </a:endParaRPr>
          </a:p>
        </p:txBody>
      </p:sp>
      <p:sp>
        <p:nvSpPr>
          <p:cNvPr id="20" name="object 20"/>
          <p:cNvSpPr txBox="1"/>
          <p:nvPr/>
        </p:nvSpPr>
        <p:spPr>
          <a:xfrm>
            <a:off x="2495167" y="2679294"/>
            <a:ext cx="1565531" cy="567463"/>
          </a:xfrm>
          <a:prstGeom prst="rect">
            <a:avLst/>
          </a:prstGeom>
        </p:spPr>
        <p:txBody>
          <a:bodyPr vert="horz" wrap="square" lIns="0" tIns="13335" rIns="0" bIns="0" rtlCol="0">
            <a:spAutoFit/>
          </a:bodyPr>
          <a:lstStyle/>
          <a:p>
            <a:pPr marL="12700" algn="ctr">
              <a:lnSpc>
                <a:spcPct val="100000"/>
              </a:lnSpc>
              <a:spcBef>
                <a:spcPts val="105"/>
              </a:spcBef>
            </a:pPr>
            <a:r>
              <a:rPr lang="en-IN" sz="900" dirty="0"/>
              <a:t>Clean the data and encode categorical features. Prepare the input variables for model training.</a:t>
            </a:r>
            <a:endParaRPr sz="900" dirty="0">
              <a:latin typeface="Calibri"/>
              <a:cs typeface="Calibri"/>
            </a:endParaRPr>
          </a:p>
        </p:txBody>
      </p:sp>
      <p:grpSp>
        <p:nvGrpSpPr>
          <p:cNvPr id="21" name="object 21"/>
          <p:cNvGrpSpPr/>
          <p:nvPr/>
        </p:nvGrpSpPr>
        <p:grpSpPr>
          <a:xfrm>
            <a:off x="4215384" y="1331785"/>
            <a:ext cx="1874520" cy="3569335"/>
            <a:chOff x="4215384" y="1331785"/>
            <a:chExt cx="1874520" cy="3569335"/>
          </a:xfrm>
        </p:grpSpPr>
        <p:pic>
          <p:nvPicPr>
            <p:cNvPr id="22" name="object 22"/>
            <p:cNvPicPr/>
            <p:nvPr/>
          </p:nvPicPr>
          <p:blipFill>
            <a:blip r:embed="rId2" cstate="print"/>
            <a:stretch>
              <a:fillRect/>
            </a:stretch>
          </p:blipFill>
          <p:spPr>
            <a:xfrm>
              <a:off x="4215384" y="1539239"/>
              <a:ext cx="1874139" cy="3361563"/>
            </a:xfrm>
            <a:prstGeom prst="rect">
              <a:avLst/>
            </a:prstGeom>
          </p:spPr>
        </p:pic>
        <p:sp>
          <p:nvSpPr>
            <p:cNvPr id="23" name="object 23"/>
            <p:cNvSpPr/>
            <p:nvPr/>
          </p:nvSpPr>
          <p:spPr>
            <a:xfrm>
              <a:off x="4300728" y="1600199"/>
              <a:ext cx="1713230" cy="3200400"/>
            </a:xfrm>
            <a:custGeom>
              <a:avLst/>
              <a:gdLst/>
              <a:ahLst/>
              <a:cxnLst/>
              <a:rect l="l" t="t" r="r" b="b"/>
              <a:pathLst>
                <a:path w="1713229" h="3200400">
                  <a:moveTo>
                    <a:pt x="1639824" y="0"/>
                  </a:moveTo>
                  <a:lnTo>
                    <a:pt x="73151" y="0"/>
                  </a:lnTo>
                  <a:lnTo>
                    <a:pt x="44684" y="5750"/>
                  </a:lnTo>
                  <a:lnTo>
                    <a:pt x="21431" y="21431"/>
                  </a:lnTo>
                  <a:lnTo>
                    <a:pt x="5750" y="44684"/>
                  </a:lnTo>
                  <a:lnTo>
                    <a:pt x="0" y="73151"/>
                  </a:lnTo>
                  <a:lnTo>
                    <a:pt x="0" y="3127248"/>
                  </a:lnTo>
                  <a:lnTo>
                    <a:pt x="5750" y="3155715"/>
                  </a:lnTo>
                  <a:lnTo>
                    <a:pt x="21431" y="3178968"/>
                  </a:lnTo>
                  <a:lnTo>
                    <a:pt x="44684" y="3194649"/>
                  </a:lnTo>
                  <a:lnTo>
                    <a:pt x="73151" y="3200400"/>
                  </a:lnTo>
                  <a:lnTo>
                    <a:pt x="1639824" y="3200400"/>
                  </a:lnTo>
                  <a:lnTo>
                    <a:pt x="1668291" y="3194649"/>
                  </a:lnTo>
                  <a:lnTo>
                    <a:pt x="1691544" y="3178968"/>
                  </a:lnTo>
                  <a:lnTo>
                    <a:pt x="1707225" y="3155715"/>
                  </a:lnTo>
                  <a:lnTo>
                    <a:pt x="1712976" y="3127248"/>
                  </a:lnTo>
                  <a:lnTo>
                    <a:pt x="1712976" y="73151"/>
                  </a:lnTo>
                  <a:lnTo>
                    <a:pt x="1707225" y="44684"/>
                  </a:lnTo>
                  <a:lnTo>
                    <a:pt x="1691544" y="21431"/>
                  </a:lnTo>
                  <a:lnTo>
                    <a:pt x="1668291" y="5750"/>
                  </a:lnTo>
                  <a:lnTo>
                    <a:pt x="1639824" y="0"/>
                  </a:lnTo>
                  <a:close/>
                </a:path>
              </a:pathLst>
            </a:custGeom>
            <a:solidFill>
              <a:srgbClr val="FFFFFF"/>
            </a:solidFill>
          </p:spPr>
          <p:txBody>
            <a:bodyPr wrap="square" lIns="0" tIns="0" rIns="0" bIns="0" rtlCol="0"/>
            <a:lstStyle/>
            <a:p>
              <a:endParaRPr/>
            </a:p>
          </p:txBody>
        </p:sp>
        <p:sp>
          <p:nvSpPr>
            <p:cNvPr id="24" name="object 24"/>
            <p:cNvSpPr/>
            <p:nvPr/>
          </p:nvSpPr>
          <p:spPr>
            <a:xfrm>
              <a:off x="4300728" y="1600199"/>
              <a:ext cx="1713230" cy="3200400"/>
            </a:xfrm>
            <a:custGeom>
              <a:avLst/>
              <a:gdLst/>
              <a:ahLst/>
              <a:cxnLst/>
              <a:rect l="l" t="t" r="r" b="b"/>
              <a:pathLst>
                <a:path w="1713229" h="3200400">
                  <a:moveTo>
                    <a:pt x="0" y="73151"/>
                  </a:moveTo>
                  <a:lnTo>
                    <a:pt x="5750" y="44684"/>
                  </a:lnTo>
                  <a:lnTo>
                    <a:pt x="21431" y="21431"/>
                  </a:lnTo>
                  <a:lnTo>
                    <a:pt x="44684" y="5750"/>
                  </a:lnTo>
                  <a:lnTo>
                    <a:pt x="73151" y="0"/>
                  </a:lnTo>
                  <a:lnTo>
                    <a:pt x="1639824" y="0"/>
                  </a:lnTo>
                  <a:lnTo>
                    <a:pt x="1668291" y="5750"/>
                  </a:lnTo>
                  <a:lnTo>
                    <a:pt x="1691544" y="21431"/>
                  </a:lnTo>
                  <a:lnTo>
                    <a:pt x="1707225" y="44684"/>
                  </a:lnTo>
                  <a:lnTo>
                    <a:pt x="1712976" y="73151"/>
                  </a:lnTo>
                  <a:lnTo>
                    <a:pt x="1712976" y="3127248"/>
                  </a:lnTo>
                  <a:lnTo>
                    <a:pt x="1707225" y="3155715"/>
                  </a:lnTo>
                  <a:lnTo>
                    <a:pt x="1691544" y="3178968"/>
                  </a:lnTo>
                  <a:lnTo>
                    <a:pt x="1668291" y="3194649"/>
                  </a:lnTo>
                  <a:lnTo>
                    <a:pt x="1639824" y="3200400"/>
                  </a:lnTo>
                  <a:lnTo>
                    <a:pt x="73151" y="3200400"/>
                  </a:lnTo>
                  <a:lnTo>
                    <a:pt x="44684" y="3194649"/>
                  </a:lnTo>
                  <a:lnTo>
                    <a:pt x="21431" y="3178968"/>
                  </a:lnTo>
                  <a:lnTo>
                    <a:pt x="5750" y="3155715"/>
                  </a:lnTo>
                  <a:lnTo>
                    <a:pt x="0" y="3127248"/>
                  </a:lnTo>
                  <a:lnTo>
                    <a:pt x="0" y="73151"/>
                  </a:lnTo>
                  <a:close/>
                </a:path>
              </a:pathLst>
            </a:custGeom>
            <a:ln w="12192">
              <a:solidFill>
                <a:srgbClr val="DDD2C4"/>
              </a:solidFill>
            </a:ln>
          </p:spPr>
          <p:txBody>
            <a:bodyPr wrap="square" lIns="0" tIns="0" rIns="0" bIns="0" rtlCol="0"/>
            <a:lstStyle/>
            <a:p>
              <a:endParaRPr/>
            </a:p>
          </p:txBody>
        </p:sp>
        <p:sp>
          <p:nvSpPr>
            <p:cNvPr id="25" name="object 25"/>
            <p:cNvSpPr/>
            <p:nvPr/>
          </p:nvSpPr>
          <p:spPr>
            <a:xfrm>
              <a:off x="4901184"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3"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26" name="object 26"/>
            <p:cNvSpPr/>
            <p:nvPr/>
          </p:nvSpPr>
          <p:spPr>
            <a:xfrm>
              <a:off x="4901184"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3"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27" name="object 27"/>
          <p:cNvSpPr txBox="1"/>
          <p:nvPr/>
        </p:nvSpPr>
        <p:spPr>
          <a:xfrm>
            <a:off x="4358893" y="2051684"/>
            <a:ext cx="1655066" cy="167354"/>
          </a:xfrm>
          <a:prstGeom prst="rect">
            <a:avLst/>
          </a:prstGeom>
        </p:spPr>
        <p:txBody>
          <a:bodyPr vert="horz" wrap="square" lIns="0" tIns="13335" rIns="0" bIns="0" rtlCol="0">
            <a:spAutoFit/>
          </a:bodyPr>
          <a:lstStyle/>
          <a:p>
            <a:pPr marL="12700">
              <a:lnSpc>
                <a:spcPct val="100000"/>
              </a:lnSpc>
              <a:spcBef>
                <a:spcPts val="105"/>
              </a:spcBef>
            </a:pPr>
            <a:r>
              <a:rPr lang="en-IN" sz="1000" b="1" dirty="0">
                <a:solidFill>
                  <a:srgbClr val="C00000"/>
                </a:solidFill>
              </a:rPr>
              <a:t>FEATURE PREPARATION</a:t>
            </a:r>
            <a:endParaRPr sz="1000" b="1" dirty="0">
              <a:solidFill>
                <a:srgbClr val="C00000"/>
              </a:solidFill>
              <a:latin typeface="Calibri"/>
              <a:cs typeface="Calibri"/>
            </a:endParaRPr>
          </a:p>
        </p:txBody>
      </p:sp>
      <p:sp>
        <p:nvSpPr>
          <p:cNvPr id="28" name="object 28"/>
          <p:cNvSpPr txBox="1"/>
          <p:nvPr/>
        </p:nvSpPr>
        <p:spPr>
          <a:xfrm>
            <a:off x="4021202" y="2633577"/>
            <a:ext cx="1961260" cy="705321"/>
          </a:xfrm>
          <a:prstGeom prst="rect">
            <a:avLst/>
          </a:prstGeom>
        </p:spPr>
        <p:txBody>
          <a:bodyPr vert="horz" wrap="square" lIns="0" tIns="12700" rIns="0" bIns="0" rtlCol="0">
            <a:spAutoFit/>
          </a:bodyPr>
          <a:lstStyle/>
          <a:p>
            <a:pPr marL="360045" marR="5080" indent="-347980" algn="ctr">
              <a:lnSpc>
                <a:spcPct val="100000"/>
              </a:lnSpc>
              <a:spcBef>
                <a:spcPts val="100"/>
              </a:spcBef>
            </a:pPr>
            <a:r>
              <a:rPr lang="en-IN" sz="900" dirty="0"/>
              <a:t>           Select the relevant input features such as </a:t>
            </a:r>
            <a:r>
              <a:rPr lang="en-IN" sz="900" b="1" dirty="0"/>
              <a:t>Year, State, Crop, Season, Area, Production, Annual Rainfall, Fertilizer, and Pesticide</a:t>
            </a:r>
            <a:r>
              <a:rPr lang="en-IN" sz="900" dirty="0"/>
              <a:t>.</a:t>
            </a:r>
            <a:endParaRPr sz="900" dirty="0">
              <a:latin typeface="Calibri"/>
              <a:cs typeface="Calibri"/>
            </a:endParaRPr>
          </a:p>
        </p:txBody>
      </p:sp>
      <p:grpSp>
        <p:nvGrpSpPr>
          <p:cNvPr id="29" name="object 29"/>
          <p:cNvGrpSpPr/>
          <p:nvPr/>
        </p:nvGrpSpPr>
        <p:grpSpPr>
          <a:xfrm>
            <a:off x="6092952" y="1331785"/>
            <a:ext cx="1871345" cy="3569335"/>
            <a:chOff x="6092952" y="1331785"/>
            <a:chExt cx="1871345" cy="3569335"/>
          </a:xfrm>
        </p:grpSpPr>
        <p:pic>
          <p:nvPicPr>
            <p:cNvPr id="30" name="object 30"/>
            <p:cNvPicPr/>
            <p:nvPr/>
          </p:nvPicPr>
          <p:blipFill>
            <a:blip r:embed="rId3" cstate="print"/>
            <a:stretch>
              <a:fillRect/>
            </a:stretch>
          </p:blipFill>
          <p:spPr>
            <a:xfrm>
              <a:off x="6092952" y="1539239"/>
              <a:ext cx="1871091" cy="3361563"/>
            </a:xfrm>
            <a:prstGeom prst="rect">
              <a:avLst/>
            </a:prstGeom>
          </p:spPr>
        </p:pic>
        <p:sp>
          <p:nvSpPr>
            <p:cNvPr id="31" name="object 31"/>
            <p:cNvSpPr/>
            <p:nvPr/>
          </p:nvSpPr>
          <p:spPr>
            <a:xfrm>
              <a:off x="6178296" y="1600199"/>
              <a:ext cx="1710055" cy="3200400"/>
            </a:xfrm>
            <a:custGeom>
              <a:avLst/>
              <a:gdLst/>
              <a:ahLst/>
              <a:cxnLst/>
              <a:rect l="l" t="t" r="r" b="b"/>
              <a:pathLst>
                <a:path w="1710054" h="3200400">
                  <a:moveTo>
                    <a:pt x="1636902" y="0"/>
                  </a:moveTo>
                  <a:lnTo>
                    <a:pt x="73025" y="0"/>
                  </a:lnTo>
                  <a:lnTo>
                    <a:pt x="44630" y="5748"/>
                  </a:lnTo>
                  <a:lnTo>
                    <a:pt x="21415" y="21415"/>
                  </a:lnTo>
                  <a:lnTo>
                    <a:pt x="5748" y="44630"/>
                  </a:lnTo>
                  <a:lnTo>
                    <a:pt x="0" y="73025"/>
                  </a:lnTo>
                  <a:lnTo>
                    <a:pt x="0" y="3127375"/>
                  </a:lnTo>
                  <a:lnTo>
                    <a:pt x="5748" y="3155769"/>
                  </a:lnTo>
                  <a:lnTo>
                    <a:pt x="21415" y="3178984"/>
                  </a:lnTo>
                  <a:lnTo>
                    <a:pt x="44630" y="3194651"/>
                  </a:lnTo>
                  <a:lnTo>
                    <a:pt x="73025" y="3200400"/>
                  </a:lnTo>
                  <a:lnTo>
                    <a:pt x="1636902" y="3200400"/>
                  </a:lnTo>
                  <a:lnTo>
                    <a:pt x="1665297" y="3194651"/>
                  </a:lnTo>
                  <a:lnTo>
                    <a:pt x="1688512" y="3178984"/>
                  </a:lnTo>
                  <a:lnTo>
                    <a:pt x="1704179" y="3155769"/>
                  </a:lnTo>
                  <a:lnTo>
                    <a:pt x="1709927" y="3127375"/>
                  </a:lnTo>
                  <a:lnTo>
                    <a:pt x="1709927" y="73025"/>
                  </a:lnTo>
                  <a:lnTo>
                    <a:pt x="1704179" y="44630"/>
                  </a:lnTo>
                  <a:lnTo>
                    <a:pt x="1688512" y="21415"/>
                  </a:lnTo>
                  <a:lnTo>
                    <a:pt x="1665297" y="5748"/>
                  </a:lnTo>
                  <a:lnTo>
                    <a:pt x="1636902" y="0"/>
                  </a:lnTo>
                  <a:close/>
                </a:path>
              </a:pathLst>
            </a:custGeom>
            <a:solidFill>
              <a:srgbClr val="FFFFFF"/>
            </a:solidFill>
          </p:spPr>
          <p:txBody>
            <a:bodyPr wrap="square" lIns="0" tIns="0" rIns="0" bIns="0" rtlCol="0"/>
            <a:lstStyle/>
            <a:p>
              <a:endParaRPr/>
            </a:p>
          </p:txBody>
        </p:sp>
        <p:sp>
          <p:nvSpPr>
            <p:cNvPr id="32" name="object 32"/>
            <p:cNvSpPr/>
            <p:nvPr/>
          </p:nvSpPr>
          <p:spPr>
            <a:xfrm>
              <a:off x="6178296" y="1600199"/>
              <a:ext cx="1710055" cy="3200400"/>
            </a:xfrm>
            <a:custGeom>
              <a:avLst/>
              <a:gdLst/>
              <a:ahLst/>
              <a:cxnLst/>
              <a:rect l="l" t="t" r="r" b="b"/>
              <a:pathLst>
                <a:path w="1710054" h="3200400">
                  <a:moveTo>
                    <a:pt x="0" y="73025"/>
                  </a:moveTo>
                  <a:lnTo>
                    <a:pt x="5748" y="44630"/>
                  </a:lnTo>
                  <a:lnTo>
                    <a:pt x="21415" y="21415"/>
                  </a:lnTo>
                  <a:lnTo>
                    <a:pt x="44630" y="5748"/>
                  </a:lnTo>
                  <a:lnTo>
                    <a:pt x="73025" y="0"/>
                  </a:lnTo>
                  <a:lnTo>
                    <a:pt x="1636902" y="0"/>
                  </a:lnTo>
                  <a:lnTo>
                    <a:pt x="1665297" y="5748"/>
                  </a:lnTo>
                  <a:lnTo>
                    <a:pt x="1688512" y="21415"/>
                  </a:lnTo>
                  <a:lnTo>
                    <a:pt x="1704179" y="44630"/>
                  </a:lnTo>
                  <a:lnTo>
                    <a:pt x="1709927" y="73025"/>
                  </a:lnTo>
                  <a:lnTo>
                    <a:pt x="1709927" y="3127375"/>
                  </a:lnTo>
                  <a:lnTo>
                    <a:pt x="1704179" y="3155769"/>
                  </a:lnTo>
                  <a:lnTo>
                    <a:pt x="1688512" y="3178984"/>
                  </a:lnTo>
                  <a:lnTo>
                    <a:pt x="1665297" y="3194651"/>
                  </a:lnTo>
                  <a:lnTo>
                    <a:pt x="1636902" y="3200400"/>
                  </a:lnTo>
                  <a:lnTo>
                    <a:pt x="73025" y="3200400"/>
                  </a:lnTo>
                  <a:lnTo>
                    <a:pt x="44630" y="3194651"/>
                  </a:lnTo>
                  <a:lnTo>
                    <a:pt x="21415" y="3178984"/>
                  </a:lnTo>
                  <a:lnTo>
                    <a:pt x="5748" y="3155769"/>
                  </a:lnTo>
                  <a:lnTo>
                    <a:pt x="0" y="3127375"/>
                  </a:lnTo>
                  <a:lnTo>
                    <a:pt x="0" y="73025"/>
                  </a:lnTo>
                  <a:close/>
                </a:path>
              </a:pathLst>
            </a:custGeom>
            <a:ln w="12191">
              <a:solidFill>
                <a:srgbClr val="DDD2C4"/>
              </a:solidFill>
            </a:ln>
          </p:spPr>
          <p:txBody>
            <a:bodyPr wrap="square" lIns="0" tIns="0" rIns="0" bIns="0" rtlCol="0"/>
            <a:lstStyle/>
            <a:p>
              <a:endParaRPr/>
            </a:p>
          </p:txBody>
        </p:sp>
        <p:sp>
          <p:nvSpPr>
            <p:cNvPr id="33" name="object 33"/>
            <p:cNvSpPr/>
            <p:nvPr/>
          </p:nvSpPr>
          <p:spPr>
            <a:xfrm>
              <a:off x="6775704"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4"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34" name="object 34"/>
            <p:cNvSpPr/>
            <p:nvPr/>
          </p:nvSpPr>
          <p:spPr>
            <a:xfrm>
              <a:off x="6775704"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4"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35" name="object 35"/>
          <p:cNvSpPr txBox="1"/>
          <p:nvPr/>
        </p:nvSpPr>
        <p:spPr>
          <a:xfrm>
            <a:off x="4075938" y="933449"/>
            <a:ext cx="4037965" cy="788670"/>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Hybrid</a:t>
            </a:r>
            <a:r>
              <a:rPr sz="1150" i="1" spc="20" dirty="0">
                <a:solidFill>
                  <a:srgbClr val="6D6D6D"/>
                </a:solidFill>
                <a:latin typeface="Calibri"/>
                <a:cs typeface="Calibri"/>
              </a:rPr>
              <a:t> </a:t>
            </a:r>
            <a:r>
              <a:rPr sz="1150" i="1" dirty="0">
                <a:solidFill>
                  <a:srgbClr val="6D6D6D"/>
                </a:solidFill>
                <a:latin typeface="Calibri"/>
                <a:cs typeface="Calibri"/>
              </a:rPr>
              <a:t>temporal</a:t>
            </a:r>
            <a:r>
              <a:rPr sz="1150" i="1" spc="-10" dirty="0">
                <a:solidFill>
                  <a:srgbClr val="6D6D6D"/>
                </a:solidFill>
                <a:latin typeface="Calibri"/>
                <a:cs typeface="Calibri"/>
              </a:rPr>
              <a:t> </a:t>
            </a:r>
            <a:r>
              <a:rPr sz="1150" i="1" dirty="0">
                <a:solidFill>
                  <a:srgbClr val="6D6D6D"/>
                </a:solidFill>
                <a:latin typeface="Calibri"/>
                <a:cs typeface="Calibri"/>
              </a:rPr>
              <a:t>learning</a:t>
            </a:r>
            <a:r>
              <a:rPr sz="1150" i="1" spc="-25" dirty="0">
                <a:solidFill>
                  <a:srgbClr val="6D6D6D"/>
                </a:solidFill>
                <a:latin typeface="Calibri"/>
                <a:cs typeface="Calibri"/>
              </a:rPr>
              <a:t> </a:t>
            </a:r>
            <a:r>
              <a:rPr sz="1150" i="1" dirty="0">
                <a:solidFill>
                  <a:srgbClr val="6D6D6D"/>
                </a:solidFill>
                <a:latin typeface="Calibri"/>
                <a:cs typeface="Calibri"/>
              </a:rPr>
              <a:t>+</a:t>
            </a:r>
            <a:r>
              <a:rPr sz="1150" i="1" spc="20" dirty="0">
                <a:solidFill>
                  <a:srgbClr val="6D6D6D"/>
                </a:solidFill>
                <a:latin typeface="Calibri"/>
                <a:cs typeface="Calibri"/>
              </a:rPr>
              <a:t> </a:t>
            </a:r>
            <a:r>
              <a:rPr sz="1150" i="1" spc="-10" dirty="0">
                <a:solidFill>
                  <a:srgbClr val="6D6D6D"/>
                </a:solidFill>
                <a:latin typeface="Calibri"/>
                <a:cs typeface="Calibri"/>
              </a:rPr>
              <a:t>reconstruction-based</a:t>
            </a:r>
            <a:r>
              <a:rPr sz="1150" i="1" spc="-45" dirty="0">
                <a:solidFill>
                  <a:srgbClr val="6D6D6D"/>
                </a:solidFill>
                <a:latin typeface="Calibri"/>
                <a:cs typeface="Calibri"/>
              </a:rPr>
              <a:t> </a:t>
            </a:r>
            <a:r>
              <a:rPr sz="1150" i="1" dirty="0">
                <a:solidFill>
                  <a:srgbClr val="6D6D6D"/>
                </a:solidFill>
                <a:latin typeface="Calibri"/>
                <a:cs typeface="Calibri"/>
              </a:rPr>
              <a:t>anomaly</a:t>
            </a:r>
            <a:r>
              <a:rPr sz="1150" i="1" spc="-45" dirty="0">
                <a:solidFill>
                  <a:srgbClr val="6D6D6D"/>
                </a:solidFill>
                <a:latin typeface="Calibri"/>
                <a:cs typeface="Calibri"/>
              </a:rPr>
              <a:t> </a:t>
            </a:r>
            <a:r>
              <a:rPr sz="1150" i="1" spc="-10" dirty="0">
                <a:solidFill>
                  <a:srgbClr val="6D6D6D"/>
                </a:solidFill>
                <a:latin typeface="Calibri"/>
                <a:cs typeface="Calibri"/>
              </a:rPr>
              <a:t>detection</a:t>
            </a:r>
            <a:endParaRPr sz="1150">
              <a:latin typeface="Calibri"/>
              <a:cs typeface="Calibri"/>
            </a:endParaRPr>
          </a:p>
          <a:p>
            <a:pPr>
              <a:lnSpc>
                <a:spcPct val="100000"/>
              </a:lnSpc>
              <a:spcBef>
                <a:spcPts val="1300"/>
              </a:spcBef>
            </a:pPr>
            <a:endParaRPr sz="1150">
              <a:latin typeface="Calibri"/>
              <a:cs typeface="Calibri"/>
            </a:endParaRPr>
          </a:p>
          <a:p>
            <a:pPr marL="1029969">
              <a:lnSpc>
                <a:spcPct val="100000"/>
              </a:lnSpc>
              <a:tabLst>
                <a:tab pos="2906395" algn="l"/>
              </a:tabLst>
            </a:pPr>
            <a:r>
              <a:rPr sz="1600" b="1" spc="-50" dirty="0">
                <a:solidFill>
                  <a:srgbClr val="FFFFFF"/>
                </a:solidFill>
                <a:latin typeface="Calibri"/>
                <a:cs typeface="Calibri"/>
              </a:rPr>
              <a:t>3</a:t>
            </a:r>
            <a:r>
              <a:rPr sz="1600" b="1" dirty="0">
                <a:solidFill>
                  <a:srgbClr val="FFFFFF"/>
                </a:solidFill>
                <a:latin typeface="Calibri"/>
                <a:cs typeface="Calibri"/>
              </a:rPr>
              <a:t>	</a:t>
            </a:r>
            <a:r>
              <a:rPr sz="1600" b="1" spc="-50" dirty="0">
                <a:solidFill>
                  <a:srgbClr val="FFFFFF"/>
                </a:solidFill>
                <a:latin typeface="Calibri"/>
                <a:cs typeface="Calibri"/>
              </a:rPr>
              <a:t>4</a:t>
            </a:r>
            <a:endParaRPr sz="1600">
              <a:latin typeface="Calibri"/>
              <a:cs typeface="Calibri"/>
            </a:endParaRPr>
          </a:p>
        </p:txBody>
      </p:sp>
      <p:sp>
        <p:nvSpPr>
          <p:cNvPr id="36" name="object 36"/>
          <p:cNvSpPr txBox="1"/>
          <p:nvPr/>
        </p:nvSpPr>
        <p:spPr>
          <a:xfrm>
            <a:off x="6388100" y="2041929"/>
            <a:ext cx="1710055" cy="167354"/>
          </a:xfrm>
          <a:prstGeom prst="rect">
            <a:avLst/>
          </a:prstGeom>
        </p:spPr>
        <p:txBody>
          <a:bodyPr vert="horz" wrap="square" lIns="0" tIns="13335" rIns="0" bIns="0" rtlCol="0">
            <a:spAutoFit/>
          </a:bodyPr>
          <a:lstStyle/>
          <a:p>
            <a:pPr marL="12700">
              <a:lnSpc>
                <a:spcPct val="100000"/>
              </a:lnSpc>
              <a:spcBef>
                <a:spcPts val="105"/>
              </a:spcBef>
            </a:pPr>
            <a:r>
              <a:rPr lang="en-IN" sz="1000" b="1" dirty="0">
                <a:solidFill>
                  <a:srgbClr val="C00000"/>
                </a:solidFill>
              </a:rPr>
              <a:t>RANDOM FOREST</a:t>
            </a:r>
            <a:endParaRPr sz="1000" b="1" dirty="0">
              <a:solidFill>
                <a:srgbClr val="C00000"/>
              </a:solidFill>
              <a:latin typeface="Calibri"/>
              <a:cs typeface="Calibri"/>
            </a:endParaRPr>
          </a:p>
        </p:txBody>
      </p:sp>
      <p:sp>
        <p:nvSpPr>
          <p:cNvPr id="37" name="object 37"/>
          <p:cNvSpPr txBox="1"/>
          <p:nvPr/>
        </p:nvSpPr>
        <p:spPr>
          <a:xfrm>
            <a:off x="6109590" y="2633577"/>
            <a:ext cx="1754377" cy="566822"/>
          </a:xfrm>
          <a:prstGeom prst="rect">
            <a:avLst/>
          </a:prstGeom>
        </p:spPr>
        <p:txBody>
          <a:bodyPr vert="horz" wrap="square" lIns="0" tIns="12700" rIns="0" bIns="0" rtlCol="0">
            <a:spAutoFit/>
          </a:bodyPr>
          <a:lstStyle/>
          <a:p>
            <a:pPr marL="48895" marR="5080" indent="-36830" algn="ctr">
              <a:lnSpc>
                <a:spcPct val="100000"/>
              </a:lnSpc>
              <a:spcBef>
                <a:spcPts val="100"/>
              </a:spcBef>
            </a:pPr>
            <a:r>
              <a:rPr lang="en-IN" sz="900" dirty="0"/>
              <a:t> Train a Random Forest regression model to learn relationships between input features and crop yield.</a:t>
            </a:r>
            <a:endParaRPr sz="900" dirty="0">
              <a:latin typeface="Calibri"/>
              <a:cs typeface="Calibri"/>
            </a:endParaRPr>
          </a:p>
        </p:txBody>
      </p:sp>
      <p:grpSp>
        <p:nvGrpSpPr>
          <p:cNvPr id="38" name="object 38"/>
          <p:cNvGrpSpPr/>
          <p:nvPr/>
        </p:nvGrpSpPr>
        <p:grpSpPr>
          <a:xfrm>
            <a:off x="7967471" y="1331785"/>
            <a:ext cx="1874520" cy="3569335"/>
            <a:chOff x="7967471" y="1331785"/>
            <a:chExt cx="1874520" cy="3569335"/>
          </a:xfrm>
        </p:grpSpPr>
        <p:pic>
          <p:nvPicPr>
            <p:cNvPr id="39" name="object 39"/>
            <p:cNvPicPr/>
            <p:nvPr/>
          </p:nvPicPr>
          <p:blipFill>
            <a:blip r:embed="rId2" cstate="print"/>
            <a:stretch>
              <a:fillRect/>
            </a:stretch>
          </p:blipFill>
          <p:spPr>
            <a:xfrm>
              <a:off x="7967471" y="1539239"/>
              <a:ext cx="1874139" cy="3361563"/>
            </a:xfrm>
            <a:prstGeom prst="rect">
              <a:avLst/>
            </a:prstGeom>
          </p:spPr>
        </p:pic>
        <p:sp>
          <p:nvSpPr>
            <p:cNvPr id="40" name="object 40"/>
            <p:cNvSpPr/>
            <p:nvPr/>
          </p:nvSpPr>
          <p:spPr>
            <a:xfrm>
              <a:off x="8052815" y="1600199"/>
              <a:ext cx="1713230" cy="3200400"/>
            </a:xfrm>
            <a:custGeom>
              <a:avLst/>
              <a:gdLst/>
              <a:ahLst/>
              <a:cxnLst/>
              <a:rect l="l" t="t" r="r" b="b"/>
              <a:pathLst>
                <a:path w="1713229" h="3200400">
                  <a:moveTo>
                    <a:pt x="1639824" y="0"/>
                  </a:moveTo>
                  <a:lnTo>
                    <a:pt x="73151" y="0"/>
                  </a:lnTo>
                  <a:lnTo>
                    <a:pt x="44684" y="5750"/>
                  </a:lnTo>
                  <a:lnTo>
                    <a:pt x="21431" y="21431"/>
                  </a:lnTo>
                  <a:lnTo>
                    <a:pt x="5750" y="44684"/>
                  </a:lnTo>
                  <a:lnTo>
                    <a:pt x="0" y="73151"/>
                  </a:lnTo>
                  <a:lnTo>
                    <a:pt x="0" y="3127248"/>
                  </a:lnTo>
                  <a:lnTo>
                    <a:pt x="5750" y="3155715"/>
                  </a:lnTo>
                  <a:lnTo>
                    <a:pt x="21431" y="3178968"/>
                  </a:lnTo>
                  <a:lnTo>
                    <a:pt x="44684" y="3194649"/>
                  </a:lnTo>
                  <a:lnTo>
                    <a:pt x="73151" y="3200400"/>
                  </a:lnTo>
                  <a:lnTo>
                    <a:pt x="1639824" y="3200400"/>
                  </a:lnTo>
                  <a:lnTo>
                    <a:pt x="1668291" y="3194649"/>
                  </a:lnTo>
                  <a:lnTo>
                    <a:pt x="1691544" y="3178968"/>
                  </a:lnTo>
                  <a:lnTo>
                    <a:pt x="1707225" y="3155715"/>
                  </a:lnTo>
                  <a:lnTo>
                    <a:pt x="1712976" y="3127248"/>
                  </a:lnTo>
                  <a:lnTo>
                    <a:pt x="1712976" y="73151"/>
                  </a:lnTo>
                  <a:lnTo>
                    <a:pt x="1707225" y="44684"/>
                  </a:lnTo>
                  <a:lnTo>
                    <a:pt x="1691544" y="21431"/>
                  </a:lnTo>
                  <a:lnTo>
                    <a:pt x="1668291" y="5750"/>
                  </a:lnTo>
                  <a:lnTo>
                    <a:pt x="1639824" y="0"/>
                  </a:lnTo>
                  <a:close/>
                </a:path>
              </a:pathLst>
            </a:custGeom>
            <a:solidFill>
              <a:srgbClr val="FFFFFF"/>
            </a:solidFill>
          </p:spPr>
          <p:txBody>
            <a:bodyPr wrap="square" lIns="0" tIns="0" rIns="0" bIns="0" rtlCol="0"/>
            <a:lstStyle/>
            <a:p>
              <a:endParaRPr/>
            </a:p>
          </p:txBody>
        </p:sp>
        <p:sp>
          <p:nvSpPr>
            <p:cNvPr id="41" name="object 41"/>
            <p:cNvSpPr/>
            <p:nvPr/>
          </p:nvSpPr>
          <p:spPr>
            <a:xfrm>
              <a:off x="8052815" y="1600199"/>
              <a:ext cx="1713230" cy="3200400"/>
            </a:xfrm>
            <a:custGeom>
              <a:avLst/>
              <a:gdLst/>
              <a:ahLst/>
              <a:cxnLst/>
              <a:rect l="l" t="t" r="r" b="b"/>
              <a:pathLst>
                <a:path w="1713229" h="3200400">
                  <a:moveTo>
                    <a:pt x="0" y="73151"/>
                  </a:moveTo>
                  <a:lnTo>
                    <a:pt x="5750" y="44684"/>
                  </a:lnTo>
                  <a:lnTo>
                    <a:pt x="21431" y="21431"/>
                  </a:lnTo>
                  <a:lnTo>
                    <a:pt x="44684" y="5750"/>
                  </a:lnTo>
                  <a:lnTo>
                    <a:pt x="73151" y="0"/>
                  </a:lnTo>
                  <a:lnTo>
                    <a:pt x="1639824" y="0"/>
                  </a:lnTo>
                  <a:lnTo>
                    <a:pt x="1668291" y="5750"/>
                  </a:lnTo>
                  <a:lnTo>
                    <a:pt x="1691544" y="21431"/>
                  </a:lnTo>
                  <a:lnTo>
                    <a:pt x="1707225" y="44684"/>
                  </a:lnTo>
                  <a:lnTo>
                    <a:pt x="1712976" y="73151"/>
                  </a:lnTo>
                  <a:lnTo>
                    <a:pt x="1712976" y="3127248"/>
                  </a:lnTo>
                  <a:lnTo>
                    <a:pt x="1707225" y="3155715"/>
                  </a:lnTo>
                  <a:lnTo>
                    <a:pt x="1691544" y="3178968"/>
                  </a:lnTo>
                  <a:lnTo>
                    <a:pt x="1668291" y="3194649"/>
                  </a:lnTo>
                  <a:lnTo>
                    <a:pt x="1639824" y="3200400"/>
                  </a:lnTo>
                  <a:lnTo>
                    <a:pt x="73151" y="3200400"/>
                  </a:lnTo>
                  <a:lnTo>
                    <a:pt x="44684" y="3194649"/>
                  </a:lnTo>
                  <a:lnTo>
                    <a:pt x="21431" y="3178968"/>
                  </a:lnTo>
                  <a:lnTo>
                    <a:pt x="5750" y="3155715"/>
                  </a:lnTo>
                  <a:lnTo>
                    <a:pt x="0" y="3127248"/>
                  </a:lnTo>
                  <a:lnTo>
                    <a:pt x="0" y="73151"/>
                  </a:lnTo>
                  <a:close/>
                </a:path>
              </a:pathLst>
            </a:custGeom>
            <a:ln w="12192">
              <a:solidFill>
                <a:srgbClr val="DDD2C4"/>
              </a:solidFill>
            </a:ln>
          </p:spPr>
          <p:txBody>
            <a:bodyPr wrap="square" lIns="0" tIns="0" rIns="0" bIns="0" rtlCol="0"/>
            <a:lstStyle/>
            <a:p>
              <a:endParaRPr/>
            </a:p>
          </p:txBody>
        </p:sp>
        <p:sp>
          <p:nvSpPr>
            <p:cNvPr id="42" name="object 42"/>
            <p:cNvSpPr/>
            <p:nvPr/>
          </p:nvSpPr>
          <p:spPr>
            <a:xfrm>
              <a:off x="8653271"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3"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43" name="object 43"/>
            <p:cNvSpPr/>
            <p:nvPr/>
          </p:nvSpPr>
          <p:spPr>
            <a:xfrm>
              <a:off x="8653271"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3"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44" name="object 44"/>
          <p:cNvSpPr txBox="1"/>
          <p:nvPr/>
        </p:nvSpPr>
        <p:spPr>
          <a:xfrm>
            <a:off x="8846566" y="1451229"/>
            <a:ext cx="128905" cy="270510"/>
          </a:xfrm>
          <a:prstGeom prst="rect">
            <a:avLst/>
          </a:prstGeom>
        </p:spPr>
        <p:txBody>
          <a:bodyPr vert="horz" wrap="square" lIns="0" tIns="13335" rIns="0" bIns="0" rtlCol="0">
            <a:spAutoFit/>
          </a:bodyPr>
          <a:lstStyle/>
          <a:p>
            <a:pPr marL="12700">
              <a:lnSpc>
                <a:spcPct val="100000"/>
              </a:lnSpc>
              <a:spcBef>
                <a:spcPts val="105"/>
              </a:spcBef>
            </a:pPr>
            <a:r>
              <a:rPr sz="1600" b="1" spc="-50" dirty="0">
                <a:solidFill>
                  <a:srgbClr val="FFFFFF"/>
                </a:solidFill>
                <a:latin typeface="Calibri"/>
                <a:cs typeface="Calibri"/>
              </a:rPr>
              <a:t>5</a:t>
            </a:r>
            <a:endParaRPr sz="1600">
              <a:latin typeface="Calibri"/>
              <a:cs typeface="Calibri"/>
            </a:endParaRPr>
          </a:p>
        </p:txBody>
      </p:sp>
      <p:sp>
        <p:nvSpPr>
          <p:cNvPr id="45" name="object 45"/>
          <p:cNvSpPr txBox="1"/>
          <p:nvPr/>
        </p:nvSpPr>
        <p:spPr>
          <a:xfrm>
            <a:off x="8286876" y="2045664"/>
            <a:ext cx="1326643" cy="167354"/>
          </a:xfrm>
          <a:prstGeom prst="rect">
            <a:avLst/>
          </a:prstGeom>
        </p:spPr>
        <p:txBody>
          <a:bodyPr vert="horz" wrap="square" lIns="0" tIns="13335" rIns="0" bIns="0" rtlCol="0">
            <a:spAutoFit/>
          </a:bodyPr>
          <a:lstStyle/>
          <a:p>
            <a:pPr marL="12700">
              <a:lnSpc>
                <a:spcPct val="100000"/>
              </a:lnSpc>
              <a:spcBef>
                <a:spcPts val="105"/>
              </a:spcBef>
            </a:pPr>
            <a:r>
              <a:rPr lang="en-IN" sz="1000" b="1" dirty="0">
                <a:solidFill>
                  <a:srgbClr val="C00000"/>
                </a:solidFill>
              </a:rPr>
              <a:t>XGBOOST + SVR</a:t>
            </a:r>
            <a:endParaRPr sz="1000" b="1" dirty="0">
              <a:solidFill>
                <a:srgbClr val="C00000"/>
              </a:solidFill>
              <a:latin typeface="Calibri"/>
              <a:cs typeface="Calibri"/>
            </a:endParaRPr>
          </a:p>
        </p:txBody>
      </p:sp>
      <p:sp>
        <p:nvSpPr>
          <p:cNvPr id="46" name="object 46"/>
          <p:cNvSpPr txBox="1"/>
          <p:nvPr/>
        </p:nvSpPr>
        <p:spPr>
          <a:xfrm>
            <a:off x="7955407" y="2605160"/>
            <a:ext cx="1713229" cy="566822"/>
          </a:xfrm>
          <a:prstGeom prst="rect">
            <a:avLst/>
          </a:prstGeom>
        </p:spPr>
        <p:txBody>
          <a:bodyPr vert="horz" wrap="square" lIns="0" tIns="12700" rIns="0" bIns="0" rtlCol="0">
            <a:spAutoFit/>
          </a:bodyPr>
          <a:lstStyle/>
          <a:p>
            <a:pPr marL="271145" marR="5080" indent="-259079" algn="ctr">
              <a:lnSpc>
                <a:spcPct val="100000"/>
              </a:lnSpc>
              <a:spcBef>
                <a:spcPts val="100"/>
              </a:spcBef>
            </a:pPr>
            <a:r>
              <a:rPr lang="en-IN" sz="900" dirty="0"/>
              <a:t>       Train </a:t>
            </a:r>
            <a:r>
              <a:rPr lang="en-IN" sz="900" b="1" dirty="0"/>
              <a:t>XGBoost</a:t>
            </a:r>
            <a:r>
              <a:rPr lang="en-IN" sz="900" dirty="0"/>
              <a:t> and </a:t>
            </a:r>
            <a:r>
              <a:rPr lang="en-IN" sz="900" b="1" dirty="0"/>
              <a:t>Support Vector Regression (SVR)</a:t>
            </a:r>
            <a:r>
              <a:rPr lang="en-IN" sz="900" dirty="0"/>
              <a:t> models for crop-yield prediction.</a:t>
            </a:r>
            <a:endParaRPr sz="900" dirty="0">
              <a:latin typeface="Calibri"/>
              <a:cs typeface="Calibri"/>
            </a:endParaRPr>
          </a:p>
        </p:txBody>
      </p:sp>
      <p:grpSp>
        <p:nvGrpSpPr>
          <p:cNvPr id="47" name="object 47"/>
          <p:cNvGrpSpPr/>
          <p:nvPr/>
        </p:nvGrpSpPr>
        <p:grpSpPr>
          <a:xfrm>
            <a:off x="9845040" y="1331975"/>
            <a:ext cx="1871345" cy="3569335"/>
            <a:chOff x="9845040" y="1331975"/>
            <a:chExt cx="1871345" cy="3569335"/>
          </a:xfrm>
        </p:grpSpPr>
        <p:pic>
          <p:nvPicPr>
            <p:cNvPr id="48" name="object 48"/>
            <p:cNvPicPr/>
            <p:nvPr/>
          </p:nvPicPr>
          <p:blipFill>
            <a:blip r:embed="rId3" cstate="print"/>
            <a:stretch>
              <a:fillRect/>
            </a:stretch>
          </p:blipFill>
          <p:spPr>
            <a:xfrm>
              <a:off x="9845040" y="1539239"/>
              <a:ext cx="1871091" cy="3361563"/>
            </a:xfrm>
            <a:prstGeom prst="rect">
              <a:avLst/>
            </a:prstGeom>
          </p:spPr>
        </p:pic>
        <p:sp>
          <p:nvSpPr>
            <p:cNvPr id="49" name="object 49"/>
            <p:cNvSpPr/>
            <p:nvPr/>
          </p:nvSpPr>
          <p:spPr>
            <a:xfrm>
              <a:off x="9930384" y="1600199"/>
              <a:ext cx="1710055" cy="3200400"/>
            </a:xfrm>
            <a:custGeom>
              <a:avLst/>
              <a:gdLst/>
              <a:ahLst/>
              <a:cxnLst/>
              <a:rect l="l" t="t" r="r" b="b"/>
              <a:pathLst>
                <a:path w="1710054" h="3200400">
                  <a:moveTo>
                    <a:pt x="1636902" y="0"/>
                  </a:moveTo>
                  <a:lnTo>
                    <a:pt x="73025" y="0"/>
                  </a:lnTo>
                  <a:lnTo>
                    <a:pt x="44630" y="5748"/>
                  </a:lnTo>
                  <a:lnTo>
                    <a:pt x="21415" y="21415"/>
                  </a:lnTo>
                  <a:lnTo>
                    <a:pt x="5748" y="44630"/>
                  </a:lnTo>
                  <a:lnTo>
                    <a:pt x="0" y="73025"/>
                  </a:lnTo>
                  <a:lnTo>
                    <a:pt x="0" y="3127375"/>
                  </a:lnTo>
                  <a:lnTo>
                    <a:pt x="5748" y="3155769"/>
                  </a:lnTo>
                  <a:lnTo>
                    <a:pt x="21415" y="3178984"/>
                  </a:lnTo>
                  <a:lnTo>
                    <a:pt x="44630" y="3194651"/>
                  </a:lnTo>
                  <a:lnTo>
                    <a:pt x="73025" y="3200400"/>
                  </a:lnTo>
                  <a:lnTo>
                    <a:pt x="1636902" y="3200400"/>
                  </a:lnTo>
                  <a:lnTo>
                    <a:pt x="1665297" y="3194651"/>
                  </a:lnTo>
                  <a:lnTo>
                    <a:pt x="1688512" y="3178984"/>
                  </a:lnTo>
                  <a:lnTo>
                    <a:pt x="1704179" y="3155769"/>
                  </a:lnTo>
                  <a:lnTo>
                    <a:pt x="1709927" y="3127375"/>
                  </a:lnTo>
                  <a:lnTo>
                    <a:pt x="1709927" y="73025"/>
                  </a:lnTo>
                  <a:lnTo>
                    <a:pt x="1704179" y="44630"/>
                  </a:lnTo>
                  <a:lnTo>
                    <a:pt x="1688512" y="21415"/>
                  </a:lnTo>
                  <a:lnTo>
                    <a:pt x="1665297" y="5748"/>
                  </a:lnTo>
                  <a:lnTo>
                    <a:pt x="1636902" y="0"/>
                  </a:lnTo>
                  <a:close/>
                </a:path>
              </a:pathLst>
            </a:custGeom>
            <a:solidFill>
              <a:srgbClr val="FFFFFF"/>
            </a:solidFill>
          </p:spPr>
          <p:txBody>
            <a:bodyPr wrap="square" lIns="0" tIns="0" rIns="0" bIns="0" rtlCol="0"/>
            <a:lstStyle/>
            <a:p>
              <a:endParaRPr/>
            </a:p>
          </p:txBody>
        </p:sp>
        <p:sp>
          <p:nvSpPr>
            <p:cNvPr id="50" name="object 50"/>
            <p:cNvSpPr/>
            <p:nvPr/>
          </p:nvSpPr>
          <p:spPr>
            <a:xfrm>
              <a:off x="9930384" y="1600199"/>
              <a:ext cx="1710055" cy="3200400"/>
            </a:xfrm>
            <a:custGeom>
              <a:avLst/>
              <a:gdLst/>
              <a:ahLst/>
              <a:cxnLst/>
              <a:rect l="l" t="t" r="r" b="b"/>
              <a:pathLst>
                <a:path w="1710054" h="3200400">
                  <a:moveTo>
                    <a:pt x="0" y="73025"/>
                  </a:moveTo>
                  <a:lnTo>
                    <a:pt x="5748" y="44630"/>
                  </a:lnTo>
                  <a:lnTo>
                    <a:pt x="21415" y="21415"/>
                  </a:lnTo>
                  <a:lnTo>
                    <a:pt x="44630" y="5748"/>
                  </a:lnTo>
                  <a:lnTo>
                    <a:pt x="73025" y="0"/>
                  </a:lnTo>
                  <a:lnTo>
                    <a:pt x="1636902" y="0"/>
                  </a:lnTo>
                  <a:lnTo>
                    <a:pt x="1665297" y="5748"/>
                  </a:lnTo>
                  <a:lnTo>
                    <a:pt x="1688512" y="21415"/>
                  </a:lnTo>
                  <a:lnTo>
                    <a:pt x="1704179" y="44630"/>
                  </a:lnTo>
                  <a:lnTo>
                    <a:pt x="1709927" y="73025"/>
                  </a:lnTo>
                  <a:lnTo>
                    <a:pt x="1709927" y="3127375"/>
                  </a:lnTo>
                  <a:lnTo>
                    <a:pt x="1704179" y="3155769"/>
                  </a:lnTo>
                  <a:lnTo>
                    <a:pt x="1688512" y="3178984"/>
                  </a:lnTo>
                  <a:lnTo>
                    <a:pt x="1665297" y="3194651"/>
                  </a:lnTo>
                  <a:lnTo>
                    <a:pt x="1636902" y="3200400"/>
                  </a:lnTo>
                  <a:lnTo>
                    <a:pt x="73025" y="3200400"/>
                  </a:lnTo>
                  <a:lnTo>
                    <a:pt x="44630" y="3194651"/>
                  </a:lnTo>
                  <a:lnTo>
                    <a:pt x="21415" y="3178984"/>
                  </a:lnTo>
                  <a:lnTo>
                    <a:pt x="5748" y="3155769"/>
                  </a:lnTo>
                  <a:lnTo>
                    <a:pt x="0" y="3127375"/>
                  </a:lnTo>
                  <a:lnTo>
                    <a:pt x="0" y="73025"/>
                  </a:lnTo>
                  <a:close/>
                </a:path>
              </a:pathLst>
            </a:custGeom>
            <a:ln w="12191">
              <a:solidFill>
                <a:srgbClr val="DDD2C4"/>
              </a:solidFill>
            </a:ln>
          </p:spPr>
          <p:txBody>
            <a:bodyPr wrap="square" lIns="0" tIns="0" rIns="0" bIns="0" rtlCol="0"/>
            <a:lstStyle/>
            <a:p>
              <a:endParaRPr/>
            </a:p>
          </p:txBody>
        </p:sp>
        <p:sp>
          <p:nvSpPr>
            <p:cNvPr id="51" name="object 51"/>
            <p:cNvSpPr/>
            <p:nvPr/>
          </p:nvSpPr>
          <p:spPr>
            <a:xfrm>
              <a:off x="10527792"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3"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52" name="object 52"/>
            <p:cNvSpPr/>
            <p:nvPr/>
          </p:nvSpPr>
          <p:spPr>
            <a:xfrm>
              <a:off x="10527792"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3"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53" name="object 53"/>
          <p:cNvSpPr txBox="1"/>
          <p:nvPr/>
        </p:nvSpPr>
        <p:spPr>
          <a:xfrm>
            <a:off x="10723244" y="1451229"/>
            <a:ext cx="128905" cy="270510"/>
          </a:xfrm>
          <a:prstGeom prst="rect">
            <a:avLst/>
          </a:prstGeom>
        </p:spPr>
        <p:txBody>
          <a:bodyPr vert="horz" wrap="square" lIns="0" tIns="13335" rIns="0" bIns="0" rtlCol="0">
            <a:spAutoFit/>
          </a:bodyPr>
          <a:lstStyle/>
          <a:p>
            <a:pPr marL="12700">
              <a:lnSpc>
                <a:spcPct val="100000"/>
              </a:lnSpc>
              <a:spcBef>
                <a:spcPts val="105"/>
              </a:spcBef>
            </a:pPr>
            <a:r>
              <a:rPr sz="1600" b="1" spc="-50" dirty="0">
                <a:solidFill>
                  <a:srgbClr val="FFFFFF"/>
                </a:solidFill>
                <a:latin typeface="Calibri"/>
                <a:cs typeface="Calibri"/>
              </a:rPr>
              <a:t>6</a:t>
            </a:r>
            <a:endParaRPr sz="1600">
              <a:latin typeface="Calibri"/>
              <a:cs typeface="Calibri"/>
            </a:endParaRPr>
          </a:p>
        </p:txBody>
      </p:sp>
      <p:sp>
        <p:nvSpPr>
          <p:cNvPr id="57" name="object 57"/>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58" name="object 58"/>
          <p:cNvSpPr txBox="1">
            <a:spLocks noGrp="1"/>
          </p:cNvSpPr>
          <p:nvPr>
            <p:ph type="sldNum" sz="quarter" idx="7"/>
          </p:nvPr>
        </p:nvSpPr>
        <p:spPr>
          <a:prstGeom prst="rect">
            <a:avLst/>
          </a:prstGeom>
        </p:spPr>
        <p:txBody>
          <a:bodyPr vert="horz" wrap="square" lIns="0" tIns="0" rIns="0" bIns="0" rtlCol="0">
            <a:spAutoFit/>
          </a:bodyPr>
          <a:lstStyle/>
          <a:p>
            <a:r>
              <a:t>17</a:t>
            </a:r>
          </a:p>
        </p:txBody>
      </p:sp>
      <p:sp>
        <p:nvSpPr>
          <p:cNvPr id="54" name="object 54"/>
          <p:cNvSpPr txBox="1"/>
          <p:nvPr/>
        </p:nvSpPr>
        <p:spPr>
          <a:xfrm>
            <a:off x="10075671" y="2045357"/>
            <a:ext cx="1708658" cy="167354"/>
          </a:xfrm>
          <a:prstGeom prst="rect">
            <a:avLst/>
          </a:prstGeom>
        </p:spPr>
        <p:txBody>
          <a:bodyPr vert="horz" wrap="square" lIns="0" tIns="13335" rIns="0" bIns="0" rtlCol="0">
            <a:spAutoFit/>
          </a:bodyPr>
          <a:lstStyle/>
          <a:p>
            <a:pPr marL="12700">
              <a:lnSpc>
                <a:spcPct val="100000"/>
              </a:lnSpc>
              <a:spcBef>
                <a:spcPts val="105"/>
              </a:spcBef>
            </a:pPr>
            <a:r>
              <a:rPr lang="en-IN" sz="1000" b="1" dirty="0">
                <a:solidFill>
                  <a:srgbClr val="C00000"/>
                </a:solidFill>
              </a:rPr>
              <a:t>MODEL COMPARISON</a:t>
            </a:r>
            <a:endParaRPr sz="1000" b="1" dirty="0">
              <a:solidFill>
                <a:srgbClr val="C00000"/>
              </a:solidFill>
              <a:latin typeface="Calibri"/>
              <a:cs typeface="Calibri"/>
            </a:endParaRPr>
          </a:p>
        </p:txBody>
      </p:sp>
      <p:sp>
        <p:nvSpPr>
          <p:cNvPr id="55" name="object 55"/>
          <p:cNvSpPr txBox="1"/>
          <p:nvPr/>
        </p:nvSpPr>
        <p:spPr>
          <a:xfrm>
            <a:off x="9836783" y="2575868"/>
            <a:ext cx="1759331" cy="820738"/>
          </a:xfrm>
          <a:prstGeom prst="rect">
            <a:avLst/>
          </a:prstGeom>
        </p:spPr>
        <p:txBody>
          <a:bodyPr vert="horz" wrap="square" lIns="0" tIns="12700" rIns="0" bIns="0" rtlCol="0">
            <a:spAutoFit/>
          </a:bodyPr>
          <a:lstStyle/>
          <a:p>
            <a:pPr marL="289560" marR="5080" indent="-277495" algn="ctr">
              <a:lnSpc>
                <a:spcPct val="100000"/>
              </a:lnSpc>
              <a:spcBef>
                <a:spcPts val="100"/>
              </a:spcBef>
            </a:pPr>
            <a:r>
              <a:rPr lang="en-IN" sz="1050" dirty="0"/>
              <a:t>       Compare the three models and select the best-performing model based on evaluation metrics.</a:t>
            </a:r>
            <a:endParaRPr sz="1050" dirty="0">
              <a:latin typeface="Calibri"/>
              <a:cs typeface="Calibri"/>
            </a:endParaRPr>
          </a:p>
        </p:txBody>
      </p:sp>
      <p:sp>
        <p:nvSpPr>
          <p:cNvPr id="56" name="object 56"/>
          <p:cNvSpPr txBox="1"/>
          <p:nvPr/>
        </p:nvSpPr>
        <p:spPr>
          <a:xfrm>
            <a:off x="3244088" y="5338648"/>
            <a:ext cx="5706110" cy="260328"/>
          </a:xfrm>
          <a:prstGeom prst="rect">
            <a:avLst/>
          </a:prstGeom>
        </p:spPr>
        <p:txBody>
          <a:bodyPr vert="horz" wrap="square" lIns="0" tIns="13970" rIns="0" bIns="0" rtlCol="0">
            <a:spAutoFit/>
          </a:bodyPr>
          <a:lstStyle/>
          <a:p>
            <a:pPr marL="12700">
              <a:lnSpc>
                <a:spcPct val="100000"/>
              </a:lnSpc>
              <a:spcBef>
                <a:spcPts val="110"/>
              </a:spcBef>
            </a:pPr>
            <a:r>
              <a:rPr sz="1600" b="1" dirty="0">
                <a:solidFill>
                  <a:srgbClr val="C00000"/>
                </a:solidFill>
                <a:latin typeface="Calibri"/>
                <a:cs typeface="Calibri"/>
              </a:rPr>
              <a:t>Evaluation:</a:t>
            </a:r>
            <a:r>
              <a:rPr sz="1600" b="1" spc="310" dirty="0">
                <a:solidFill>
                  <a:srgbClr val="C00000"/>
                </a:solidFill>
                <a:latin typeface="Calibri"/>
                <a:cs typeface="Calibri"/>
              </a:rPr>
              <a:t> </a:t>
            </a:r>
            <a:r>
              <a:rPr lang="en-IN" sz="1600" b="1" dirty="0">
                <a:solidFill>
                  <a:srgbClr val="C00000"/>
                </a:solidFill>
              </a:rPr>
              <a:t>MAE • MSE • RMSE • R² Score</a:t>
            </a:r>
            <a:endParaRPr sz="1600" b="1" dirty="0">
              <a:solidFill>
                <a:srgbClr val="C00000"/>
              </a:solidFill>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090295">
              <a:lnSpc>
                <a:spcPct val="100000"/>
              </a:lnSpc>
              <a:spcBef>
                <a:spcPts val="105"/>
              </a:spcBef>
            </a:pPr>
            <a:r>
              <a:rPr spc="-10" dirty="0"/>
              <a:t>CONCLUSION</a:t>
            </a:r>
          </a:p>
        </p:txBody>
      </p:sp>
      <p:sp>
        <p:nvSpPr>
          <p:cNvPr id="3" name="object 3"/>
          <p:cNvSpPr txBox="1"/>
          <p:nvPr/>
        </p:nvSpPr>
        <p:spPr>
          <a:xfrm>
            <a:off x="4798314" y="933449"/>
            <a:ext cx="2590800"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Key</a:t>
            </a:r>
            <a:r>
              <a:rPr sz="1150" i="1" spc="-35" dirty="0">
                <a:solidFill>
                  <a:srgbClr val="6D6D6D"/>
                </a:solidFill>
                <a:latin typeface="Calibri"/>
                <a:cs typeface="Calibri"/>
              </a:rPr>
              <a:t> </a:t>
            </a:r>
            <a:r>
              <a:rPr sz="1150" i="1" dirty="0">
                <a:solidFill>
                  <a:srgbClr val="6D6D6D"/>
                </a:solidFill>
                <a:latin typeface="Calibri"/>
                <a:cs typeface="Calibri"/>
              </a:rPr>
              <a:t>takeaways</a:t>
            </a:r>
            <a:r>
              <a:rPr sz="1150" i="1" spc="-35" dirty="0">
                <a:solidFill>
                  <a:srgbClr val="6D6D6D"/>
                </a:solidFill>
                <a:latin typeface="Calibri"/>
                <a:cs typeface="Calibri"/>
              </a:rPr>
              <a:t> </a:t>
            </a:r>
            <a:r>
              <a:rPr sz="1150" i="1" dirty="0">
                <a:solidFill>
                  <a:srgbClr val="6D6D6D"/>
                </a:solidFill>
                <a:latin typeface="Calibri"/>
                <a:cs typeface="Calibri"/>
              </a:rPr>
              <a:t>from</a:t>
            </a:r>
            <a:r>
              <a:rPr sz="1150" i="1" spc="-20" dirty="0">
                <a:solidFill>
                  <a:srgbClr val="6D6D6D"/>
                </a:solidFill>
                <a:latin typeface="Calibri"/>
                <a:cs typeface="Calibri"/>
              </a:rPr>
              <a:t> </a:t>
            </a:r>
            <a:r>
              <a:rPr sz="1150" i="1" dirty="0">
                <a:solidFill>
                  <a:srgbClr val="6D6D6D"/>
                </a:solidFill>
                <a:latin typeface="Calibri"/>
                <a:cs typeface="Calibri"/>
              </a:rPr>
              <a:t>the</a:t>
            </a:r>
            <a:r>
              <a:rPr sz="1150" i="1" spc="-45" dirty="0">
                <a:solidFill>
                  <a:srgbClr val="6D6D6D"/>
                </a:solidFill>
                <a:latin typeface="Calibri"/>
                <a:cs typeface="Calibri"/>
              </a:rPr>
              <a:t> </a:t>
            </a:r>
            <a:r>
              <a:rPr sz="1150" i="1" dirty="0">
                <a:solidFill>
                  <a:srgbClr val="6D6D6D"/>
                </a:solidFill>
                <a:latin typeface="Calibri"/>
                <a:cs typeface="Calibri"/>
              </a:rPr>
              <a:t>project</a:t>
            </a:r>
            <a:r>
              <a:rPr sz="1150" i="1" spc="-20" dirty="0">
                <a:solidFill>
                  <a:srgbClr val="6D6D6D"/>
                </a:solidFill>
                <a:latin typeface="Calibri"/>
                <a:cs typeface="Calibri"/>
              </a:rPr>
              <a:t> </a:t>
            </a:r>
            <a:r>
              <a:rPr sz="1150" i="1" spc="-10" dirty="0">
                <a:solidFill>
                  <a:srgbClr val="6D6D6D"/>
                </a:solidFill>
                <a:latin typeface="Calibri"/>
                <a:cs typeface="Calibri"/>
              </a:rPr>
              <a:t>foundation</a:t>
            </a:r>
            <a:endParaRPr sz="1150">
              <a:latin typeface="Calibri"/>
              <a:cs typeface="Calibri"/>
            </a:endParaRPr>
          </a:p>
        </p:txBody>
      </p:sp>
      <p:grpSp>
        <p:nvGrpSpPr>
          <p:cNvPr id="4" name="object 4"/>
          <p:cNvGrpSpPr/>
          <p:nvPr/>
        </p:nvGrpSpPr>
        <p:grpSpPr>
          <a:xfrm>
            <a:off x="554736" y="1402080"/>
            <a:ext cx="11069955" cy="4184650"/>
            <a:chOff x="554736" y="1402080"/>
            <a:chExt cx="11069955" cy="4184650"/>
          </a:xfrm>
        </p:grpSpPr>
        <p:pic>
          <p:nvPicPr>
            <p:cNvPr id="5" name="object 5"/>
            <p:cNvPicPr/>
            <p:nvPr/>
          </p:nvPicPr>
          <p:blipFill>
            <a:blip r:embed="rId2" cstate="print"/>
            <a:stretch>
              <a:fillRect/>
            </a:stretch>
          </p:blipFill>
          <p:spPr>
            <a:xfrm>
              <a:off x="554736" y="1402080"/>
              <a:ext cx="11069955" cy="4184523"/>
            </a:xfrm>
            <a:prstGeom prst="rect">
              <a:avLst/>
            </a:prstGeom>
          </p:spPr>
        </p:pic>
        <p:sp>
          <p:nvSpPr>
            <p:cNvPr id="6" name="object 6"/>
            <p:cNvSpPr/>
            <p:nvPr/>
          </p:nvSpPr>
          <p:spPr>
            <a:xfrm>
              <a:off x="640080" y="1463040"/>
              <a:ext cx="10909300" cy="4023360"/>
            </a:xfrm>
            <a:custGeom>
              <a:avLst/>
              <a:gdLst/>
              <a:ahLst/>
              <a:cxnLst/>
              <a:rect l="l" t="t" r="r" b="b"/>
              <a:pathLst>
                <a:path w="10909300" h="4023360">
                  <a:moveTo>
                    <a:pt x="10835640" y="0"/>
                  </a:moveTo>
                  <a:lnTo>
                    <a:pt x="73139" y="0"/>
                  </a:lnTo>
                  <a:lnTo>
                    <a:pt x="44673" y="5750"/>
                  </a:lnTo>
                  <a:lnTo>
                    <a:pt x="21424" y="21431"/>
                  </a:lnTo>
                  <a:lnTo>
                    <a:pt x="5748" y="44684"/>
                  </a:lnTo>
                  <a:lnTo>
                    <a:pt x="0" y="73151"/>
                  </a:lnTo>
                  <a:lnTo>
                    <a:pt x="0" y="3950208"/>
                  </a:lnTo>
                  <a:lnTo>
                    <a:pt x="5748" y="3978675"/>
                  </a:lnTo>
                  <a:lnTo>
                    <a:pt x="21424" y="4001928"/>
                  </a:lnTo>
                  <a:lnTo>
                    <a:pt x="44673" y="4017609"/>
                  </a:lnTo>
                  <a:lnTo>
                    <a:pt x="73139" y="4023360"/>
                  </a:lnTo>
                  <a:lnTo>
                    <a:pt x="10835640" y="4023360"/>
                  </a:lnTo>
                  <a:lnTo>
                    <a:pt x="10864107" y="4017609"/>
                  </a:lnTo>
                  <a:lnTo>
                    <a:pt x="10887360" y="4001928"/>
                  </a:lnTo>
                  <a:lnTo>
                    <a:pt x="10903041" y="3978675"/>
                  </a:lnTo>
                  <a:lnTo>
                    <a:pt x="10908792" y="3950208"/>
                  </a:lnTo>
                  <a:lnTo>
                    <a:pt x="10908792" y="73151"/>
                  </a:lnTo>
                  <a:lnTo>
                    <a:pt x="10903041" y="44684"/>
                  </a:lnTo>
                  <a:lnTo>
                    <a:pt x="10887360" y="21431"/>
                  </a:lnTo>
                  <a:lnTo>
                    <a:pt x="10864107" y="5750"/>
                  </a:lnTo>
                  <a:lnTo>
                    <a:pt x="10835640" y="0"/>
                  </a:lnTo>
                  <a:close/>
                </a:path>
              </a:pathLst>
            </a:custGeom>
            <a:solidFill>
              <a:srgbClr val="FFFFFF"/>
            </a:solidFill>
          </p:spPr>
          <p:txBody>
            <a:bodyPr wrap="square" lIns="0" tIns="0" rIns="0" bIns="0" rtlCol="0"/>
            <a:lstStyle/>
            <a:p>
              <a:endParaRPr/>
            </a:p>
          </p:txBody>
        </p:sp>
        <p:sp>
          <p:nvSpPr>
            <p:cNvPr id="7" name="object 7"/>
            <p:cNvSpPr/>
            <p:nvPr/>
          </p:nvSpPr>
          <p:spPr>
            <a:xfrm>
              <a:off x="640080" y="1463040"/>
              <a:ext cx="10909300" cy="4023360"/>
            </a:xfrm>
            <a:custGeom>
              <a:avLst/>
              <a:gdLst/>
              <a:ahLst/>
              <a:cxnLst/>
              <a:rect l="l" t="t" r="r" b="b"/>
              <a:pathLst>
                <a:path w="10909300" h="4023360">
                  <a:moveTo>
                    <a:pt x="0" y="73151"/>
                  </a:moveTo>
                  <a:lnTo>
                    <a:pt x="5748" y="44684"/>
                  </a:lnTo>
                  <a:lnTo>
                    <a:pt x="21424" y="21431"/>
                  </a:lnTo>
                  <a:lnTo>
                    <a:pt x="44673" y="5750"/>
                  </a:lnTo>
                  <a:lnTo>
                    <a:pt x="73139" y="0"/>
                  </a:lnTo>
                  <a:lnTo>
                    <a:pt x="10835640" y="0"/>
                  </a:lnTo>
                  <a:lnTo>
                    <a:pt x="10864107" y="5750"/>
                  </a:lnTo>
                  <a:lnTo>
                    <a:pt x="10887360" y="21431"/>
                  </a:lnTo>
                  <a:lnTo>
                    <a:pt x="10903041" y="44684"/>
                  </a:lnTo>
                  <a:lnTo>
                    <a:pt x="10908792" y="73151"/>
                  </a:lnTo>
                  <a:lnTo>
                    <a:pt x="10908792" y="3950208"/>
                  </a:lnTo>
                  <a:lnTo>
                    <a:pt x="10903041" y="3978675"/>
                  </a:lnTo>
                  <a:lnTo>
                    <a:pt x="10887360" y="4001928"/>
                  </a:lnTo>
                  <a:lnTo>
                    <a:pt x="10864107" y="4017609"/>
                  </a:lnTo>
                  <a:lnTo>
                    <a:pt x="10835640" y="4023360"/>
                  </a:lnTo>
                  <a:lnTo>
                    <a:pt x="73139" y="4023360"/>
                  </a:lnTo>
                  <a:lnTo>
                    <a:pt x="44673" y="4017609"/>
                  </a:lnTo>
                  <a:lnTo>
                    <a:pt x="21424" y="4001928"/>
                  </a:lnTo>
                  <a:lnTo>
                    <a:pt x="5748" y="3978675"/>
                  </a:lnTo>
                  <a:lnTo>
                    <a:pt x="0" y="3950208"/>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993444" y="1788717"/>
            <a:ext cx="10008870" cy="935513"/>
          </a:xfrm>
          <a:prstGeom prst="rect">
            <a:avLst/>
          </a:prstGeom>
        </p:spPr>
        <p:txBody>
          <a:bodyPr vert="horz" wrap="square" lIns="0" tIns="12065" rIns="0" bIns="0" rtlCol="0">
            <a:spAutoFit/>
          </a:bodyPr>
          <a:lstStyle/>
          <a:p>
            <a:pPr marL="12700" marR="5080" algn="ctr">
              <a:lnSpc>
                <a:spcPct val="100000"/>
              </a:lnSpc>
              <a:spcBef>
                <a:spcPts val="95"/>
              </a:spcBef>
            </a:pPr>
            <a:r>
              <a:rPr lang="en-IN" sz="1500" dirty="0"/>
              <a:t>This project presents a machine learning-based approach for predicting crop yield using important agricultural and environmental factors such as crop type, area, production, rainfall, fertilizer, pesticide usage, year, state, and season. The dataset is cleaned and </a:t>
            </a:r>
            <a:r>
              <a:rPr lang="en-IN" sz="1500" dirty="0" err="1"/>
              <a:t>analyzed</a:t>
            </a:r>
            <a:r>
              <a:rPr lang="en-IN" sz="1500" dirty="0"/>
              <a:t> before applying </a:t>
            </a:r>
            <a:r>
              <a:rPr lang="en-IN" sz="1500" b="1" dirty="0"/>
              <a:t>Random Forest, XGBoost, and Support Vector Regression (SVR)</a:t>
            </a:r>
            <a:r>
              <a:rPr lang="en-IN" sz="1500" dirty="0"/>
              <a:t> models.</a:t>
            </a:r>
            <a:endParaRPr sz="1500" dirty="0">
              <a:latin typeface="Calibri"/>
              <a:cs typeface="Calibri"/>
            </a:endParaRPr>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r>
              <a:t>18</a:t>
            </a:r>
          </a:p>
        </p:txBody>
      </p:sp>
      <p:sp>
        <p:nvSpPr>
          <p:cNvPr id="9" name="object 9"/>
          <p:cNvSpPr txBox="1"/>
          <p:nvPr/>
        </p:nvSpPr>
        <p:spPr>
          <a:xfrm>
            <a:off x="993444" y="3297159"/>
            <a:ext cx="10108565" cy="936795"/>
          </a:xfrm>
          <a:prstGeom prst="rect">
            <a:avLst/>
          </a:prstGeom>
        </p:spPr>
        <p:txBody>
          <a:bodyPr vert="horz" wrap="square" lIns="0" tIns="13335" rIns="0" bIns="0" rtlCol="0">
            <a:spAutoFit/>
          </a:bodyPr>
          <a:lstStyle/>
          <a:p>
            <a:pPr marL="12700" marR="5080" algn="ctr">
              <a:lnSpc>
                <a:spcPct val="100000"/>
              </a:lnSpc>
              <a:spcBef>
                <a:spcPts val="105"/>
              </a:spcBef>
            </a:pPr>
            <a:r>
              <a:rPr lang="en-IN" sz="1500" dirty="0"/>
              <a:t>The performance of the models is compared using </a:t>
            </a:r>
            <a:r>
              <a:rPr lang="en-IN" sz="1500" b="1" dirty="0"/>
              <a:t>MAE, MSE, RMSE, and R² Score</a:t>
            </a:r>
            <a:r>
              <a:rPr lang="en-IN" sz="1500" dirty="0"/>
              <a:t>. The best-performing model can be selected based on these evaluation metrics to provide more reliable crop-yield predictions. The proposed system can support farmers and agricultural organizations in better planning, resource management, crop selection, irrigation, and fertilizer usage.</a:t>
            </a:r>
            <a:endParaRPr sz="1500" dirty="0">
              <a:latin typeface="Calibri"/>
              <a:cs typeface="Calibri"/>
            </a:endParaRPr>
          </a:p>
        </p:txBody>
      </p:sp>
      <p:sp>
        <p:nvSpPr>
          <p:cNvPr id="10" name="object 10"/>
          <p:cNvSpPr txBox="1"/>
          <p:nvPr/>
        </p:nvSpPr>
        <p:spPr>
          <a:xfrm>
            <a:off x="4871973" y="4714113"/>
            <a:ext cx="2447925" cy="329565"/>
          </a:xfrm>
          <a:prstGeom prst="rect">
            <a:avLst/>
          </a:prstGeom>
        </p:spPr>
        <p:txBody>
          <a:bodyPr vert="horz" wrap="square" lIns="0" tIns="11430" rIns="0" bIns="0" rtlCol="0">
            <a:spAutoFit/>
          </a:bodyPr>
          <a:lstStyle/>
          <a:p>
            <a:pPr marL="12700">
              <a:lnSpc>
                <a:spcPct val="100000"/>
              </a:lnSpc>
              <a:spcBef>
                <a:spcPts val="90"/>
              </a:spcBef>
            </a:pPr>
            <a:r>
              <a:rPr sz="2000" b="1" dirty="0">
                <a:solidFill>
                  <a:srgbClr val="C00000"/>
                </a:solidFill>
                <a:latin typeface="Calibri"/>
                <a:cs typeface="Calibri"/>
              </a:rPr>
              <a:t>END</a:t>
            </a:r>
            <a:r>
              <a:rPr sz="2000" b="1" spc="-20" dirty="0">
                <a:solidFill>
                  <a:srgbClr val="C00000"/>
                </a:solidFill>
                <a:latin typeface="Calibri"/>
                <a:cs typeface="Calibri"/>
              </a:rPr>
              <a:t> </a:t>
            </a:r>
            <a:r>
              <a:rPr sz="2000" b="1" dirty="0">
                <a:solidFill>
                  <a:srgbClr val="C00000"/>
                </a:solidFill>
                <a:latin typeface="Calibri"/>
                <a:cs typeface="Calibri"/>
              </a:rPr>
              <a:t>OF</a:t>
            </a:r>
            <a:r>
              <a:rPr sz="2000" b="1" spc="-40" dirty="0">
                <a:solidFill>
                  <a:srgbClr val="C00000"/>
                </a:solidFill>
                <a:latin typeface="Calibri"/>
                <a:cs typeface="Calibri"/>
              </a:rPr>
              <a:t> </a:t>
            </a:r>
            <a:r>
              <a:rPr sz="2000" b="1" spc="-35" dirty="0">
                <a:solidFill>
                  <a:srgbClr val="C00000"/>
                </a:solidFill>
                <a:latin typeface="Calibri"/>
                <a:cs typeface="Calibri"/>
              </a:rPr>
              <a:t>PRESENTATION</a:t>
            </a:r>
            <a:endParaRPr sz="20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168</TotalTime>
  <Words>2502</Words>
  <Application>Microsoft Office PowerPoint</Application>
  <PresentationFormat>Widescreen</PresentationFormat>
  <Paragraphs>294</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ANTI-MONEY LAUNDERING DETECTION USING GRAPH NEURAL NETWORKS FOR FINANCIAL TRANSACTION ANALYSIS</vt:lpstr>
      <vt:lpstr>ABSTRACT</vt:lpstr>
      <vt:lpstr>INTRODUCTION</vt:lpstr>
      <vt:lpstr>REQUIREMENT ANALYSIS</vt:lpstr>
      <vt:lpstr>LITERATURE REVIEW • PART 1</vt:lpstr>
      <vt:lpstr>LITERATURE REVIEW • PART 2</vt:lpstr>
      <vt:lpstr>LITERATURE REVIEW • PART 3</vt:lpstr>
      <vt:lpstr>LITERATURE REVIEW • PART 4</vt:lpstr>
      <vt:lpstr>EDA • DATASET QUALITY</vt:lpstr>
      <vt:lpstr>EDA • CLASS DISTRIBUTION</vt:lpstr>
      <vt:lpstr>EDA • FLOW DURATION</vt:lpstr>
      <vt:lpstr>EDA • AGRICULTURAL FEATURES</vt:lpstr>
      <vt:lpstr>DATASET DESCRIPTION</vt:lpstr>
      <vt:lpstr>PROPOSED MODEL WORKFLOW</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vaishureddyg0123@outlook.com</cp:lastModifiedBy>
  <cp:revision>5</cp:revision>
  <dcterms:created xsi:type="dcterms:W3CDTF">2026-09-02T05:44:30Z</dcterms:created>
  <dcterms:modified xsi:type="dcterms:W3CDTF">2026-09-23T17:13:13Z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2026-09-02T00:00:00Z</vt:filetime>
  </property>
  <property fmtid="{D5CDD505-2E9C-101B-9397-08002B2CF9AE}" pid="4" name="Creator">
    <vt:lpwstr>Microsoft® PowerPoint® 2016</vt:lpwstr>
  </property>
  <property fmtid="{D5CDD505-2E9C-101B-9397-08002B2CF9AE}" pid="5" name="LastSaved">
    <vt:filetime>2026-09-02T00:00:00Z</vt:filetime>
  </property>
  <property fmtid="{D5CDD505-2E9C-101B-9397-08002B2CF9AE}" pid="6" name="Producer">
    <vt:lpwstr>www.ilovepdf.com</vt:lpwstr>
  </property>
</Properties>
</file>