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71" r:id="rId10"/>
    <p:sldId id="272" r:id="rId11"/>
    <p:sldId id="273" r:id="rId12"/>
    <p:sldId id="274" r:id="rId13"/>
    <p:sldId id="275" r:id="rId14"/>
    <p:sldId id="264" r:id="rId15"/>
    <p:sldId id="265" r:id="rId16"/>
    <p:sldId id="266" r:id="rId17"/>
    <p:sldId id="267" r:id="rId18"/>
    <p:sldId id="268" r:id="rId19"/>
    <p:sldId id="276" r:id="rId20"/>
    <p:sldId id="277" r:id="rId21"/>
    <p:sldId id="269" r:id="rId22"/>
    <p:sldId id="278" r:id="rId23"/>
    <p:sldId id="270" r:id="rId24"/>
    <p:sldId id="279" r:id="rId25"/>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2" autoAdjust="0"/>
    <p:restoredTop sz="94660"/>
  </p:normalViewPr>
  <p:slideViewPr>
    <p:cSldViewPr>
      <p:cViewPr varScale="1">
        <p:scale>
          <a:sx n="70" d="100"/>
          <a:sy n="70" d="100"/>
        </p:scale>
        <p:origin x="536" y="5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2200" b="1" i="0">
                <a:solidFill>
                  <a:schemeClr val="bg1"/>
                </a:solidFill>
                <a:latin typeface="Calibri"/>
                <a:cs typeface="Calibri"/>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1400" b="1" i="0">
                <a:solidFill>
                  <a:srgbClr val="C00000"/>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6D6D6D"/>
                </a:solidFill>
                <a:latin typeface="Calibri"/>
                <a:cs typeface="Calibri"/>
              </a:defRPr>
            </a:lvl1p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9/23/2026</a:t>
            </a:fld>
            <a:endParaRPr lang="en-US"/>
          </a:p>
        </p:txBody>
      </p:sp>
      <p:sp>
        <p:nvSpPr>
          <p:cNvPr id="6" name="Holder 6"/>
          <p:cNvSpPr>
            <a:spLocks noGrp="1"/>
          </p:cNvSpPr>
          <p:nvPr>
            <p:ph type="sldNum" sz="quarter" idx="7"/>
          </p:nvPr>
        </p:nvSpPr>
        <p:spPr/>
        <p:txBody>
          <a:bodyPr lIns="0" tIns="0" rIns="0" bIns="0"/>
          <a:lstStyle>
            <a:lvl1pPr>
              <a:defRPr sz="900" b="0" i="0">
                <a:solidFill>
                  <a:srgbClr val="6D6D6D"/>
                </a:solidFill>
                <a:latin typeface="Calibri"/>
                <a:cs typeface="Calibri"/>
              </a:defRPr>
            </a:lvl1pPr>
          </a:lstStyle>
          <a:p>
            <a:pPr marL="12700">
              <a:lnSpc>
                <a:spcPts val="965"/>
              </a:lnSpc>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200" b="1" i="0">
                <a:solidFill>
                  <a:schemeClr val="bg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1400" b="1" i="0">
                <a:solidFill>
                  <a:srgbClr val="C00000"/>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6D6D6D"/>
                </a:solidFill>
                <a:latin typeface="Calibri"/>
                <a:cs typeface="Calibri"/>
              </a:defRPr>
            </a:lvl1p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9/23/2026</a:t>
            </a:fld>
            <a:endParaRPr lang="en-US"/>
          </a:p>
        </p:txBody>
      </p:sp>
      <p:sp>
        <p:nvSpPr>
          <p:cNvPr id="6" name="Holder 6"/>
          <p:cNvSpPr>
            <a:spLocks noGrp="1"/>
          </p:cNvSpPr>
          <p:nvPr>
            <p:ph type="sldNum" sz="quarter" idx="7"/>
          </p:nvPr>
        </p:nvSpPr>
        <p:spPr/>
        <p:txBody>
          <a:bodyPr lIns="0" tIns="0" rIns="0" bIns="0"/>
          <a:lstStyle>
            <a:lvl1pPr>
              <a:defRPr sz="900" b="0" i="0">
                <a:solidFill>
                  <a:srgbClr val="6D6D6D"/>
                </a:solidFill>
                <a:latin typeface="Calibri"/>
                <a:cs typeface="Calibri"/>
              </a:defRPr>
            </a:lvl1pPr>
          </a:lstStyle>
          <a:p>
            <a:pPr marL="12700">
              <a:lnSpc>
                <a:spcPts val="965"/>
              </a:lnSpc>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200" b="1" i="0">
                <a:solidFill>
                  <a:schemeClr val="bg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6D6D6D"/>
                </a:solidFill>
                <a:latin typeface="Calibri"/>
                <a:cs typeface="Calibri"/>
              </a:defRPr>
            </a:lvl1p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9/23/2026</a:t>
            </a:fld>
            <a:endParaRPr lang="en-US"/>
          </a:p>
        </p:txBody>
      </p:sp>
      <p:sp>
        <p:nvSpPr>
          <p:cNvPr id="7" name="Holder 7"/>
          <p:cNvSpPr>
            <a:spLocks noGrp="1"/>
          </p:cNvSpPr>
          <p:nvPr>
            <p:ph type="sldNum" sz="quarter" idx="7"/>
          </p:nvPr>
        </p:nvSpPr>
        <p:spPr/>
        <p:txBody>
          <a:bodyPr lIns="0" tIns="0" rIns="0" bIns="0"/>
          <a:lstStyle>
            <a:lvl1pPr>
              <a:defRPr sz="900" b="0" i="0">
                <a:solidFill>
                  <a:srgbClr val="6D6D6D"/>
                </a:solidFill>
                <a:latin typeface="Calibri"/>
                <a:cs typeface="Calibri"/>
              </a:defRPr>
            </a:lvl1pPr>
          </a:lstStyle>
          <a:p>
            <a:pPr marL="12700">
              <a:lnSpc>
                <a:spcPts val="965"/>
              </a:lnSpc>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200" b="1" i="0">
                <a:solidFill>
                  <a:schemeClr val="bg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defRPr sz="900" b="0" i="0">
                <a:solidFill>
                  <a:srgbClr val="6D6D6D"/>
                </a:solidFill>
                <a:latin typeface="Calibri"/>
                <a:cs typeface="Calibri"/>
              </a:defRPr>
            </a:lvl1p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9/23/2026</a:t>
            </a:fld>
            <a:endParaRPr lang="en-US"/>
          </a:p>
        </p:txBody>
      </p:sp>
      <p:sp>
        <p:nvSpPr>
          <p:cNvPr id="5" name="Holder 5"/>
          <p:cNvSpPr>
            <a:spLocks noGrp="1"/>
          </p:cNvSpPr>
          <p:nvPr>
            <p:ph type="sldNum" sz="quarter" idx="7"/>
          </p:nvPr>
        </p:nvSpPr>
        <p:spPr/>
        <p:txBody>
          <a:bodyPr lIns="0" tIns="0" rIns="0" bIns="0"/>
          <a:lstStyle>
            <a:lvl1pPr>
              <a:defRPr sz="900" b="0" i="0">
                <a:solidFill>
                  <a:srgbClr val="6D6D6D"/>
                </a:solidFill>
                <a:latin typeface="Calibri"/>
                <a:cs typeface="Calibri"/>
              </a:defRPr>
            </a:lvl1pPr>
          </a:lstStyle>
          <a:p>
            <a:pPr marL="12700">
              <a:lnSpc>
                <a:spcPts val="965"/>
              </a:lnSpc>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900" b="0" i="0">
                <a:solidFill>
                  <a:srgbClr val="6D6D6D"/>
                </a:solidFill>
                <a:latin typeface="Calibri"/>
                <a:cs typeface="Calibri"/>
              </a:defRPr>
            </a:lvl1p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9/23/2026</a:t>
            </a:fld>
            <a:endParaRPr lang="en-US"/>
          </a:p>
        </p:txBody>
      </p:sp>
      <p:sp>
        <p:nvSpPr>
          <p:cNvPr id="4" name="Holder 4"/>
          <p:cNvSpPr>
            <a:spLocks noGrp="1"/>
          </p:cNvSpPr>
          <p:nvPr>
            <p:ph type="sldNum" sz="quarter" idx="7"/>
          </p:nvPr>
        </p:nvSpPr>
        <p:spPr/>
        <p:txBody>
          <a:bodyPr lIns="0" tIns="0" rIns="0" bIns="0"/>
          <a:lstStyle>
            <a:lvl1pPr>
              <a:defRPr sz="900" b="0" i="0">
                <a:solidFill>
                  <a:srgbClr val="6D6D6D"/>
                </a:solidFill>
                <a:latin typeface="Calibri"/>
                <a:cs typeface="Calibri"/>
              </a:defRPr>
            </a:lvl1pPr>
          </a:lstStyle>
          <a:p>
            <a:pPr marL="12700">
              <a:lnSpc>
                <a:spcPts val="965"/>
              </a:lnSpc>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AF7F0"/>
          </a:solidFill>
        </p:spPr>
        <p:txBody>
          <a:bodyPr wrap="square" lIns="0" tIns="0" rIns="0" bIns="0" rtlCol="0"/>
          <a:lstStyle/>
          <a:p>
            <a:endParaRPr/>
          </a:p>
        </p:txBody>
      </p:sp>
      <p:sp>
        <p:nvSpPr>
          <p:cNvPr id="17" name="bg object 17"/>
          <p:cNvSpPr/>
          <p:nvPr/>
        </p:nvSpPr>
        <p:spPr>
          <a:xfrm>
            <a:off x="0" y="0"/>
            <a:ext cx="12192000" cy="45720"/>
          </a:xfrm>
          <a:custGeom>
            <a:avLst/>
            <a:gdLst/>
            <a:ahLst/>
            <a:cxnLst/>
            <a:rect l="l" t="t" r="r" b="b"/>
            <a:pathLst>
              <a:path w="12192000" h="45720">
                <a:moveTo>
                  <a:pt x="12192000" y="0"/>
                </a:moveTo>
                <a:lnTo>
                  <a:pt x="0" y="0"/>
                </a:lnTo>
                <a:lnTo>
                  <a:pt x="0" y="45720"/>
                </a:lnTo>
                <a:lnTo>
                  <a:pt x="12192000" y="45720"/>
                </a:lnTo>
                <a:lnTo>
                  <a:pt x="12192000" y="0"/>
                </a:lnTo>
                <a:close/>
              </a:path>
            </a:pathLst>
          </a:custGeom>
          <a:solidFill>
            <a:srgbClr val="B92431"/>
          </a:solidFill>
        </p:spPr>
        <p:txBody>
          <a:bodyPr wrap="square" lIns="0" tIns="0" rIns="0" bIns="0" rtlCol="0"/>
          <a:lstStyle/>
          <a:p>
            <a:endParaRPr/>
          </a:p>
        </p:txBody>
      </p:sp>
      <p:sp>
        <p:nvSpPr>
          <p:cNvPr id="18" name="bg object 18"/>
          <p:cNvSpPr/>
          <p:nvPr/>
        </p:nvSpPr>
        <p:spPr>
          <a:xfrm>
            <a:off x="0" y="6812279"/>
            <a:ext cx="12192000" cy="45720"/>
          </a:xfrm>
          <a:custGeom>
            <a:avLst/>
            <a:gdLst/>
            <a:ahLst/>
            <a:cxnLst/>
            <a:rect l="l" t="t" r="r" b="b"/>
            <a:pathLst>
              <a:path w="12192000" h="45720">
                <a:moveTo>
                  <a:pt x="12192000" y="0"/>
                </a:moveTo>
                <a:lnTo>
                  <a:pt x="0" y="0"/>
                </a:lnTo>
                <a:lnTo>
                  <a:pt x="0" y="45719"/>
                </a:lnTo>
                <a:lnTo>
                  <a:pt x="12192000" y="45719"/>
                </a:lnTo>
                <a:lnTo>
                  <a:pt x="12192000" y="0"/>
                </a:lnTo>
                <a:close/>
              </a:path>
            </a:pathLst>
          </a:custGeom>
          <a:solidFill>
            <a:srgbClr val="B92431"/>
          </a:solidFill>
        </p:spPr>
        <p:txBody>
          <a:bodyPr wrap="square" lIns="0" tIns="0" rIns="0" bIns="0" rtlCol="0"/>
          <a:lstStyle/>
          <a:p>
            <a:endParaRPr/>
          </a:p>
        </p:txBody>
      </p:sp>
      <p:pic>
        <p:nvPicPr>
          <p:cNvPr id="19" name="bg object 19"/>
          <p:cNvPicPr/>
          <p:nvPr/>
        </p:nvPicPr>
        <p:blipFill>
          <a:blip r:embed="rId7" cstate="print"/>
          <a:stretch>
            <a:fillRect/>
          </a:stretch>
        </p:blipFill>
        <p:spPr>
          <a:xfrm>
            <a:off x="228600" y="164592"/>
            <a:ext cx="1417320" cy="609599"/>
          </a:xfrm>
          <a:prstGeom prst="rect">
            <a:avLst/>
          </a:prstGeom>
        </p:spPr>
      </p:pic>
      <p:sp>
        <p:nvSpPr>
          <p:cNvPr id="20" name="bg object 20"/>
          <p:cNvSpPr/>
          <p:nvPr/>
        </p:nvSpPr>
        <p:spPr>
          <a:xfrm>
            <a:off x="2712720" y="256031"/>
            <a:ext cx="6766559" cy="567055"/>
          </a:xfrm>
          <a:custGeom>
            <a:avLst/>
            <a:gdLst/>
            <a:ahLst/>
            <a:cxnLst/>
            <a:rect l="l" t="t" r="r" b="b"/>
            <a:pathLst>
              <a:path w="6766559" h="567055">
                <a:moveTo>
                  <a:pt x="6638544" y="0"/>
                </a:moveTo>
                <a:lnTo>
                  <a:pt x="128016" y="0"/>
                </a:lnTo>
                <a:lnTo>
                  <a:pt x="78170" y="10054"/>
                </a:lnTo>
                <a:lnTo>
                  <a:pt x="37480" y="37480"/>
                </a:lnTo>
                <a:lnTo>
                  <a:pt x="10054" y="78170"/>
                </a:lnTo>
                <a:lnTo>
                  <a:pt x="0" y="128016"/>
                </a:lnTo>
                <a:lnTo>
                  <a:pt x="0" y="438912"/>
                </a:lnTo>
                <a:lnTo>
                  <a:pt x="10054" y="488757"/>
                </a:lnTo>
                <a:lnTo>
                  <a:pt x="37480" y="529447"/>
                </a:lnTo>
                <a:lnTo>
                  <a:pt x="78170" y="556873"/>
                </a:lnTo>
                <a:lnTo>
                  <a:pt x="128016" y="566928"/>
                </a:lnTo>
                <a:lnTo>
                  <a:pt x="6638544" y="566928"/>
                </a:lnTo>
                <a:lnTo>
                  <a:pt x="6688389" y="556873"/>
                </a:lnTo>
                <a:lnTo>
                  <a:pt x="6729079" y="529447"/>
                </a:lnTo>
                <a:lnTo>
                  <a:pt x="6756505" y="488757"/>
                </a:lnTo>
                <a:lnTo>
                  <a:pt x="6766559" y="438912"/>
                </a:lnTo>
                <a:lnTo>
                  <a:pt x="6766559" y="128016"/>
                </a:lnTo>
                <a:lnTo>
                  <a:pt x="6756505" y="78170"/>
                </a:lnTo>
                <a:lnTo>
                  <a:pt x="6729079" y="37480"/>
                </a:lnTo>
                <a:lnTo>
                  <a:pt x="6688389" y="10054"/>
                </a:lnTo>
                <a:lnTo>
                  <a:pt x="6638544" y="0"/>
                </a:lnTo>
                <a:close/>
              </a:path>
            </a:pathLst>
          </a:custGeom>
          <a:solidFill>
            <a:srgbClr val="C00000"/>
          </a:solidFill>
        </p:spPr>
        <p:txBody>
          <a:bodyPr wrap="square" lIns="0" tIns="0" rIns="0" bIns="0" rtlCol="0"/>
          <a:lstStyle/>
          <a:p>
            <a:endParaRPr/>
          </a:p>
        </p:txBody>
      </p:sp>
      <p:sp>
        <p:nvSpPr>
          <p:cNvPr id="2" name="Holder 2"/>
          <p:cNvSpPr>
            <a:spLocks noGrp="1"/>
          </p:cNvSpPr>
          <p:nvPr>
            <p:ph type="title"/>
          </p:nvPr>
        </p:nvSpPr>
        <p:spPr>
          <a:xfrm>
            <a:off x="4232782" y="341122"/>
            <a:ext cx="3726434" cy="361950"/>
          </a:xfrm>
          <a:prstGeom prst="rect">
            <a:avLst/>
          </a:prstGeom>
        </p:spPr>
        <p:txBody>
          <a:bodyPr wrap="square" lIns="0" tIns="0" rIns="0" bIns="0">
            <a:spAutoFit/>
          </a:bodyPr>
          <a:lstStyle>
            <a:lvl1pPr>
              <a:defRPr sz="2200" b="1" i="0">
                <a:solidFill>
                  <a:schemeClr val="bg1"/>
                </a:solidFill>
                <a:latin typeface="Calibri"/>
                <a:cs typeface="Calibri"/>
              </a:defRPr>
            </a:lvl1pPr>
          </a:lstStyle>
          <a:p>
            <a:endParaRPr/>
          </a:p>
        </p:txBody>
      </p:sp>
      <p:sp>
        <p:nvSpPr>
          <p:cNvPr id="3" name="Holder 3"/>
          <p:cNvSpPr>
            <a:spLocks noGrp="1"/>
          </p:cNvSpPr>
          <p:nvPr>
            <p:ph type="body" idx="1"/>
          </p:nvPr>
        </p:nvSpPr>
        <p:spPr>
          <a:xfrm>
            <a:off x="947724" y="2981960"/>
            <a:ext cx="6196330" cy="2370454"/>
          </a:xfrm>
          <a:prstGeom prst="rect">
            <a:avLst/>
          </a:prstGeom>
        </p:spPr>
        <p:txBody>
          <a:bodyPr wrap="square" lIns="0" tIns="0" rIns="0" bIns="0">
            <a:spAutoFit/>
          </a:bodyPr>
          <a:lstStyle>
            <a:lvl1pPr>
              <a:defRPr sz="1400" b="1" i="0">
                <a:solidFill>
                  <a:srgbClr val="C00000"/>
                </a:solidFill>
                <a:latin typeface="Calibri"/>
                <a:cs typeface="Calibri"/>
              </a:defRPr>
            </a:lvl1pPr>
          </a:lstStyle>
          <a:p>
            <a:endParaRPr/>
          </a:p>
        </p:txBody>
      </p:sp>
      <p:sp>
        <p:nvSpPr>
          <p:cNvPr id="4" name="Holder 4"/>
          <p:cNvSpPr>
            <a:spLocks noGrp="1"/>
          </p:cNvSpPr>
          <p:nvPr>
            <p:ph type="ftr" sz="quarter" idx="5"/>
          </p:nvPr>
        </p:nvSpPr>
        <p:spPr>
          <a:xfrm>
            <a:off x="398779" y="6589268"/>
            <a:ext cx="2378710" cy="141604"/>
          </a:xfrm>
          <a:prstGeom prst="rect">
            <a:avLst/>
          </a:prstGeom>
        </p:spPr>
        <p:txBody>
          <a:bodyPr wrap="square" lIns="0" tIns="0" rIns="0" bIns="0">
            <a:spAutoFit/>
          </a:bodyPr>
          <a:lstStyle>
            <a:lvl1pPr>
              <a:defRPr sz="900" b="0" i="0">
                <a:solidFill>
                  <a:srgbClr val="6D6D6D"/>
                </a:solidFill>
                <a:latin typeface="Calibri"/>
                <a:cs typeface="Calibri"/>
              </a:defRPr>
            </a:lvl1p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9/23/2026</a:t>
            </a:fld>
            <a:endParaRPr lang="en-US"/>
          </a:p>
        </p:txBody>
      </p:sp>
      <p:sp>
        <p:nvSpPr>
          <p:cNvPr id="6" name="Holder 6"/>
          <p:cNvSpPr>
            <a:spLocks noGrp="1"/>
          </p:cNvSpPr>
          <p:nvPr>
            <p:ph type="sldNum" sz="quarter" idx="7"/>
          </p:nvPr>
        </p:nvSpPr>
        <p:spPr>
          <a:xfrm>
            <a:off x="11670030" y="6589268"/>
            <a:ext cx="180340" cy="141604"/>
          </a:xfrm>
          <a:prstGeom prst="rect">
            <a:avLst/>
          </a:prstGeom>
        </p:spPr>
        <p:txBody>
          <a:bodyPr wrap="square" lIns="0" tIns="0" rIns="0" bIns="0">
            <a:spAutoFit/>
          </a:bodyPr>
          <a:lstStyle>
            <a:lvl1pPr>
              <a:defRPr sz="900" b="0" i="0">
                <a:solidFill>
                  <a:srgbClr val="6D6D6D"/>
                </a:solidFill>
                <a:latin typeface="Calibri"/>
                <a:cs typeface="Calibri"/>
              </a:defRPr>
            </a:lvl1pPr>
          </a:lstStyle>
          <a:p>
            <a:pPr marL="12700">
              <a:lnSpc>
                <a:spcPts val="965"/>
              </a:lnSpc>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AF7F0"/>
          </a:solidFill>
        </p:spPr>
        <p:txBody>
          <a:bodyPr wrap="square" lIns="0" tIns="0" rIns="0" bIns="0" rtlCol="0"/>
          <a:lstStyle/>
          <a:p>
            <a:endParaRPr/>
          </a:p>
        </p:txBody>
      </p:sp>
      <p:sp>
        <p:nvSpPr>
          <p:cNvPr id="3" name="object 3"/>
          <p:cNvSpPr/>
          <p:nvPr/>
        </p:nvSpPr>
        <p:spPr>
          <a:xfrm>
            <a:off x="0" y="0"/>
            <a:ext cx="12192000" cy="45720"/>
          </a:xfrm>
          <a:custGeom>
            <a:avLst/>
            <a:gdLst/>
            <a:ahLst/>
            <a:cxnLst/>
            <a:rect l="l" t="t" r="r" b="b"/>
            <a:pathLst>
              <a:path w="12192000" h="45720">
                <a:moveTo>
                  <a:pt x="12192000" y="0"/>
                </a:moveTo>
                <a:lnTo>
                  <a:pt x="0" y="0"/>
                </a:lnTo>
                <a:lnTo>
                  <a:pt x="0" y="45720"/>
                </a:lnTo>
                <a:lnTo>
                  <a:pt x="12192000" y="45720"/>
                </a:lnTo>
                <a:lnTo>
                  <a:pt x="12192000" y="0"/>
                </a:lnTo>
                <a:close/>
              </a:path>
            </a:pathLst>
          </a:custGeom>
          <a:solidFill>
            <a:srgbClr val="B92431"/>
          </a:solidFill>
        </p:spPr>
        <p:txBody>
          <a:bodyPr wrap="square" lIns="0" tIns="0" rIns="0" bIns="0" rtlCol="0"/>
          <a:lstStyle/>
          <a:p>
            <a:endParaRPr/>
          </a:p>
        </p:txBody>
      </p:sp>
      <p:sp>
        <p:nvSpPr>
          <p:cNvPr id="4" name="object 4"/>
          <p:cNvSpPr/>
          <p:nvPr/>
        </p:nvSpPr>
        <p:spPr>
          <a:xfrm>
            <a:off x="0" y="6812279"/>
            <a:ext cx="12192000" cy="45720"/>
          </a:xfrm>
          <a:custGeom>
            <a:avLst/>
            <a:gdLst/>
            <a:ahLst/>
            <a:cxnLst/>
            <a:rect l="l" t="t" r="r" b="b"/>
            <a:pathLst>
              <a:path w="12192000" h="45720">
                <a:moveTo>
                  <a:pt x="12192000" y="0"/>
                </a:moveTo>
                <a:lnTo>
                  <a:pt x="0" y="0"/>
                </a:lnTo>
                <a:lnTo>
                  <a:pt x="0" y="45719"/>
                </a:lnTo>
                <a:lnTo>
                  <a:pt x="12192000" y="45719"/>
                </a:lnTo>
                <a:lnTo>
                  <a:pt x="12192000" y="0"/>
                </a:lnTo>
                <a:close/>
              </a:path>
            </a:pathLst>
          </a:custGeom>
          <a:solidFill>
            <a:srgbClr val="B92431"/>
          </a:solidFill>
        </p:spPr>
        <p:txBody>
          <a:bodyPr wrap="square" lIns="0" tIns="0" rIns="0" bIns="0" rtlCol="0"/>
          <a:lstStyle/>
          <a:p>
            <a:endParaRPr/>
          </a:p>
        </p:txBody>
      </p:sp>
      <p:pic>
        <p:nvPicPr>
          <p:cNvPr id="5" name="object 5" descr="klh_logo.png"/>
          <p:cNvPicPr/>
          <p:nvPr/>
        </p:nvPicPr>
        <p:blipFill>
          <a:blip r:embed="rId2" cstate="print"/>
          <a:stretch>
            <a:fillRect/>
          </a:stretch>
        </p:blipFill>
        <p:spPr>
          <a:xfrm>
            <a:off x="228600" y="164592"/>
            <a:ext cx="1417320" cy="609599"/>
          </a:xfrm>
          <a:prstGeom prst="rect">
            <a:avLst/>
          </a:prstGeom>
        </p:spPr>
      </p:pic>
      <p:sp>
        <p:nvSpPr>
          <p:cNvPr id="6" name="object 6" descr="$PPTXTitle"/>
          <p:cNvSpPr txBox="1">
            <a:spLocks noGrp="1"/>
          </p:cNvSpPr>
          <p:nvPr>
            <p:ph type="title"/>
          </p:nvPr>
        </p:nvSpPr>
        <p:spPr>
          <a:xfrm>
            <a:off x="499873" y="2009133"/>
            <a:ext cx="7232903" cy="1399101"/>
          </a:xfrm>
          <a:prstGeom prst="rect">
            <a:avLst/>
          </a:prstGeom>
        </p:spPr>
        <p:txBody>
          <a:bodyPr vert="horz" wrap="square" lIns="0" tIns="13970" rIns="0" bIns="0" rtlCol="0">
            <a:spAutoFit/>
          </a:bodyPr>
          <a:lstStyle/>
          <a:p>
            <a:pPr marL="12700">
              <a:lnSpc>
                <a:spcPct val="100000"/>
              </a:lnSpc>
              <a:spcBef>
                <a:spcPts val="110"/>
              </a:spcBef>
            </a:pPr>
            <a:r>
              <a:rPr lang="en-IN" sz="3000" dirty="0">
                <a:solidFill>
                  <a:srgbClr val="C00000"/>
                </a:solidFill>
              </a:rPr>
              <a:t>ANTI-MONEY LAUNDERING DETECTION USING GRAPH NEURAL NETWORKS FOR FINANCIAL TRANSACTION ANALYSIS</a:t>
            </a:r>
            <a:endParaRPr sz="3000" dirty="0">
              <a:solidFill>
                <a:srgbClr val="C00000"/>
              </a:solidFill>
            </a:endParaRPr>
          </a:p>
        </p:txBody>
      </p:sp>
      <p:grpSp>
        <p:nvGrpSpPr>
          <p:cNvPr id="9" name="object 9"/>
          <p:cNvGrpSpPr/>
          <p:nvPr/>
        </p:nvGrpSpPr>
        <p:grpSpPr>
          <a:xfrm>
            <a:off x="7732776" y="1356372"/>
            <a:ext cx="4001770" cy="4367530"/>
            <a:chOff x="7732776" y="1356372"/>
            <a:chExt cx="4001770" cy="4367530"/>
          </a:xfrm>
        </p:grpSpPr>
        <p:pic>
          <p:nvPicPr>
            <p:cNvPr id="10" name="object 10"/>
            <p:cNvPicPr/>
            <p:nvPr/>
          </p:nvPicPr>
          <p:blipFill>
            <a:blip r:embed="rId3" cstate="print"/>
            <a:stretch>
              <a:fillRect/>
            </a:stretch>
          </p:blipFill>
          <p:spPr>
            <a:xfrm>
              <a:off x="7732776" y="1356372"/>
              <a:ext cx="4001643" cy="4367403"/>
            </a:xfrm>
            <a:prstGeom prst="rect">
              <a:avLst/>
            </a:prstGeom>
          </p:spPr>
        </p:pic>
        <p:sp>
          <p:nvSpPr>
            <p:cNvPr id="11" name="object 11"/>
            <p:cNvSpPr/>
            <p:nvPr/>
          </p:nvSpPr>
          <p:spPr>
            <a:xfrm>
              <a:off x="7818120" y="1417320"/>
              <a:ext cx="3840479" cy="4206240"/>
            </a:xfrm>
            <a:custGeom>
              <a:avLst/>
              <a:gdLst/>
              <a:ahLst/>
              <a:cxnLst/>
              <a:rect l="l" t="t" r="r" b="b"/>
              <a:pathLst>
                <a:path w="3840479" h="4206240">
                  <a:moveTo>
                    <a:pt x="3767328" y="0"/>
                  </a:moveTo>
                  <a:lnTo>
                    <a:pt x="73151" y="0"/>
                  </a:lnTo>
                  <a:lnTo>
                    <a:pt x="44684" y="5750"/>
                  </a:lnTo>
                  <a:lnTo>
                    <a:pt x="21431" y="21431"/>
                  </a:lnTo>
                  <a:lnTo>
                    <a:pt x="5750" y="44684"/>
                  </a:lnTo>
                  <a:lnTo>
                    <a:pt x="0" y="73151"/>
                  </a:lnTo>
                  <a:lnTo>
                    <a:pt x="0" y="4133088"/>
                  </a:lnTo>
                  <a:lnTo>
                    <a:pt x="5750" y="4161561"/>
                  </a:lnTo>
                  <a:lnTo>
                    <a:pt x="21431" y="4184813"/>
                  </a:lnTo>
                  <a:lnTo>
                    <a:pt x="44684" y="4200491"/>
                  </a:lnTo>
                  <a:lnTo>
                    <a:pt x="73151" y="4206240"/>
                  </a:lnTo>
                  <a:lnTo>
                    <a:pt x="3767328" y="4206240"/>
                  </a:lnTo>
                  <a:lnTo>
                    <a:pt x="3795795" y="4200491"/>
                  </a:lnTo>
                  <a:lnTo>
                    <a:pt x="3819048" y="4184813"/>
                  </a:lnTo>
                  <a:lnTo>
                    <a:pt x="3834729" y="4161561"/>
                  </a:lnTo>
                  <a:lnTo>
                    <a:pt x="3840479" y="4133088"/>
                  </a:lnTo>
                  <a:lnTo>
                    <a:pt x="3840479" y="73151"/>
                  </a:lnTo>
                  <a:lnTo>
                    <a:pt x="3834729" y="44684"/>
                  </a:lnTo>
                  <a:lnTo>
                    <a:pt x="3819048" y="21431"/>
                  </a:lnTo>
                  <a:lnTo>
                    <a:pt x="3795795" y="5750"/>
                  </a:lnTo>
                  <a:lnTo>
                    <a:pt x="3767328" y="0"/>
                  </a:lnTo>
                  <a:close/>
                </a:path>
              </a:pathLst>
            </a:custGeom>
            <a:solidFill>
              <a:srgbClr val="FFFFFF"/>
            </a:solidFill>
          </p:spPr>
          <p:txBody>
            <a:bodyPr wrap="square" lIns="0" tIns="0" rIns="0" bIns="0" rtlCol="0"/>
            <a:lstStyle/>
            <a:p>
              <a:endParaRPr/>
            </a:p>
          </p:txBody>
        </p:sp>
        <p:sp>
          <p:nvSpPr>
            <p:cNvPr id="12" name="object 12"/>
            <p:cNvSpPr/>
            <p:nvPr/>
          </p:nvSpPr>
          <p:spPr>
            <a:xfrm>
              <a:off x="7818120" y="1417320"/>
              <a:ext cx="3840479" cy="4206240"/>
            </a:xfrm>
            <a:custGeom>
              <a:avLst/>
              <a:gdLst/>
              <a:ahLst/>
              <a:cxnLst/>
              <a:rect l="l" t="t" r="r" b="b"/>
              <a:pathLst>
                <a:path w="3840479" h="4206240">
                  <a:moveTo>
                    <a:pt x="0" y="73151"/>
                  </a:moveTo>
                  <a:lnTo>
                    <a:pt x="5750" y="44684"/>
                  </a:lnTo>
                  <a:lnTo>
                    <a:pt x="21431" y="21431"/>
                  </a:lnTo>
                  <a:lnTo>
                    <a:pt x="44684" y="5750"/>
                  </a:lnTo>
                  <a:lnTo>
                    <a:pt x="73151" y="0"/>
                  </a:lnTo>
                  <a:lnTo>
                    <a:pt x="3767328" y="0"/>
                  </a:lnTo>
                  <a:lnTo>
                    <a:pt x="3795795" y="5750"/>
                  </a:lnTo>
                  <a:lnTo>
                    <a:pt x="3819048" y="21431"/>
                  </a:lnTo>
                  <a:lnTo>
                    <a:pt x="3834729" y="44684"/>
                  </a:lnTo>
                  <a:lnTo>
                    <a:pt x="3840479" y="73151"/>
                  </a:lnTo>
                  <a:lnTo>
                    <a:pt x="3840479" y="4133088"/>
                  </a:lnTo>
                  <a:lnTo>
                    <a:pt x="3834729" y="4161561"/>
                  </a:lnTo>
                  <a:lnTo>
                    <a:pt x="3819048" y="4184813"/>
                  </a:lnTo>
                  <a:lnTo>
                    <a:pt x="3795795" y="4200491"/>
                  </a:lnTo>
                  <a:lnTo>
                    <a:pt x="3767328" y="4206240"/>
                  </a:lnTo>
                  <a:lnTo>
                    <a:pt x="73151" y="4206240"/>
                  </a:lnTo>
                  <a:lnTo>
                    <a:pt x="44684" y="4200491"/>
                  </a:lnTo>
                  <a:lnTo>
                    <a:pt x="21431" y="4184813"/>
                  </a:lnTo>
                  <a:lnTo>
                    <a:pt x="5750" y="4161561"/>
                  </a:lnTo>
                  <a:lnTo>
                    <a:pt x="0" y="4133088"/>
                  </a:lnTo>
                  <a:lnTo>
                    <a:pt x="0" y="73151"/>
                  </a:lnTo>
                  <a:close/>
                </a:path>
              </a:pathLst>
            </a:custGeom>
            <a:ln w="12192">
              <a:solidFill>
                <a:srgbClr val="DDD2C4"/>
              </a:solidFill>
            </a:ln>
          </p:spPr>
          <p:txBody>
            <a:bodyPr wrap="square" lIns="0" tIns="0" rIns="0" bIns="0" rtlCol="0"/>
            <a:lstStyle/>
            <a:p>
              <a:endParaRPr/>
            </a:p>
          </p:txBody>
        </p:sp>
        <p:sp>
          <p:nvSpPr>
            <p:cNvPr id="13" name="object 13"/>
            <p:cNvSpPr/>
            <p:nvPr/>
          </p:nvSpPr>
          <p:spPr>
            <a:xfrm>
              <a:off x="7818120" y="1417320"/>
              <a:ext cx="3840479" cy="502920"/>
            </a:xfrm>
            <a:custGeom>
              <a:avLst/>
              <a:gdLst/>
              <a:ahLst/>
              <a:cxnLst/>
              <a:rect l="l" t="t" r="r" b="b"/>
              <a:pathLst>
                <a:path w="3840479" h="502919">
                  <a:moveTo>
                    <a:pt x="3767328" y="0"/>
                  </a:moveTo>
                  <a:lnTo>
                    <a:pt x="73151" y="0"/>
                  </a:lnTo>
                  <a:lnTo>
                    <a:pt x="44684" y="5750"/>
                  </a:lnTo>
                  <a:lnTo>
                    <a:pt x="21431" y="21431"/>
                  </a:lnTo>
                  <a:lnTo>
                    <a:pt x="5750" y="44684"/>
                  </a:lnTo>
                  <a:lnTo>
                    <a:pt x="0" y="73151"/>
                  </a:lnTo>
                  <a:lnTo>
                    <a:pt x="0" y="429767"/>
                  </a:lnTo>
                  <a:lnTo>
                    <a:pt x="5750" y="458235"/>
                  </a:lnTo>
                  <a:lnTo>
                    <a:pt x="21431" y="481488"/>
                  </a:lnTo>
                  <a:lnTo>
                    <a:pt x="44684" y="497169"/>
                  </a:lnTo>
                  <a:lnTo>
                    <a:pt x="73151" y="502919"/>
                  </a:lnTo>
                  <a:lnTo>
                    <a:pt x="3767328" y="502919"/>
                  </a:lnTo>
                  <a:lnTo>
                    <a:pt x="3795795" y="497169"/>
                  </a:lnTo>
                  <a:lnTo>
                    <a:pt x="3819048" y="481488"/>
                  </a:lnTo>
                  <a:lnTo>
                    <a:pt x="3834729" y="458235"/>
                  </a:lnTo>
                  <a:lnTo>
                    <a:pt x="3840479" y="429767"/>
                  </a:lnTo>
                  <a:lnTo>
                    <a:pt x="3840479" y="73151"/>
                  </a:lnTo>
                  <a:lnTo>
                    <a:pt x="3834729" y="44684"/>
                  </a:lnTo>
                  <a:lnTo>
                    <a:pt x="3819048" y="21431"/>
                  </a:lnTo>
                  <a:lnTo>
                    <a:pt x="3795795" y="5750"/>
                  </a:lnTo>
                  <a:lnTo>
                    <a:pt x="3767328" y="0"/>
                  </a:lnTo>
                  <a:close/>
                </a:path>
              </a:pathLst>
            </a:custGeom>
            <a:solidFill>
              <a:srgbClr val="C00000"/>
            </a:solidFill>
          </p:spPr>
          <p:txBody>
            <a:bodyPr wrap="square" lIns="0" tIns="0" rIns="0" bIns="0" rtlCol="0"/>
            <a:lstStyle/>
            <a:p>
              <a:endParaRPr/>
            </a:p>
          </p:txBody>
        </p:sp>
      </p:grpSp>
      <p:sp>
        <p:nvSpPr>
          <p:cNvPr id="14" name="object 14"/>
          <p:cNvSpPr txBox="1"/>
          <p:nvPr/>
        </p:nvSpPr>
        <p:spPr>
          <a:xfrm>
            <a:off x="9045320" y="1530477"/>
            <a:ext cx="1390015" cy="255904"/>
          </a:xfrm>
          <a:prstGeom prst="rect">
            <a:avLst/>
          </a:prstGeom>
        </p:spPr>
        <p:txBody>
          <a:bodyPr vert="horz" wrap="square" lIns="0" tIns="13970" rIns="0" bIns="0" rtlCol="0">
            <a:spAutoFit/>
          </a:bodyPr>
          <a:lstStyle/>
          <a:p>
            <a:pPr marL="12700">
              <a:lnSpc>
                <a:spcPct val="100000"/>
              </a:lnSpc>
              <a:spcBef>
                <a:spcPts val="110"/>
              </a:spcBef>
            </a:pPr>
            <a:r>
              <a:rPr sz="1500" b="1" dirty="0">
                <a:solidFill>
                  <a:srgbClr val="FFFFFF"/>
                </a:solidFill>
                <a:latin typeface="Calibri"/>
                <a:cs typeface="Calibri"/>
              </a:rPr>
              <a:t>PROJECT</a:t>
            </a:r>
            <a:r>
              <a:rPr sz="1500" b="1" spc="-70" dirty="0">
                <a:solidFill>
                  <a:srgbClr val="FFFFFF"/>
                </a:solidFill>
                <a:latin typeface="Calibri"/>
                <a:cs typeface="Calibri"/>
              </a:rPr>
              <a:t> </a:t>
            </a:r>
            <a:r>
              <a:rPr sz="1500" b="1" spc="-10" dirty="0">
                <a:solidFill>
                  <a:srgbClr val="FFFFFF"/>
                </a:solidFill>
                <a:latin typeface="Calibri"/>
                <a:cs typeface="Calibri"/>
              </a:rPr>
              <a:t>DETAILS</a:t>
            </a:r>
            <a:endParaRPr sz="1500">
              <a:latin typeface="Calibri"/>
              <a:cs typeface="Calibri"/>
            </a:endParaRPr>
          </a:p>
        </p:txBody>
      </p:sp>
      <p:sp>
        <p:nvSpPr>
          <p:cNvPr id="20" name="object 20"/>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21" name="object 21"/>
          <p:cNvSpPr txBox="1">
            <a:spLocks noGrp="1"/>
          </p:cNvSpPr>
          <p:nvPr>
            <p:ph type="sldNum" sz="quarter" idx="7"/>
          </p:nvPr>
        </p:nvSpPr>
        <p:spPr>
          <a:prstGeom prst="rect">
            <a:avLst/>
          </a:prstGeom>
        </p:spPr>
        <p:txBody>
          <a:bodyPr vert="horz" wrap="square" lIns="0" tIns="0" rIns="0" bIns="0" rtlCol="0">
            <a:spAutoFit/>
          </a:bodyPr>
          <a:lstStyle/>
          <a:p>
            <a:pPr marL="12700">
              <a:lnSpc>
                <a:spcPts val="965"/>
              </a:lnSpc>
            </a:pPr>
            <a:r>
              <a:rPr sz="700"/>
              <a:t>1</a:t>
            </a:r>
            <a:endParaRPr spc="-25" dirty="0"/>
          </a:p>
        </p:txBody>
      </p:sp>
      <p:sp>
        <p:nvSpPr>
          <p:cNvPr id="15" name="object 15"/>
          <p:cNvSpPr txBox="1"/>
          <p:nvPr/>
        </p:nvSpPr>
        <p:spPr>
          <a:xfrm>
            <a:off x="8036179" y="2110173"/>
            <a:ext cx="2065655" cy="849592"/>
          </a:xfrm>
          <a:prstGeom prst="rect">
            <a:avLst/>
          </a:prstGeom>
        </p:spPr>
        <p:txBody>
          <a:bodyPr vert="horz" wrap="square" lIns="0" tIns="41275" rIns="0" bIns="0" rtlCol="0">
            <a:spAutoFit/>
          </a:bodyPr>
          <a:lstStyle/>
          <a:p>
            <a:pPr marL="12700">
              <a:lnSpc>
                <a:spcPct val="100000"/>
              </a:lnSpc>
              <a:spcBef>
                <a:spcPts val="325"/>
              </a:spcBef>
            </a:pPr>
            <a:r>
              <a:rPr sz="950" b="1" spc="10" dirty="0">
                <a:solidFill>
                  <a:srgbClr val="6D6D6D"/>
                </a:solidFill>
                <a:latin typeface="Calibri"/>
                <a:cs typeface="Calibri"/>
              </a:rPr>
              <a:t>PROJECT</a:t>
            </a:r>
            <a:r>
              <a:rPr sz="950" b="1" spc="280" dirty="0">
                <a:solidFill>
                  <a:srgbClr val="6D6D6D"/>
                </a:solidFill>
                <a:latin typeface="Calibri"/>
                <a:cs typeface="Calibri"/>
              </a:rPr>
              <a:t> </a:t>
            </a:r>
            <a:r>
              <a:rPr sz="950" b="1" spc="35" dirty="0">
                <a:solidFill>
                  <a:srgbClr val="6D6D6D"/>
                </a:solidFill>
                <a:latin typeface="Calibri"/>
                <a:cs typeface="Calibri"/>
              </a:rPr>
              <a:t>MEMBERS</a:t>
            </a:r>
            <a:r>
              <a:rPr lang="en-IN" sz="950" b="1" spc="35" dirty="0">
                <a:solidFill>
                  <a:srgbClr val="6D6D6D"/>
                </a:solidFill>
                <a:latin typeface="Calibri"/>
                <a:cs typeface="Calibri"/>
              </a:rPr>
              <a:t>:</a:t>
            </a:r>
          </a:p>
          <a:p>
            <a:pPr marL="12700">
              <a:lnSpc>
                <a:spcPct val="100000"/>
              </a:lnSpc>
              <a:spcBef>
                <a:spcPts val="325"/>
              </a:spcBef>
            </a:pPr>
            <a:r>
              <a:rPr lang="en-IN" sz="950" b="1" spc="35" dirty="0">
                <a:solidFill>
                  <a:srgbClr val="6D6D6D"/>
                </a:solidFill>
                <a:latin typeface="Calibri"/>
                <a:cs typeface="Calibri"/>
              </a:rPr>
              <a:t>GADDAM VAISHNAVI REDDY – 2520030247</a:t>
            </a:r>
          </a:p>
          <a:p>
            <a:pPr marL="12700">
              <a:lnSpc>
                <a:spcPct val="100000"/>
              </a:lnSpc>
              <a:spcBef>
                <a:spcPts val="325"/>
              </a:spcBef>
            </a:pPr>
            <a:r>
              <a:rPr lang="en-IN" sz="950" b="1" spc="35" dirty="0">
                <a:solidFill>
                  <a:srgbClr val="6D6D6D"/>
                </a:solidFill>
                <a:latin typeface="Calibri"/>
                <a:cs typeface="Calibri"/>
              </a:rPr>
              <a:t> GV MADHAV- 2520030568</a:t>
            </a:r>
            <a:br>
              <a:rPr lang="en-IN" sz="950" b="1" spc="35" dirty="0">
                <a:solidFill>
                  <a:srgbClr val="6D6D6D"/>
                </a:solidFill>
                <a:latin typeface="Calibri"/>
                <a:cs typeface="Calibri"/>
              </a:rPr>
            </a:br>
            <a:r>
              <a:rPr lang="en-IN" sz="950" b="1" spc="35" dirty="0">
                <a:solidFill>
                  <a:srgbClr val="6D6D6D"/>
                </a:solidFill>
                <a:latin typeface="Calibri"/>
                <a:cs typeface="Calibri"/>
              </a:rPr>
              <a:t>RICHIE KIRAN -2520030498</a:t>
            </a:r>
          </a:p>
        </p:txBody>
      </p:sp>
      <p:sp>
        <p:nvSpPr>
          <p:cNvPr id="16" name="object 16"/>
          <p:cNvSpPr txBox="1"/>
          <p:nvPr/>
        </p:nvSpPr>
        <p:spPr>
          <a:xfrm>
            <a:off x="8036179" y="3061538"/>
            <a:ext cx="468630" cy="172085"/>
          </a:xfrm>
          <a:prstGeom prst="rect">
            <a:avLst/>
          </a:prstGeom>
        </p:spPr>
        <p:txBody>
          <a:bodyPr vert="horz" wrap="square" lIns="0" tIns="13970" rIns="0" bIns="0" rtlCol="0">
            <a:spAutoFit/>
          </a:bodyPr>
          <a:lstStyle/>
          <a:p>
            <a:pPr marL="12700">
              <a:lnSpc>
                <a:spcPct val="100000"/>
              </a:lnSpc>
              <a:spcBef>
                <a:spcPts val="110"/>
              </a:spcBef>
            </a:pPr>
            <a:r>
              <a:rPr sz="950" b="1" spc="-10" dirty="0">
                <a:solidFill>
                  <a:srgbClr val="6D6D6D"/>
                </a:solidFill>
                <a:latin typeface="Calibri"/>
                <a:cs typeface="Calibri"/>
              </a:rPr>
              <a:t>COURSE</a:t>
            </a:r>
            <a:endParaRPr sz="950">
              <a:latin typeface="Calibri"/>
              <a:cs typeface="Calibri"/>
            </a:endParaRPr>
          </a:p>
        </p:txBody>
      </p:sp>
      <p:sp>
        <p:nvSpPr>
          <p:cNvPr id="17" name="object 17"/>
          <p:cNvSpPr txBox="1"/>
          <p:nvPr/>
        </p:nvSpPr>
        <p:spPr>
          <a:xfrm>
            <a:off x="8036179" y="3244088"/>
            <a:ext cx="1175385" cy="215900"/>
          </a:xfrm>
          <a:prstGeom prst="rect">
            <a:avLst/>
          </a:prstGeom>
        </p:spPr>
        <p:txBody>
          <a:bodyPr vert="horz" wrap="square" lIns="0" tIns="12065" rIns="0" bIns="0" rtlCol="0">
            <a:spAutoFit/>
          </a:bodyPr>
          <a:lstStyle/>
          <a:p>
            <a:pPr marL="12700">
              <a:lnSpc>
                <a:spcPct val="100000"/>
              </a:lnSpc>
              <a:spcBef>
                <a:spcPts val="95"/>
              </a:spcBef>
            </a:pPr>
            <a:r>
              <a:rPr sz="1250" dirty="0">
                <a:solidFill>
                  <a:srgbClr val="252525"/>
                </a:solidFill>
                <a:latin typeface="Calibri"/>
                <a:cs typeface="Calibri"/>
              </a:rPr>
              <a:t>Machine</a:t>
            </a:r>
            <a:r>
              <a:rPr sz="1250" spc="-55" dirty="0">
                <a:solidFill>
                  <a:srgbClr val="252525"/>
                </a:solidFill>
                <a:latin typeface="Calibri"/>
                <a:cs typeface="Calibri"/>
              </a:rPr>
              <a:t> </a:t>
            </a:r>
            <a:r>
              <a:rPr sz="1250" spc="-10" dirty="0">
                <a:solidFill>
                  <a:srgbClr val="252525"/>
                </a:solidFill>
                <a:latin typeface="Calibri"/>
                <a:cs typeface="Calibri"/>
              </a:rPr>
              <a:t>Learning</a:t>
            </a:r>
            <a:endParaRPr sz="1250">
              <a:latin typeface="Calibri"/>
              <a:cs typeface="Calibri"/>
            </a:endParaRPr>
          </a:p>
        </p:txBody>
      </p:sp>
      <p:sp>
        <p:nvSpPr>
          <p:cNvPr id="18" name="object 18"/>
          <p:cNvSpPr txBox="1"/>
          <p:nvPr/>
        </p:nvSpPr>
        <p:spPr>
          <a:xfrm>
            <a:off x="8036179" y="3701635"/>
            <a:ext cx="803275" cy="426084"/>
          </a:xfrm>
          <a:prstGeom prst="rect">
            <a:avLst/>
          </a:prstGeom>
        </p:spPr>
        <p:txBody>
          <a:bodyPr vert="horz" wrap="square" lIns="0" tIns="41910" rIns="0" bIns="0" rtlCol="0">
            <a:spAutoFit/>
          </a:bodyPr>
          <a:lstStyle/>
          <a:p>
            <a:pPr marL="12700">
              <a:lnSpc>
                <a:spcPct val="100000"/>
              </a:lnSpc>
              <a:spcBef>
                <a:spcPts val="330"/>
              </a:spcBef>
            </a:pPr>
            <a:r>
              <a:rPr sz="950" b="1" dirty="0">
                <a:solidFill>
                  <a:srgbClr val="6D6D6D"/>
                </a:solidFill>
                <a:latin typeface="Calibri"/>
                <a:cs typeface="Calibri"/>
              </a:rPr>
              <a:t>COURSE</a:t>
            </a:r>
            <a:r>
              <a:rPr sz="950" b="1" spc="305" dirty="0">
                <a:solidFill>
                  <a:srgbClr val="6D6D6D"/>
                </a:solidFill>
                <a:latin typeface="Calibri"/>
                <a:cs typeface="Calibri"/>
              </a:rPr>
              <a:t> </a:t>
            </a:r>
            <a:r>
              <a:rPr sz="950" b="1" spc="-20" dirty="0">
                <a:solidFill>
                  <a:srgbClr val="6D6D6D"/>
                </a:solidFill>
                <a:latin typeface="Calibri"/>
                <a:cs typeface="Calibri"/>
              </a:rPr>
              <a:t>CODE</a:t>
            </a:r>
            <a:endParaRPr sz="950">
              <a:latin typeface="Calibri"/>
              <a:cs typeface="Calibri"/>
            </a:endParaRPr>
          </a:p>
          <a:p>
            <a:pPr marL="12700">
              <a:lnSpc>
                <a:spcPct val="100000"/>
              </a:lnSpc>
              <a:spcBef>
                <a:spcPts val="280"/>
              </a:spcBef>
            </a:pPr>
            <a:r>
              <a:rPr sz="1250" spc="-10" dirty="0">
                <a:solidFill>
                  <a:srgbClr val="252525"/>
                </a:solidFill>
                <a:latin typeface="Calibri"/>
                <a:cs typeface="Calibri"/>
              </a:rPr>
              <a:t>25SC2107E</a:t>
            </a:r>
            <a:endParaRPr sz="1250">
              <a:latin typeface="Calibri"/>
              <a:cs typeface="Calibri"/>
            </a:endParaRPr>
          </a:p>
        </p:txBody>
      </p:sp>
      <p:sp>
        <p:nvSpPr>
          <p:cNvPr id="19" name="object 19"/>
          <p:cNvSpPr txBox="1"/>
          <p:nvPr/>
        </p:nvSpPr>
        <p:spPr>
          <a:xfrm>
            <a:off x="8036179" y="4369528"/>
            <a:ext cx="1207770" cy="1094105"/>
          </a:xfrm>
          <a:prstGeom prst="rect">
            <a:avLst/>
          </a:prstGeom>
        </p:spPr>
        <p:txBody>
          <a:bodyPr vert="horz" wrap="square" lIns="0" tIns="41910" rIns="0" bIns="0" rtlCol="0">
            <a:spAutoFit/>
          </a:bodyPr>
          <a:lstStyle/>
          <a:p>
            <a:pPr marL="12700">
              <a:lnSpc>
                <a:spcPct val="100000"/>
              </a:lnSpc>
              <a:spcBef>
                <a:spcPts val="330"/>
              </a:spcBef>
            </a:pPr>
            <a:r>
              <a:rPr sz="950" b="1" spc="45" dirty="0">
                <a:solidFill>
                  <a:srgbClr val="6D6D6D"/>
                </a:solidFill>
                <a:latin typeface="Calibri"/>
                <a:cs typeface="Calibri"/>
              </a:rPr>
              <a:t>SECTION</a:t>
            </a:r>
            <a:r>
              <a:rPr sz="950" b="1" spc="35" dirty="0">
                <a:solidFill>
                  <a:srgbClr val="6D6D6D"/>
                </a:solidFill>
                <a:latin typeface="Calibri"/>
                <a:cs typeface="Calibri"/>
              </a:rPr>
              <a:t> </a:t>
            </a:r>
            <a:r>
              <a:rPr sz="950" b="1" dirty="0">
                <a:solidFill>
                  <a:srgbClr val="6D6D6D"/>
                </a:solidFill>
                <a:latin typeface="Calibri"/>
                <a:cs typeface="Calibri"/>
              </a:rPr>
              <a:t>/</a:t>
            </a:r>
            <a:r>
              <a:rPr sz="950" b="1" spc="85" dirty="0">
                <a:solidFill>
                  <a:srgbClr val="6D6D6D"/>
                </a:solidFill>
                <a:latin typeface="Calibri"/>
                <a:cs typeface="Calibri"/>
              </a:rPr>
              <a:t> </a:t>
            </a:r>
            <a:r>
              <a:rPr sz="950" b="1" spc="-10" dirty="0">
                <a:solidFill>
                  <a:srgbClr val="6D6D6D"/>
                </a:solidFill>
                <a:latin typeface="Calibri"/>
                <a:cs typeface="Calibri"/>
              </a:rPr>
              <a:t>BRANCH</a:t>
            </a:r>
            <a:endParaRPr sz="950">
              <a:latin typeface="Calibri"/>
              <a:cs typeface="Calibri"/>
            </a:endParaRPr>
          </a:p>
          <a:p>
            <a:pPr marL="12700">
              <a:lnSpc>
                <a:spcPct val="100000"/>
              </a:lnSpc>
              <a:spcBef>
                <a:spcPts val="280"/>
              </a:spcBef>
            </a:pPr>
            <a:r>
              <a:rPr sz="1250" dirty="0">
                <a:solidFill>
                  <a:srgbClr val="252525"/>
                </a:solidFill>
                <a:latin typeface="Calibri"/>
                <a:cs typeface="Calibri"/>
              </a:rPr>
              <a:t>Section</a:t>
            </a:r>
            <a:r>
              <a:rPr sz="1250" spc="5" dirty="0">
                <a:solidFill>
                  <a:srgbClr val="252525"/>
                </a:solidFill>
                <a:latin typeface="Calibri"/>
                <a:cs typeface="Calibri"/>
              </a:rPr>
              <a:t> </a:t>
            </a:r>
            <a:r>
              <a:rPr sz="1250" dirty="0">
                <a:solidFill>
                  <a:srgbClr val="252525"/>
                </a:solidFill>
                <a:latin typeface="Calibri"/>
                <a:cs typeface="Calibri"/>
              </a:rPr>
              <a:t>4</a:t>
            </a:r>
            <a:r>
              <a:rPr sz="1250" spc="275" dirty="0">
                <a:solidFill>
                  <a:srgbClr val="252525"/>
                </a:solidFill>
                <a:latin typeface="Calibri"/>
                <a:cs typeface="Calibri"/>
              </a:rPr>
              <a:t> </a:t>
            </a:r>
            <a:r>
              <a:rPr sz="1250" dirty="0">
                <a:solidFill>
                  <a:srgbClr val="252525"/>
                </a:solidFill>
                <a:latin typeface="Calibri"/>
                <a:cs typeface="Calibri"/>
              </a:rPr>
              <a:t>•</a:t>
            </a:r>
            <a:r>
              <a:rPr sz="1250" spc="270" dirty="0">
                <a:solidFill>
                  <a:srgbClr val="252525"/>
                </a:solidFill>
                <a:latin typeface="Calibri"/>
                <a:cs typeface="Calibri"/>
              </a:rPr>
              <a:t> </a:t>
            </a:r>
            <a:r>
              <a:rPr sz="1250" spc="-25" dirty="0">
                <a:solidFill>
                  <a:srgbClr val="252525"/>
                </a:solidFill>
                <a:latin typeface="Calibri"/>
                <a:cs typeface="Calibri"/>
              </a:rPr>
              <a:t>CSE</a:t>
            </a:r>
            <a:endParaRPr sz="1250">
              <a:latin typeface="Calibri"/>
              <a:cs typeface="Calibri"/>
            </a:endParaRPr>
          </a:p>
          <a:p>
            <a:pPr>
              <a:lnSpc>
                <a:spcPct val="100000"/>
              </a:lnSpc>
              <a:spcBef>
                <a:spcPts val="810"/>
              </a:spcBef>
            </a:pPr>
            <a:endParaRPr sz="1250">
              <a:latin typeface="Calibri"/>
              <a:cs typeface="Calibri"/>
            </a:endParaRPr>
          </a:p>
          <a:p>
            <a:pPr marL="12700">
              <a:lnSpc>
                <a:spcPct val="100000"/>
              </a:lnSpc>
            </a:pPr>
            <a:r>
              <a:rPr sz="950" b="1" dirty="0">
                <a:solidFill>
                  <a:srgbClr val="6D6D6D"/>
                </a:solidFill>
                <a:latin typeface="Calibri"/>
                <a:cs typeface="Calibri"/>
              </a:rPr>
              <a:t>GUIDED</a:t>
            </a:r>
            <a:r>
              <a:rPr sz="950" b="1" spc="305" dirty="0">
                <a:solidFill>
                  <a:srgbClr val="6D6D6D"/>
                </a:solidFill>
                <a:latin typeface="Calibri"/>
                <a:cs typeface="Calibri"/>
              </a:rPr>
              <a:t> </a:t>
            </a:r>
            <a:r>
              <a:rPr sz="950" b="1" spc="-25" dirty="0">
                <a:solidFill>
                  <a:srgbClr val="6D6D6D"/>
                </a:solidFill>
                <a:latin typeface="Calibri"/>
                <a:cs typeface="Calibri"/>
              </a:rPr>
              <a:t>BY</a:t>
            </a:r>
            <a:endParaRPr sz="950">
              <a:latin typeface="Calibri"/>
              <a:cs typeface="Calibri"/>
            </a:endParaRPr>
          </a:p>
          <a:p>
            <a:pPr marL="12700">
              <a:lnSpc>
                <a:spcPct val="100000"/>
              </a:lnSpc>
              <a:spcBef>
                <a:spcPts val="285"/>
              </a:spcBef>
            </a:pPr>
            <a:r>
              <a:rPr sz="1250" dirty="0">
                <a:solidFill>
                  <a:srgbClr val="252525"/>
                </a:solidFill>
                <a:latin typeface="Calibri"/>
                <a:cs typeface="Calibri"/>
              </a:rPr>
              <a:t>Ms. </a:t>
            </a:r>
            <a:r>
              <a:rPr sz="1250" spc="-10" dirty="0">
                <a:solidFill>
                  <a:srgbClr val="252525"/>
                </a:solidFill>
                <a:latin typeface="Calibri"/>
                <a:cs typeface="Calibri"/>
              </a:rPr>
              <a:t>Jyothsna</a:t>
            </a:r>
            <a:r>
              <a:rPr sz="1250" spc="5" dirty="0">
                <a:solidFill>
                  <a:srgbClr val="252525"/>
                </a:solidFill>
                <a:latin typeface="Calibri"/>
                <a:cs typeface="Calibri"/>
              </a:rPr>
              <a:t> </a:t>
            </a:r>
            <a:r>
              <a:rPr sz="1250" spc="-20" dirty="0">
                <a:solidFill>
                  <a:srgbClr val="252525"/>
                </a:solidFill>
                <a:latin typeface="Calibri"/>
                <a:cs typeface="Calibri"/>
              </a:rPr>
              <a:t>Datti</a:t>
            </a:r>
            <a:endParaRPr sz="1250">
              <a:latin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pPr marL="1257935">
              <a:lnSpc>
                <a:spcPct val="100000"/>
              </a:lnSpc>
              <a:spcBef>
                <a:spcPts val="105"/>
              </a:spcBef>
            </a:pPr>
            <a:r>
              <a:rPr spc="-10" dirty="0"/>
              <a:t>ABSTRACT</a:t>
            </a:r>
          </a:p>
        </p:txBody>
      </p:sp>
      <p:sp>
        <p:nvSpPr>
          <p:cNvPr id="3" name="object 3"/>
          <p:cNvSpPr txBox="1"/>
          <p:nvPr/>
        </p:nvSpPr>
        <p:spPr>
          <a:xfrm>
            <a:off x="4594097" y="933449"/>
            <a:ext cx="3001010" cy="201295"/>
          </a:xfrm>
          <a:prstGeom prst="rect">
            <a:avLst/>
          </a:prstGeom>
        </p:spPr>
        <p:txBody>
          <a:bodyPr vert="horz" wrap="square" lIns="0" tIns="12700" rIns="0" bIns="0" rtlCol="0">
            <a:spAutoFit/>
          </a:bodyPr>
          <a:lstStyle/>
          <a:p>
            <a:pPr marL="12700">
              <a:lnSpc>
                <a:spcPct val="100000"/>
              </a:lnSpc>
              <a:spcBef>
                <a:spcPts val="100"/>
              </a:spcBef>
            </a:pPr>
            <a:r>
              <a:rPr sz="1150" i="1" dirty="0">
                <a:solidFill>
                  <a:srgbClr val="6D6D6D"/>
                </a:solidFill>
                <a:latin typeface="Calibri"/>
                <a:cs typeface="Calibri"/>
              </a:rPr>
              <a:t>Project</a:t>
            </a:r>
            <a:r>
              <a:rPr sz="1150" i="1" spc="-20" dirty="0">
                <a:solidFill>
                  <a:srgbClr val="6D6D6D"/>
                </a:solidFill>
                <a:latin typeface="Calibri"/>
                <a:cs typeface="Calibri"/>
              </a:rPr>
              <a:t> </a:t>
            </a:r>
            <a:r>
              <a:rPr sz="1150" i="1" dirty="0">
                <a:solidFill>
                  <a:srgbClr val="6D6D6D"/>
                </a:solidFill>
                <a:latin typeface="Calibri"/>
                <a:cs typeface="Calibri"/>
              </a:rPr>
              <a:t>motivation</a:t>
            </a:r>
            <a:r>
              <a:rPr sz="1150" i="1" spc="-30" dirty="0">
                <a:solidFill>
                  <a:srgbClr val="6D6D6D"/>
                </a:solidFill>
                <a:latin typeface="Calibri"/>
                <a:cs typeface="Calibri"/>
              </a:rPr>
              <a:t> </a:t>
            </a:r>
            <a:r>
              <a:rPr sz="1150" i="1" dirty="0">
                <a:solidFill>
                  <a:srgbClr val="6D6D6D"/>
                </a:solidFill>
                <a:latin typeface="Calibri"/>
                <a:cs typeface="Calibri"/>
              </a:rPr>
              <a:t>and</a:t>
            </a:r>
            <a:r>
              <a:rPr sz="1150" i="1" spc="-55" dirty="0">
                <a:solidFill>
                  <a:srgbClr val="6D6D6D"/>
                </a:solidFill>
                <a:latin typeface="Calibri"/>
                <a:cs typeface="Calibri"/>
              </a:rPr>
              <a:t> </a:t>
            </a:r>
            <a:r>
              <a:rPr sz="1150" i="1" dirty="0">
                <a:solidFill>
                  <a:srgbClr val="6D6D6D"/>
                </a:solidFill>
                <a:latin typeface="Calibri"/>
                <a:cs typeface="Calibri"/>
              </a:rPr>
              <a:t>proposed</a:t>
            </a:r>
            <a:r>
              <a:rPr sz="1150" i="1" spc="-55" dirty="0">
                <a:solidFill>
                  <a:srgbClr val="6D6D6D"/>
                </a:solidFill>
                <a:latin typeface="Calibri"/>
                <a:cs typeface="Calibri"/>
              </a:rPr>
              <a:t> </a:t>
            </a:r>
            <a:r>
              <a:rPr sz="1150" i="1" dirty="0">
                <a:solidFill>
                  <a:srgbClr val="6D6D6D"/>
                </a:solidFill>
                <a:latin typeface="Calibri"/>
                <a:cs typeface="Calibri"/>
              </a:rPr>
              <a:t>learning</a:t>
            </a:r>
            <a:r>
              <a:rPr sz="1150" i="1" spc="-55" dirty="0">
                <a:solidFill>
                  <a:srgbClr val="6D6D6D"/>
                </a:solidFill>
                <a:latin typeface="Calibri"/>
                <a:cs typeface="Calibri"/>
              </a:rPr>
              <a:t> </a:t>
            </a:r>
            <a:r>
              <a:rPr sz="1150" i="1" spc="-10" dirty="0">
                <a:solidFill>
                  <a:srgbClr val="6D6D6D"/>
                </a:solidFill>
                <a:latin typeface="Calibri"/>
                <a:cs typeface="Calibri"/>
              </a:rPr>
              <a:t>strategy</a:t>
            </a:r>
            <a:endParaRPr sz="1150" dirty="0">
              <a:latin typeface="Calibri"/>
              <a:cs typeface="Calibri"/>
            </a:endParaRPr>
          </a:p>
        </p:txBody>
      </p:sp>
      <p:sp>
        <p:nvSpPr>
          <p:cNvPr id="8" name="object 8"/>
          <p:cNvSpPr txBox="1"/>
          <p:nvPr/>
        </p:nvSpPr>
        <p:spPr>
          <a:xfrm>
            <a:off x="152400" y="1697261"/>
            <a:ext cx="11887200" cy="4937890"/>
          </a:xfrm>
          <a:prstGeom prst="rect">
            <a:avLst/>
          </a:prstGeom>
        </p:spPr>
        <p:txBody>
          <a:bodyPr vert="horz" wrap="square" lIns="0" tIns="13335" rIns="0" bIns="0" rtlCol="0">
            <a:spAutoFit/>
          </a:bodyPr>
          <a:lstStyle/>
          <a:p>
            <a:r>
              <a:rPr lang="en-IN" sz="1600" dirty="0"/>
              <a:t>Money laundering has become an increasingly sophisticated financial crime that enables illegal activities such as fraud, terrorism financing, corruption, and cybercrime. Conventional Anti-Money Laundering (AML) systems primarily rely on predefined rules and manual investigation, making them less effective in identifying complex and evolving money laundering patterns. With the rapid growth of digital banking, cryptocurrency transactions, and interconnected financial networks, there is a growing need for intelligent detection methods. Recent advances in Graph Neural Networks (GNNs) have demonstrated significant potential in addressing this challenge by representing financial ecosystems as graphs, where accounts are </a:t>
            </a:r>
            <a:r>
              <a:rPr lang="en-IN" sz="1600" dirty="0" err="1"/>
              <a:t>modeled</a:t>
            </a:r>
            <a:r>
              <a:rPr lang="en-IN" sz="1600" dirty="0"/>
              <a:t> as nodes and transactions as edges. This study presents a comprehensive overview of recent research on AML detection using GNN-based techniques, including Graph Convolutional Networks (GCN), Graph Attention Networks (GAT), </a:t>
            </a:r>
            <a:r>
              <a:rPr lang="en-IN" sz="1600" dirty="0" err="1"/>
              <a:t>GraphSAGE</a:t>
            </a:r>
            <a:r>
              <a:rPr lang="en-IN" sz="1600" dirty="0"/>
              <a:t>, and other graph learning approaches. The literature indicates how these models effectively capture structural and contextual information within transaction networks, allowing them to identify suspicious activities that traditional machine learning methods often overlook. Widely adopted benchmark datasets, such as the Elliptic Bitcoin Dataset and </a:t>
            </a:r>
            <a:r>
              <a:rPr lang="en-IN" sz="1600" dirty="0" err="1"/>
              <a:t>AMLSim</a:t>
            </a:r>
            <a:r>
              <a:rPr lang="en-IN" sz="1600" dirty="0"/>
              <a:t>, have further accelerated research by providing realistic environments for evaluating detection performance. Despite promising improvements in accuracy, precision, and recall, challenges remain, including severe class imbalance, limited availability of real-world </a:t>
            </a:r>
            <a:r>
              <a:rPr lang="en-IN" sz="1600" dirty="0" err="1"/>
              <a:t>labeled</a:t>
            </a:r>
            <a:r>
              <a:rPr lang="en-IN" sz="1600" dirty="0"/>
              <a:t> data, scalability to massive transaction graphs, privacy constraints, and the need for explainable predictions that support regulatory compliance. The review also highlights emerging research directions such as heterogeneous graph learning, temporal neural networks, self-supervised representation learning, and explainable artificial intelligence, which aim to improve both detection capability and model transparency. Overall, Graph Neural Networks represent a transformative approach to AML by leveraging the relational nature of financial transactions, enabling earlier identification of illicit activities while reducing false positives. Continued research integrating advanced graph learning techniques is expected to result in strengthening financial security and supporting more effective anti-money laundering systems in modern digital economies.</a:t>
            </a:r>
          </a:p>
          <a:p>
            <a:pPr algn="just"/>
            <a:endParaRPr lang="en-IN" sz="1600" dirty="0">
              <a:latin typeface="Times New Roman" panose="02020603050405020304" pitchFamily="18" charset="0"/>
              <a:cs typeface="Times New Roman" panose="02020603050405020304" pitchFamily="18" charset="0"/>
            </a:endParaRPr>
          </a:p>
        </p:txBody>
      </p:sp>
      <p:sp>
        <p:nvSpPr>
          <p:cNvPr id="18" name="object 18"/>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19" name="object 19"/>
          <p:cNvSpPr txBox="1">
            <a:spLocks noGrp="1"/>
          </p:cNvSpPr>
          <p:nvPr>
            <p:ph type="sldNum" sz="quarter" idx="7"/>
          </p:nvPr>
        </p:nvSpPr>
        <p:spPr>
          <a:prstGeom prst="rect">
            <a:avLst/>
          </a:prstGeom>
        </p:spPr>
        <p:txBody>
          <a:bodyPr vert="horz" wrap="square" lIns="0" tIns="0" rIns="0" bIns="0" rtlCol="0">
            <a:spAutoFit/>
          </a:bodyPr>
          <a:lstStyle/>
          <a:p>
            <a:pPr marL="12700">
              <a:lnSpc>
                <a:spcPts val="965"/>
              </a:lnSpc>
            </a:pPr>
            <a:r>
              <a:rPr sz="700"/>
              <a:t>2</a:t>
            </a:r>
            <a:endParaRPr spc="-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pPr marL="941069">
              <a:lnSpc>
                <a:spcPct val="100000"/>
              </a:lnSpc>
              <a:spcBef>
                <a:spcPts val="105"/>
              </a:spcBef>
            </a:pPr>
            <a:r>
              <a:rPr spc="-10" dirty="0"/>
              <a:t>INTRODUCTION</a:t>
            </a:r>
          </a:p>
        </p:txBody>
      </p:sp>
      <p:sp>
        <p:nvSpPr>
          <p:cNvPr id="3" name="object 3"/>
          <p:cNvSpPr txBox="1"/>
          <p:nvPr/>
        </p:nvSpPr>
        <p:spPr>
          <a:xfrm>
            <a:off x="4399026" y="933449"/>
            <a:ext cx="3391535" cy="201295"/>
          </a:xfrm>
          <a:prstGeom prst="rect">
            <a:avLst/>
          </a:prstGeom>
        </p:spPr>
        <p:txBody>
          <a:bodyPr vert="horz" wrap="square" lIns="0" tIns="12700" rIns="0" bIns="0" rtlCol="0">
            <a:spAutoFit/>
          </a:bodyPr>
          <a:lstStyle/>
          <a:p>
            <a:pPr marL="12700">
              <a:lnSpc>
                <a:spcPct val="100000"/>
              </a:lnSpc>
              <a:spcBef>
                <a:spcPts val="100"/>
              </a:spcBef>
            </a:pPr>
            <a:r>
              <a:rPr sz="1150" i="1" dirty="0">
                <a:solidFill>
                  <a:srgbClr val="6D6D6D"/>
                </a:solidFill>
                <a:latin typeface="Calibri"/>
                <a:cs typeface="Calibri"/>
              </a:rPr>
              <a:t>Why</a:t>
            </a:r>
            <a:r>
              <a:rPr sz="1150" i="1" spc="-30" dirty="0">
                <a:solidFill>
                  <a:srgbClr val="6D6D6D"/>
                </a:solidFill>
                <a:latin typeface="Calibri"/>
                <a:cs typeface="Calibri"/>
              </a:rPr>
              <a:t> </a:t>
            </a:r>
            <a:r>
              <a:rPr sz="1150" i="1" dirty="0">
                <a:solidFill>
                  <a:srgbClr val="6D6D6D"/>
                </a:solidFill>
                <a:latin typeface="Calibri"/>
                <a:cs typeface="Calibri"/>
              </a:rPr>
              <a:t>a</a:t>
            </a:r>
            <a:r>
              <a:rPr sz="1150" i="1" spc="15" dirty="0">
                <a:solidFill>
                  <a:srgbClr val="6D6D6D"/>
                </a:solidFill>
                <a:latin typeface="Calibri"/>
                <a:cs typeface="Calibri"/>
              </a:rPr>
              <a:t> </a:t>
            </a:r>
            <a:r>
              <a:rPr sz="1150" i="1" dirty="0">
                <a:solidFill>
                  <a:srgbClr val="6D6D6D"/>
                </a:solidFill>
                <a:latin typeface="Calibri"/>
                <a:cs typeface="Calibri"/>
              </a:rPr>
              <a:t>hybrid</a:t>
            </a:r>
            <a:r>
              <a:rPr sz="1150" i="1" spc="-10" dirty="0">
                <a:solidFill>
                  <a:srgbClr val="6D6D6D"/>
                </a:solidFill>
                <a:latin typeface="Calibri"/>
                <a:cs typeface="Calibri"/>
              </a:rPr>
              <a:t> LSTM–</a:t>
            </a:r>
            <a:r>
              <a:rPr sz="1150" i="1" dirty="0">
                <a:solidFill>
                  <a:srgbClr val="6D6D6D"/>
                </a:solidFill>
                <a:latin typeface="Calibri"/>
                <a:cs typeface="Calibri"/>
              </a:rPr>
              <a:t>Autoencoder</a:t>
            </a:r>
            <a:r>
              <a:rPr sz="1150" i="1" spc="-50" dirty="0">
                <a:solidFill>
                  <a:srgbClr val="6D6D6D"/>
                </a:solidFill>
                <a:latin typeface="Calibri"/>
                <a:cs typeface="Calibri"/>
              </a:rPr>
              <a:t> </a:t>
            </a:r>
            <a:r>
              <a:rPr sz="1150" i="1" spc="-10" dirty="0">
                <a:solidFill>
                  <a:srgbClr val="6D6D6D"/>
                </a:solidFill>
                <a:latin typeface="Calibri"/>
                <a:cs typeface="Calibri"/>
              </a:rPr>
              <a:t>architecture</a:t>
            </a:r>
            <a:r>
              <a:rPr sz="1150" i="1" spc="10" dirty="0">
                <a:solidFill>
                  <a:srgbClr val="6D6D6D"/>
                </a:solidFill>
                <a:latin typeface="Calibri"/>
                <a:cs typeface="Calibri"/>
              </a:rPr>
              <a:t> </a:t>
            </a:r>
            <a:r>
              <a:rPr sz="1150" i="1" dirty="0">
                <a:solidFill>
                  <a:srgbClr val="6D6D6D"/>
                </a:solidFill>
                <a:latin typeface="Calibri"/>
                <a:cs typeface="Calibri"/>
              </a:rPr>
              <a:t>is</a:t>
            </a:r>
            <a:r>
              <a:rPr sz="1150" i="1" spc="-5" dirty="0">
                <a:solidFill>
                  <a:srgbClr val="6D6D6D"/>
                </a:solidFill>
                <a:latin typeface="Calibri"/>
                <a:cs typeface="Calibri"/>
              </a:rPr>
              <a:t> </a:t>
            </a:r>
            <a:r>
              <a:rPr sz="1150" i="1" spc="-10" dirty="0">
                <a:solidFill>
                  <a:srgbClr val="6D6D6D"/>
                </a:solidFill>
                <a:latin typeface="Calibri"/>
                <a:cs typeface="Calibri"/>
              </a:rPr>
              <a:t>relevant</a:t>
            </a:r>
            <a:endParaRPr sz="1150">
              <a:latin typeface="Calibri"/>
              <a:cs typeface="Calibri"/>
            </a:endParaRPr>
          </a:p>
        </p:txBody>
      </p:sp>
      <p:grpSp>
        <p:nvGrpSpPr>
          <p:cNvPr id="4" name="object 4"/>
          <p:cNvGrpSpPr/>
          <p:nvPr/>
        </p:nvGrpSpPr>
        <p:grpSpPr>
          <a:xfrm>
            <a:off x="371856" y="1310639"/>
            <a:ext cx="5617083" cy="4138803"/>
            <a:chOff x="371856" y="1310639"/>
            <a:chExt cx="5617083" cy="4138803"/>
          </a:xfrm>
        </p:grpSpPr>
        <p:pic>
          <p:nvPicPr>
            <p:cNvPr id="5" name="object 5"/>
            <p:cNvPicPr/>
            <p:nvPr/>
          </p:nvPicPr>
          <p:blipFill>
            <a:blip r:embed="rId2" cstate="print"/>
            <a:stretch>
              <a:fillRect/>
            </a:stretch>
          </p:blipFill>
          <p:spPr>
            <a:xfrm>
              <a:off x="371856" y="1310639"/>
              <a:ext cx="5617083" cy="4138803"/>
            </a:xfrm>
            <a:prstGeom prst="rect">
              <a:avLst/>
            </a:prstGeom>
          </p:spPr>
        </p:pic>
        <p:sp>
          <p:nvSpPr>
            <p:cNvPr id="6" name="object 6"/>
            <p:cNvSpPr/>
            <p:nvPr/>
          </p:nvSpPr>
          <p:spPr>
            <a:xfrm>
              <a:off x="457200" y="2166273"/>
              <a:ext cx="5455920" cy="1807927"/>
            </a:xfrm>
            <a:custGeom>
              <a:avLst/>
              <a:gdLst/>
              <a:ahLst/>
              <a:cxnLst/>
              <a:rect l="l" t="t" r="r" b="b"/>
              <a:pathLst>
                <a:path w="5455920" h="3977640">
                  <a:moveTo>
                    <a:pt x="5382768" y="0"/>
                  </a:moveTo>
                  <a:lnTo>
                    <a:pt x="73151" y="0"/>
                  </a:lnTo>
                  <a:lnTo>
                    <a:pt x="44678" y="5750"/>
                  </a:lnTo>
                  <a:lnTo>
                    <a:pt x="21426" y="21431"/>
                  </a:lnTo>
                  <a:lnTo>
                    <a:pt x="5748" y="44684"/>
                  </a:lnTo>
                  <a:lnTo>
                    <a:pt x="0" y="73151"/>
                  </a:lnTo>
                  <a:lnTo>
                    <a:pt x="0" y="3904488"/>
                  </a:lnTo>
                  <a:lnTo>
                    <a:pt x="5748" y="3932955"/>
                  </a:lnTo>
                  <a:lnTo>
                    <a:pt x="21426" y="3956208"/>
                  </a:lnTo>
                  <a:lnTo>
                    <a:pt x="44678" y="3971889"/>
                  </a:lnTo>
                  <a:lnTo>
                    <a:pt x="73151" y="3977640"/>
                  </a:lnTo>
                  <a:lnTo>
                    <a:pt x="5382768" y="3977640"/>
                  </a:lnTo>
                  <a:lnTo>
                    <a:pt x="5411235" y="3971889"/>
                  </a:lnTo>
                  <a:lnTo>
                    <a:pt x="5434488" y="3956208"/>
                  </a:lnTo>
                  <a:lnTo>
                    <a:pt x="5450169" y="3932955"/>
                  </a:lnTo>
                  <a:lnTo>
                    <a:pt x="5455920" y="3904488"/>
                  </a:lnTo>
                  <a:lnTo>
                    <a:pt x="5455920" y="73151"/>
                  </a:lnTo>
                  <a:lnTo>
                    <a:pt x="5450169" y="44684"/>
                  </a:lnTo>
                  <a:lnTo>
                    <a:pt x="5434488" y="21431"/>
                  </a:lnTo>
                  <a:lnTo>
                    <a:pt x="5411235" y="5750"/>
                  </a:lnTo>
                  <a:lnTo>
                    <a:pt x="5382768" y="0"/>
                  </a:lnTo>
                  <a:close/>
                </a:path>
              </a:pathLst>
            </a:custGeom>
            <a:solidFill>
              <a:srgbClr val="FFFFFF"/>
            </a:solidFill>
          </p:spPr>
          <p:txBody>
            <a:bodyPr wrap="square" lIns="0" tIns="0" rIns="0" bIns="0" rtlCol="0"/>
            <a:lstStyle/>
            <a:p>
              <a:r>
                <a:rPr lang="en-IN" dirty="0"/>
                <a:t>Money laundering is a major financial crime that hides illegal money through complex transactions. As digital banking and online transactions increase, detecting suspicious activities quickly has become more difficult.</a:t>
              </a:r>
              <a:endParaRPr dirty="0"/>
            </a:p>
          </p:txBody>
        </p:sp>
        <p:sp>
          <p:nvSpPr>
            <p:cNvPr id="7" name="object 7"/>
            <p:cNvSpPr/>
            <p:nvPr/>
          </p:nvSpPr>
          <p:spPr>
            <a:xfrm>
              <a:off x="457200" y="1371599"/>
              <a:ext cx="5455920" cy="3977640"/>
            </a:xfrm>
            <a:custGeom>
              <a:avLst/>
              <a:gdLst/>
              <a:ahLst/>
              <a:cxnLst/>
              <a:rect l="l" t="t" r="r" b="b"/>
              <a:pathLst>
                <a:path w="5455920" h="3977640">
                  <a:moveTo>
                    <a:pt x="0" y="73151"/>
                  </a:moveTo>
                  <a:lnTo>
                    <a:pt x="5748" y="44684"/>
                  </a:lnTo>
                  <a:lnTo>
                    <a:pt x="21426" y="21431"/>
                  </a:lnTo>
                  <a:lnTo>
                    <a:pt x="44678" y="5750"/>
                  </a:lnTo>
                  <a:lnTo>
                    <a:pt x="73151" y="0"/>
                  </a:lnTo>
                  <a:lnTo>
                    <a:pt x="5382768" y="0"/>
                  </a:lnTo>
                  <a:lnTo>
                    <a:pt x="5411235" y="5750"/>
                  </a:lnTo>
                  <a:lnTo>
                    <a:pt x="5434488" y="21431"/>
                  </a:lnTo>
                  <a:lnTo>
                    <a:pt x="5450169" y="44684"/>
                  </a:lnTo>
                  <a:lnTo>
                    <a:pt x="5455920" y="73151"/>
                  </a:lnTo>
                  <a:lnTo>
                    <a:pt x="5455920" y="3904488"/>
                  </a:lnTo>
                  <a:lnTo>
                    <a:pt x="5450169" y="3932955"/>
                  </a:lnTo>
                  <a:lnTo>
                    <a:pt x="5434488" y="3956208"/>
                  </a:lnTo>
                  <a:lnTo>
                    <a:pt x="5411235" y="3971889"/>
                  </a:lnTo>
                  <a:lnTo>
                    <a:pt x="5382768" y="3977640"/>
                  </a:lnTo>
                  <a:lnTo>
                    <a:pt x="73151" y="3977640"/>
                  </a:lnTo>
                  <a:lnTo>
                    <a:pt x="44678" y="3971889"/>
                  </a:lnTo>
                  <a:lnTo>
                    <a:pt x="21426" y="3956208"/>
                  </a:lnTo>
                  <a:lnTo>
                    <a:pt x="5748" y="3932955"/>
                  </a:lnTo>
                  <a:lnTo>
                    <a:pt x="0" y="3904488"/>
                  </a:lnTo>
                  <a:lnTo>
                    <a:pt x="0" y="73151"/>
                  </a:lnTo>
                  <a:close/>
                </a:path>
              </a:pathLst>
            </a:custGeom>
            <a:ln w="12192">
              <a:solidFill>
                <a:srgbClr val="DDD2C4"/>
              </a:solidFill>
            </a:ln>
          </p:spPr>
          <p:txBody>
            <a:bodyPr wrap="square" lIns="0" tIns="0" rIns="0" bIns="0" rtlCol="0"/>
            <a:lstStyle/>
            <a:p>
              <a:endParaRPr/>
            </a:p>
          </p:txBody>
        </p:sp>
      </p:grpSp>
      <p:sp>
        <p:nvSpPr>
          <p:cNvPr id="8" name="object 8"/>
          <p:cNvSpPr txBox="1"/>
          <p:nvPr/>
        </p:nvSpPr>
        <p:spPr>
          <a:xfrm>
            <a:off x="719124" y="1655444"/>
            <a:ext cx="4030676" cy="226985"/>
          </a:xfrm>
          <a:prstGeom prst="rect">
            <a:avLst/>
          </a:prstGeom>
        </p:spPr>
        <p:txBody>
          <a:bodyPr vert="horz" wrap="square" lIns="0" tIns="11430" rIns="0" bIns="0" rtlCol="0">
            <a:spAutoFit/>
          </a:bodyPr>
          <a:lstStyle/>
          <a:p>
            <a:pPr marL="12700">
              <a:spcBef>
                <a:spcPts val="90"/>
              </a:spcBef>
            </a:pPr>
            <a:r>
              <a:rPr lang="en-IN" sz="1400" b="1" dirty="0">
                <a:solidFill>
                  <a:srgbClr val="C00000"/>
                </a:solidFill>
              </a:rPr>
              <a:t>WHY IT MATTERS</a:t>
            </a:r>
          </a:p>
        </p:txBody>
      </p:sp>
      <p:sp>
        <p:nvSpPr>
          <p:cNvPr id="9" name="object 9"/>
          <p:cNvSpPr txBox="1"/>
          <p:nvPr/>
        </p:nvSpPr>
        <p:spPr>
          <a:xfrm>
            <a:off x="719124" y="2021742"/>
            <a:ext cx="4857115" cy="450636"/>
          </a:xfrm>
          <a:prstGeom prst="rect">
            <a:avLst/>
          </a:prstGeom>
        </p:spPr>
        <p:txBody>
          <a:bodyPr vert="horz" wrap="square" lIns="0" tIns="13970" rIns="0" bIns="0" rtlCol="0">
            <a:spAutoFit/>
          </a:bodyPr>
          <a:lstStyle/>
          <a:p>
            <a:pPr algn="just"/>
            <a:endParaRPr lang="en-IN" sz="1400" dirty="0"/>
          </a:p>
          <a:p>
            <a:pPr marL="12700" marR="5080" algn="just">
              <a:lnSpc>
                <a:spcPct val="114900"/>
              </a:lnSpc>
              <a:spcBef>
                <a:spcPts val="110"/>
              </a:spcBef>
            </a:pPr>
            <a:endParaRPr sz="1250" dirty="0">
              <a:latin typeface="Calibri"/>
              <a:cs typeface="Calibri"/>
            </a:endParaRPr>
          </a:p>
        </p:txBody>
      </p:sp>
      <p:grpSp>
        <p:nvGrpSpPr>
          <p:cNvPr id="10" name="object 10"/>
          <p:cNvGrpSpPr/>
          <p:nvPr/>
        </p:nvGrpSpPr>
        <p:grpSpPr>
          <a:xfrm>
            <a:off x="6193535" y="1310639"/>
            <a:ext cx="5614035" cy="4138929"/>
            <a:chOff x="6193535" y="1310639"/>
            <a:chExt cx="5614035" cy="4138929"/>
          </a:xfrm>
        </p:grpSpPr>
        <p:pic>
          <p:nvPicPr>
            <p:cNvPr id="11" name="object 11"/>
            <p:cNvPicPr/>
            <p:nvPr/>
          </p:nvPicPr>
          <p:blipFill>
            <a:blip r:embed="rId3" cstate="print"/>
            <a:stretch>
              <a:fillRect/>
            </a:stretch>
          </p:blipFill>
          <p:spPr>
            <a:xfrm>
              <a:off x="6193535" y="1310639"/>
              <a:ext cx="5614035" cy="4138803"/>
            </a:xfrm>
            <a:prstGeom prst="rect">
              <a:avLst/>
            </a:prstGeom>
          </p:spPr>
        </p:pic>
        <p:sp>
          <p:nvSpPr>
            <p:cNvPr id="12" name="object 12"/>
            <p:cNvSpPr/>
            <p:nvPr/>
          </p:nvSpPr>
          <p:spPr>
            <a:xfrm>
              <a:off x="6278879" y="1371599"/>
              <a:ext cx="5453380" cy="3977640"/>
            </a:xfrm>
            <a:custGeom>
              <a:avLst/>
              <a:gdLst/>
              <a:ahLst/>
              <a:cxnLst/>
              <a:rect l="l" t="t" r="r" b="b"/>
              <a:pathLst>
                <a:path w="5453380" h="3977640">
                  <a:moveTo>
                    <a:pt x="5379720" y="0"/>
                  </a:moveTo>
                  <a:lnTo>
                    <a:pt x="73152" y="0"/>
                  </a:lnTo>
                  <a:lnTo>
                    <a:pt x="44684" y="5750"/>
                  </a:lnTo>
                  <a:lnTo>
                    <a:pt x="21431" y="21431"/>
                  </a:lnTo>
                  <a:lnTo>
                    <a:pt x="5750" y="44684"/>
                  </a:lnTo>
                  <a:lnTo>
                    <a:pt x="0" y="73151"/>
                  </a:lnTo>
                  <a:lnTo>
                    <a:pt x="0" y="3904488"/>
                  </a:lnTo>
                  <a:lnTo>
                    <a:pt x="5750" y="3932955"/>
                  </a:lnTo>
                  <a:lnTo>
                    <a:pt x="21431" y="3956208"/>
                  </a:lnTo>
                  <a:lnTo>
                    <a:pt x="44684" y="3971889"/>
                  </a:lnTo>
                  <a:lnTo>
                    <a:pt x="73152" y="3977640"/>
                  </a:lnTo>
                  <a:lnTo>
                    <a:pt x="5379720" y="3977640"/>
                  </a:lnTo>
                  <a:lnTo>
                    <a:pt x="5408187" y="3971889"/>
                  </a:lnTo>
                  <a:lnTo>
                    <a:pt x="5431440" y="3956208"/>
                  </a:lnTo>
                  <a:lnTo>
                    <a:pt x="5447121" y="3932955"/>
                  </a:lnTo>
                  <a:lnTo>
                    <a:pt x="5452872" y="3904488"/>
                  </a:lnTo>
                  <a:lnTo>
                    <a:pt x="5452872" y="73151"/>
                  </a:lnTo>
                  <a:lnTo>
                    <a:pt x="5447121" y="44684"/>
                  </a:lnTo>
                  <a:lnTo>
                    <a:pt x="5431440" y="21431"/>
                  </a:lnTo>
                  <a:lnTo>
                    <a:pt x="5408187" y="5750"/>
                  </a:lnTo>
                  <a:lnTo>
                    <a:pt x="5379720" y="0"/>
                  </a:lnTo>
                  <a:close/>
                </a:path>
              </a:pathLst>
            </a:custGeom>
            <a:solidFill>
              <a:srgbClr val="FFFFFF"/>
            </a:solidFill>
          </p:spPr>
          <p:txBody>
            <a:bodyPr wrap="square" lIns="0" tIns="0" rIns="0" bIns="0" rtlCol="0"/>
            <a:lstStyle/>
            <a:p>
              <a:endParaRPr/>
            </a:p>
          </p:txBody>
        </p:sp>
        <p:sp>
          <p:nvSpPr>
            <p:cNvPr id="13" name="object 13"/>
            <p:cNvSpPr/>
            <p:nvPr/>
          </p:nvSpPr>
          <p:spPr>
            <a:xfrm>
              <a:off x="6278879" y="1371599"/>
              <a:ext cx="5453380" cy="3977640"/>
            </a:xfrm>
            <a:custGeom>
              <a:avLst/>
              <a:gdLst/>
              <a:ahLst/>
              <a:cxnLst/>
              <a:rect l="l" t="t" r="r" b="b"/>
              <a:pathLst>
                <a:path w="5453380" h="3977640">
                  <a:moveTo>
                    <a:pt x="0" y="73151"/>
                  </a:moveTo>
                  <a:lnTo>
                    <a:pt x="5750" y="44684"/>
                  </a:lnTo>
                  <a:lnTo>
                    <a:pt x="21431" y="21431"/>
                  </a:lnTo>
                  <a:lnTo>
                    <a:pt x="44684" y="5750"/>
                  </a:lnTo>
                  <a:lnTo>
                    <a:pt x="73152" y="0"/>
                  </a:lnTo>
                  <a:lnTo>
                    <a:pt x="5379720" y="0"/>
                  </a:lnTo>
                  <a:lnTo>
                    <a:pt x="5408187" y="5750"/>
                  </a:lnTo>
                  <a:lnTo>
                    <a:pt x="5431440" y="21431"/>
                  </a:lnTo>
                  <a:lnTo>
                    <a:pt x="5447121" y="44684"/>
                  </a:lnTo>
                  <a:lnTo>
                    <a:pt x="5452872" y="73151"/>
                  </a:lnTo>
                  <a:lnTo>
                    <a:pt x="5452872" y="3904488"/>
                  </a:lnTo>
                  <a:lnTo>
                    <a:pt x="5447121" y="3932955"/>
                  </a:lnTo>
                  <a:lnTo>
                    <a:pt x="5431440" y="3956208"/>
                  </a:lnTo>
                  <a:lnTo>
                    <a:pt x="5408187" y="3971889"/>
                  </a:lnTo>
                  <a:lnTo>
                    <a:pt x="5379720" y="3977640"/>
                  </a:lnTo>
                  <a:lnTo>
                    <a:pt x="73152" y="3977640"/>
                  </a:lnTo>
                  <a:lnTo>
                    <a:pt x="44684" y="3971889"/>
                  </a:lnTo>
                  <a:lnTo>
                    <a:pt x="21431" y="3956208"/>
                  </a:lnTo>
                  <a:lnTo>
                    <a:pt x="5750" y="3932955"/>
                  </a:lnTo>
                  <a:lnTo>
                    <a:pt x="0" y="3904488"/>
                  </a:lnTo>
                  <a:lnTo>
                    <a:pt x="0" y="73151"/>
                  </a:lnTo>
                  <a:close/>
                </a:path>
              </a:pathLst>
            </a:custGeom>
            <a:ln w="12192">
              <a:solidFill>
                <a:srgbClr val="DDD2C4"/>
              </a:solidFill>
            </a:ln>
          </p:spPr>
          <p:txBody>
            <a:bodyPr wrap="square" lIns="0" tIns="0" rIns="0" bIns="0" rtlCol="0"/>
            <a:lstStyle/>
            <a:p>
              <a:endParaRPr/>
            </a:p>
          </p:txBody>
        </p:sp>
      </p:grpSp>
      <p:sp>
        <p:nvSpPr>
          <p:cNvPr id="14" name="object 14"/>
          <p:cNvSpPr txBox="1"/>
          <p:nvPr/>
        </p:nvSpPr>
        <p:spPr>
          <a:xfrm>
            <a:off x="6540500" y="1655444"/>
            <a:ext cx="3441700" cy="226985"/>
          </a:xfrm>
          <a:prstGeom prst="rect">
            <a:avLst/>
          </a:prstGeom>
        </p:spPr>
        <p:txBody>
          <a:bodyPr vert="horz" wrap="square" lIns="0" tIns="11430" rIns="0" bIns="0" rtlCol="0">
            <a:spAutoFit/>
          </a:bodyPr>
          <a:lstStyle/>
          <a:p>
            <a:pPr marL="12700">
              <a:lnSpc>
                <a:spcPct val="100000"/>
              </a:lnSpc>
              <a:spcBef>
                <a:spcPts val="90"/>
              </a:spcBef>
            </a:pPr>
            <a:r>
              <a:rPr lang="en-IN" sz="1400" b="1" dirty="0">
                <a:solidFill>
                  <a:srgbClr val="C00000"/>
                </a:solidFill>
              </a:rPr>
              <a:t>WHY MACHINE LEARNING MODELS</a:t>
            </a:r>
            <a:endParaRPr sz="1400" b="1" dirty="0">
              <a:solidFill>
                <a:srgbClr val="C00000"/>
              </a:solidFill>
              <a:latin typeface="Calibri"/>
              <a:cs typeface="Calibri"/>
            </a:endParaRPr>
          </a:p>
        </p:txBody>
      </p:sp>
      <p:sp>
        <p:nvSpPr>
          <p:cNvPr id="15" name="object 15"/>
          <p:cNvSpPr txBox="1"/>
          <p:nvPr/>
        </p:nvSpPr>
        <p:spPr>
          <a:xfrm>
            <a:off x="6540500" y="2021742"/>
            <a:ext cx="4667250" cy="1306127"/>
          </a:xfrm>
          <a:prstGeom prst="rect">
            <a:avLst/>
          </a:prstGeom>
        </p:spPr>
        <p:txBody>
          <a:bodyPr vert="horz" wrap="square" lIns="0" tIns="13335" rIns="0" bIns="0" rtlCol="0">
            <a:spAutoFit/>
          </a:bodyPr>
          <a:lstStyle/>
          <a:p>
            <a:pPr marL="12700" marR="5080" algn="just">
              <a:lnSpc>
                <a:spcPct val="100000"/>
              </a:lnSpc>
              <a:spcBef>
                <a:spcPts val="105"/>
              </a:spcBef>
            </a:pPr>
            <a:r>
              <a:rPr lang="en-IN" sz="1400" dirty="0"/>
              <a:t>Traditional rule-based AML systems may miss complex and changing patterns. Machine Learning, especially </a:t>
            </a:r>
            <a:r>
              <a:rPr lang="en-IN" sz="1400" b="1" dirty="0"/>
              <a:t>Graph Neural Networks (GNNs)</a:t>
            </a:r>
            <a:r>
              <a:rPr lang="en-IN" sz="1400" dirty="0"/>
              <a:t>, can </a:t>
            </a:r>
            <a:r>
              <a:rPr lang="en-IN" sz="1400" dirty="0" err="1"/>
              <a:t>analyze</a:t>
            </a:r>
            <a:r>
              <a:rPr lang="en-IN" sz="1400" dirty="0"/>
              <a:t> relationships between accounts and transactions to identify unusual patterns and improve the detection of potentially fraudulent activities.</a:t>
            </a:r>
            <a:endParaRPr sz="1250" dirty="0">
              <a:latin typeface="Calibri"/>
              <a:cs typeface="Calibri"/>
            </a:endParaRPr>
          </a:p>
        </p:txBody>
      </p:sp>
      <p:sp>
        <p:nvSpPr>
          <p:cNvPr id="17" name="object 17"/>
          <p:cNvSpPr txBox="1"/>
          <p:nvPr/>
        </p:nvSpPr>
        <p:spPr>
          <a:xfrm>
            <a:off x="486955" y="5723330"/>
            <a:ext cx="1214907" cy="182101"/>
          </a:xfrm>
          <a:prstGeom prst="rect">
            <a:avLst/>
          </a:prstGeom>
        </p:spPr>
        <p:txBody>
          <a:bodyPr vert="horz" wrap="square" lIns="0" tIns="12700" rIns="0" bIns="0" rtlCol="0">
            <a:spAutoFit/>
          </a:bodyPr>
          <a:lstStyle/>
          <a:p>
            <a:pPr marL="12700">
              <a:lnSpc>
                <a:spcPct val="100000"/>
              </a:lnSpc>
              <a:spcBef>
                <a:spcPts val="100"/>
              </a:spcBef>
            </a:pPr>
            <a:r>
              <a:rPr lang="en-IN" sz="1100" b="1" dirty="0">
                <a:solidFill>
                  <a:schemeClr val="bg1"/>
                </a:solidFill>
              </a:rPr>
              <a:t>AGRICULTUR</a:t>
            </a:r>
            <a:endParaRPr sz="1100" b="1" dirty="0">
              <a:solidFill>
                <a:schemeClr val="bg1"/>
              </a:solidFill>
              <a:latin typeface="Calibri"/>
              <a:cs typeface="Calibri"/>
            </a:endParaRPr>
          </a:p>
        </p:txBody>
      </p:sp>
      <p:sp>
        <p:nvSpPr>
          <p:cNvPr id="20" name="object 20"/>
          <p:cNvSpPr txBox="1"/>
          <p:nvPr/>
        </p:nvSpPr>
        <p:spPr>
          <a:xfrm>
            <a:off x="2066925" y="5712663"/>
            <a:ext cx="377190" cy="182101"/>
          </a:xfrm>
          <a:prstGeom prst="rect">
            <a:avLst/>
          </a:prstGeom>
        </p:spPr>
        <p:txBody>
          <a:bodyPr vert="horz" wrap="square" lIns="0" tIns="12700" rIns="0" bIns="0" rtlCol="0">
            <a:spAutoFit/>
          </a:bodyPr>
          <a:lstStyle/>
          <a:p>
            <a:pPr marL="12700">
              <a:lnSpc>
                <a:spcPct val="100000"/>
              </a:lnSpc>
              <a:spcBef>
                <a:spcPts val="100"/>
              </a:spcBef>
            </a:pPr>
            <a:r>
              <a:rPr lang="en-IN" sz="1100" b="1" dirty="0">
                <a:solidFill>
                  <a:schemeClr val="bg1"/>
                </a:solidFill>
                <a:latin typeface="Calibri"/>
                <a:cs typeface="Calibri"/>
              </a:rPr>
              <a:t>DATA</a:t>
            </a:r>
            <a:endParaRPr sz="1100" b="1" dirty="0">
              <a:solidFill>
                <a:schemeClr val="bg1"/>
              </a:solidFill>
              <a:latin typeface="Calibri"/>
              <a:cs typeface="Calibri"/>
            </a:endParaRPr>
          </a:p>
        </p:txBody>
      </p:sp>
      <p:sp>
        <p:nvSpPr>
          <p:cNvPr id="26" name="object 26"/>
          <p:cNvSpPr txBox="1"/>
          <p:nvPr/>
        </p:nvSpPr>
        <p:spPr>
          <a:xfrm>
            <a:off x="4651949" y="5734120"/>
            <a:ext cx="1282127" cy="182101"/>
          </a:xfrm>
          <a:prstGeom prst="rect">
            <a:avLst/>
          </a:prstGeom>
        </p:spPr>
        <p:txBody>
          <a:bodyPr vert="horz" wrap="square" lIns="0" tIns="12700" rIns="0" bIns="0" rtlCol="0">
            <a:spAutoFit/>
          </a:bodyPr>
          <a:lstStyle/>
          <a:p>
            <a:pPr marL="12700">
              <a:lnSpc>
                <a:spcPct val="100000"/>
              </a:lnSpc>
              <a:spcBef>
                <a:spcPts val="100"/>
              </a:spcBef>
            </a:pPr>
            <a:r>
              <a:rPr lang="en-IN" sz="1100" b="1" dirty="0">
                <a:solidFill>
                  <a:schemeClr val="bg1"/>
                </a:solidFill>
              </a:rPr>
              <a:t>EST</a:t>
            </a:r>
            <a:endParaRPr sz="1100" b="1" dirty="0">
              <a:solidFill>
                <a:schemeClr val="bg1"/>
              </a:solidFill>
              <a:latin typeface="Calibri"/>
              <a:cs typeface="Calibri"/>
            </a:endParaRPr>
          </a:p>
        </p:txBody>
      </p:sp>
      <p:sp>
        <p:nvSpPr>
          <p:cNvPr id="33" name="object 33"/>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34" name="object 34"/>
          <p:cNvSpPr txBox="1">
            <a:spLocks noGrp="1"/>
          </p:cNvSpPr>
          <p:nvPr>
            <p:ph type="sldNum" sz="quarter" idx="7"/>
          </p:nvPr>
        </p:nvSpPr>
        <p:spPr>
          <a:prstGeom prst="rect">
            <a:avLst/>
          </a:prstGeom>
        </p:spPr>
        <p:txBody>
          <a:bodyPr vert="horz" wrap="square" lIns="0" tIns="0" rIns="0" bIns="0" rtlCol="0">
            <a:spAutoFit/>
          </a:bodyPr>
          <a:lstStyle/>
          <a:p>
            <a:pPr marL="12700">
              <a:lnSpc>
                <a:spcPts val="965"/>
              </a:lnSpc>
            </a:pPr>
            <a:r>
              <a:rPr sz="700"/>
              <a:t>3</a:t>
            </a:r>
            <a:endParaRPr spc="-2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633721" y="341122"/>
            <a:ext cx="2927985" cy="361950"/>
          </a:xfrm>
          <a:prstGeom prst="rect">
            <a:avLst/>
          </a:prstGeom>
        </p:spPr>
        <p:txBody>
          <a:bodyPr vert="horz" wrap="square" lIns="0" tIns="13335" rIns="0" bIns="0" rtlCol="0">
            <a:spAutoFit/>
          </a:bodyPr>
          <a:lstStyle/>
          <a:p>
            <a:pPr marL="12700">
              <a:lnSpc>
                <a:spcPct val="100000"/>
              </a:lnSpc>
              <a:spcBef>
                <a:spcPts val="105"/>
              </a:spcBef>
            </a:pPr>
            <a:r>
              <a:rPr dirty="0"/>
              <a:t>REQUIREMENT</a:t>
            </a:r>
            <a:r>
              <a:rPr spc="-105" dirty="0"/>
              <a:t> </a:t>
            </a:r>
            <a:r>
              <a:rPr spc="-10" dirty="0"/>
              <a:t>ANALYSIS</a:t>
            </a:r>
          </a:p>
        </p:txBody>
      </p:sp>
      <p:sp>
        <p:nvSpPr>
          <p:cNvPr id="3" name="object 3"/>
          <p:cNvSpPr txBox="1"/>
          <p:nvPr/>
        </p:nvSpPr>
        <p:spPr>
          <a:xfrm>
            <a:off x="4569714" y="933449"/>
            <a:ext cx="3044825" cy="201295"/>
          </a:xfrm>
          <a:prstGeom prst="rect">
            <a:avLst/>
          </a:prstGeom>
        </p:spPr>
        <p:txBody>
          <a:bodyPr vert="horz" wrap="square" lIns="0" tIns="12700" rIns="0" bIns="0" rtlCol="0">
            <a:spAutoFit/>
          </a:bodyPr>
          <a:lstStyle/>
          <a:p>
            <a:pPr marL="12700">
              <a:lnSpc>
                <a:spcPct val="100000"/>
              </a:lnSpc>
              <a:spcBef>
                <a:spcPts val="100"/>
              </a:spcBef>
            </a:pPr>
            <a:r>
              <a:rPr sz="1150" i="1" dirty="0">
                <a:solidFill>
                  <a:srgbClr val="6D6D6D"/>
                </a:solidFill>
                <a:latin typeface="Calibri"/>
                <a:cs typeface="Calibri"/>
              </a:rPr>
              <a:t>Core</a:t>
            </a:r>
            <a:r>
              <a:rPr sz="1150" i="1" spc="-15" dirty="0">
                <a:solidFill>
                  <a:srgbClr val="6D6D6D"/>
                </a:solidFill>
                <a:latin typeface="Calibri"/>
                <a:cs typeface="Calibri"/>
              </a:rPr>
              <a:t> </a:t>
            </a:r>
            <a:r>
              <a:rPr sz="1150" i="1" dirty="0">
                <a:solidFill>
                  <a:srgbClr val="6D6D6D"/>
                </a:solidFill>
                <a:latin typeface="Calibri"/>
                <a:cs typeface="Calibri"/>
              </a:rPr>
              <a:t>tools</a:t>
            </a:r>
            <a:r>
              <a:rPr sz="1150" i="1" spc="-25" dirty="0">
                <a:solidFill>
                  <a:srgbClr val="6D6D6D"/>
                </a:solidFill>
                <a:latin typeface="Calibri"/>
                <a:cs typeface="Calibri"/>
              </a:rPr>
              <a:t> </a:t>
            </a:r>
            <a:r>
              <a:rPr sz="1150" i="1" dirty="0">
                <a:solidFill>
                  <a:srgbClr val="6D6D6D"/>
                </a:solidFill>
                <a:latin typeface="Calibri"/>
                <a:cs typeface="Calibri"/>
              </a:rPr>
              <a:t>needed</a:t>
            </a:r>
            <a:r>
              <a:rPr sz="1150" i="1" spc="-50" dirty="0">
                <a:solidFill>
                  <a:srgbClr val="6D6D6D"/>
                </a:solidFill>
                <a:latin typeface="Calibri"/>
                <a:cs typeface="Calibri"/>
              </a:rPr>
              <a:t> </a:t>
            </a:r>
            <a:r>
              <a:rPr sz="1150" i="1" dirty="0">
                <a:solidFill>
                  <a:srgbClr val="6D6D6D"/>
                </a:solidFill>
                <a:latin typeface="Calibri"/>
                <a:cs typeface="Calibri"/>
              </a:rPr>
              <a:t>to</a:t>
            </a:r>
            <a:r>
              <a:rPr sz="1150" i="1" spc="-25" dirty="0">
                <a:solidFill>
                  <a:srgbClr val="6D6D6D"/>
                </a:solidFill>
                <a:latin typeface="Calibri"/>
                <a:cs typeface="Calibri"/>
              </a:rPr>
              <a:t> </a:t>
            </a:r>
            <a:r>
              <a:rPr sz="1150" i="1" dirty="0">
                <a:solidFill>
                  <a:srgbClr val="6D6D6D"/>
                </a:solidFill>
                <a:latin typeface="Calibri"/>
                <a:cs typeface="Calibri"/>
              </a:rPr>
              <a:t>execute</a:t>
            </a:r>
            <a:r>
              <a:rPr sz="1150" i="1" spc="-30" dirty="0">
                <a:solidFill>
                  <a:srgbClr val="6D6D6D"/>
                </a:solidFill>
                <a:latin typeface="Calibri"/>
                <a:cs typeface="Calibri"/>
              </a:rPr>
              <a:t> </a:t>
            </a:r>
            <a:r>
              <a:rPr sz="1150" i="1" dirty="0">
                <a:solidFill>
                  <a:srgbClr val="6D6D6D"/>
                </a:solidFill>
                <a:latin typeface="Calibri"/>
                <a:cs typeface="Calibri"/>
              </a:rPr>
              <a:t>the</a:t>
            </a:r>
            <a:r>
              <a:rPr sz="1150" i="1" spc="-10" dirty="0">
                <a:solidFill>
                  <a:srgbClr val="6D6D6D"/>
                </a:solidFill>
                <a:latin typeface="Calibri"/>
                <a:cs typeface="Calibri"/>
              </a:rPr>
              <a:t> </a:t>
            </a:r>
            <a:r>
              <a:rPr sz="1150" i="1" dirty="0">
                <a:solidFill>
                  <a:srgbClr val="6D6D6D"/>
                </a:solidFill>
                <a:latin typeface="Calibri"/>
                <a:cs typeface="Calibri"/>
              </a:rPr>
              <a:t>proposed</a:t>
            </a:r>
            <a:r>
              <a:rPr sz="1150" i="1" spc="-50" dirty="0">
                <a:solidFill>
                  <a:srgbClr val="6D6D6D"/>
                </a:solidFill>
                <a:latin typeface="Calibri"/>
                <a:cs typeface="Calibri"/>
              </a:rPr>
              <a:t> </a:t>
            </a:r>
            <a:r>
              <a:rPr sz="1150" i="1" spc="-10" dirty="0">
                <a:solidFill>
                  <a:srgbClr val="6D6D6D"/>
                </a:solidFill>
                <a:latin typeface="Calibri"/>
                <a:cs typeface="Calibri"/>
              </a:rPr>
              <a:t>pipeline</a:t>
            </a:r>
            <a:endParaRPr sz="1150">
              <a:latin typeface="Calibri"/>
              <a:cs typeface="Calibri"/>
            </a:endParaRPr>
          </a:p>
        </p:txBody>
      </p:sp>
      <p:grpSp>
        <p:nvGrpSpPr>
          <p:cNvPr id="4" name="object 4"/>
          <p:cNvGrpSpPr/>
          <p:nvPr/>
        </p:nvGrpSpPr>
        <p:grpSpPr>
          <a:xfrm>
            <a:off x="463295" y="1356385"/>
            <a:ext cx="11252835" cy="984250"/>
            <a:chOff x="463295" y="1356385"/>
            <a:chExt cx="11252835" cy="984250"/>
          </a:xfrm>
        </p:grpSpPr>
        <p:pic>
          <p:nvPicPr>
            <p:cNvPr id="5" name="object 5"/>
            <p:cNvPicPr/>
            <p:nvPr/>
          </p:nvPicPr>
          <p:blipFill>
            <a:blip r:embed="rId2" cstate="print"/>
            <a:stretch>
              <a:fillRect/>
            </a:stretch>
          </p:blipFill>
          <p:spPr>
            <a:xfrm>
              <a:off x="463295" y="1356385"/>
              <a:ext cx="11252835" cy="984097"/>
            </a:xfrm>
            <a:prstGeom prst="rect">
              <a:avLst/>
            </a:prstGeom>
          </p:spPr>
        </p:pic>
        <p:sp>
          <p:nvSpPr>
            <p:cNvPr id="6" name="object 6"/>
            <p:cNvSpPr/>
            <p:nvPr/>
          </p:nvSpPr>
          <p:spPr>
            <a:xfrm>
              <a:off x="548639" y="1417320"/>
              <a:ext cx="11092180" cy="822960"/>
            </a:xfrm>
            <a:custGeom>
              <a:avLst/>
              <a:gdLst/>
              <a:ahLst/>
              <a:cxnLst/>
              <a:rect l="l" t="t" r="r" b="b"/>
              <a:pathLst>
                <a:path w="11092180" h="822960">
                  <a:moveTo>
                    <a:pt x="11018519" y="0"/>
                  </a:moveTo>
                  <a:lnTo>
                    <a:pt x="73151" y="0"/>
                  </a:lnTo>
                  <a:lnTo>
                    <a:pt x="44678" y="5750"/>
                  </a:lnTo>
                  <a:lnTo>
                    <a:pt x="21426" y="21431"/>
                  </a:lnTo>
                  <a:lnTo>
                    <a:pt x="5748" y="44684"/>
                  </a:lnTo>
                  <a:lnTo>
                    <a:pt x="0" y="73151"/>
                  </a:lnTo>
                  <a:lnTo>
                    <a:pt x="0" y="749807"/>
                  </a:lnTo>
                  <a:lnTo>
                    <a:pt x="5748" y="778275"/>
                  </a:lnTo>
                  <a:lnTo>
                    <a:pt x="21426" y="801528"/>
                  </a:lnTo>
                  <a:lnTo>
                    <a:pt x="44678" y="817209"/>
                  </a:lnTo>
                  <a:lnTo>
                    <a:pt x="73151" y="822959"/>
                  </a:lnTo>
                  <a:lnTo>
                    <a:pt x="11018519" y="822959"/>
                  </a:lnTo>
                  <a:lnTo>
                    <a:pt x="11046987" y="817209"/>
                  </a:lnTo>
                  <a:lnTo>
                    <a:pt x="11070240" y="801528"/>
                  </a:lnTo>
                  <a:lnTo>
                    <a:pt x="11085921" y="778275"/>
                  </a:lnTo>
                  <a:lnTo>
                    <a:pt x="11091671" y="749807"/>
                  </a:lnTo>
                  <a:lnTo>
                    <a:pt x="11091671" y="73151"/>
                  </a:lnTo>
                  <a:lnTo>
                    <a:pt x="11085921" y="44684"/>
                  </a:lnTo>
                  <a:lnTo>
                    <a:pt x="11070240" y="21431"/>
                  </a:lnTo>
                  <a:lnTo>
                    <a:pt x="11046987" y="5750"/>
                  </a:lnTo>
                  <a:lnTo>
                    <a:pt x="11018519" y="0"/>
                  </a:lnTo>
                  <a:close/>
                </a:path>
              </a:pathLst>
            </a:custGeom>
            <a:solidFill>
              <a:srgbClr val="FFFFFF"/>
            </a:solidFill>
          </p:spPr>
          <p:txBody>
            <a:bodyPr wrap="square" lIns="0" tIns="0" rIns="0" bIns="0" rtlCol="0"/>
            <a:lstStyle/>
            <a:p>
              <a:endParaRPr/>
            </a:p>
          </p:txBody>
        </p:sp>
        <p:sp>
          <p:nvSpPr>
            <p:cNvPr id="7" name="object 7"/>
            <p:cNvSpPr/>
            <p:nvPr/>
          </p:nvSpPr>
          <p:spPr>
            <a:xfrm>
              <a:off x="548639" y="1417320"/>
              <a:ext cx="11092180" cy="822960"/>
            </a:xfrm>
            <a:custGeom>
              <a:avLst/>
              <a:gdLst/>
              <a:ahLst/>
              <a:cxnLst/>
              <a:rect l="l" t="t" r="r" b="b"/>
              <a:pathLst>
                <a:path w="11092180" h="822960">
                  <a:moveTo>
                    <a:pt x="0" y="73151"/>
                  </a:moveTo>
                  <a:lnTo>
                    <a:pt x="5748" y="44684"/>
                  </a:lnTo>
                  <a:lnTo>
                    <a:pt x="21426" y="21431"/>
                  </a:lnTo>
                  <a:lnTo>
                    <a:pt x="44678" y="5750"/>
                  </a:lnTo>
                  <a:lnTo>
                    <a:pt x="73151" y="0"/>
                  </a:lnTo>
                  <a:lnTo>
                    <a:pt x="11018519" y="0"/>
                  </a:lnTo>
                  <a:lnTo>
                    <a:pt x="11046987" y="5750"/>
                  </a:lnTo>
                  <a:lnTo>
                    <a:pt x="11070240" y="21431"/>
                  </a:lnTo>
                  <a:lnTo>
                    <a:pt x="11085921" y="44684"/>
                  </a:lnTo>
                  <a:lnTo>
                    <a:pt x="11091671" y="73151"/>
                  </a:lnTo>
                  <a:lnTo>
                    <a:pt x="11091671" y="749807"/>
                  </a:lnTo>
                  <a:lnTo>
                    <a:pt x="11085921" y="778275"/>
                  </a:lnTo>
                  <a:lnTo>
                    <a:pt x="11070240" y="801528"/>
                  </a:lnTo>
                  <a:lnTo>
                    <a:pt x="11046987" y="817209"/>
                  </a:lnTo>
                  <a:lnTo>
                    <a:pt x="11018519" y="822959"/>
                  </a:lnTo>
                  <a:lnTo>
                    <a:pt x="73151" y="822959"/>
                  </a:lnTo>
                  <a:lnTo>
                    <a:pt x="44678" y="817209"/>
                  </a:lnTo>
                  <a:lnTo>
                    <a:pt x="21426" y="801528"/>
                  </a:lnTo>
                  <a:lnTo>
                    <a:pt x="5748" y="778275"/>
                  </a:lnTo>
                  <a:lnTo>
                    <a:pt x="0" y="749807"/>
                  </a:lnTo>
                  <a:lnTo>
                    <a:pt x="0" y="73151"/>
                  </a:lnTo>
                  <a:close/>
                </a:path>
              </a:pathLst>
            </a:custGeom>
            <a:ln w="12192">
              <a:solidFill>
                <a:srgbClr val="DDD2C4"/>
              </a:solidFill>
            </a:ln>
          </p:spPr>
          <p:txBody>
            <a:bodyPr wrap="square" lIns="0" tIns="0" rIns="0" bIns="0" rtlCol="0"/>
            <a:lstStyle/>
            <a:p>
              <a:endParaRPr/>
            </a:p>
          </p:txBody>
        </p:sp>
      </p:grpSp>
      <p:sp>
        <p:nvSpPr>
          <p:cNvPr id="8" name="object 8"/>
          <p:cNvSpPr txBox="1"/>
          <p:nvPr/>
        </p:nvSpPr>
        <p:spPr>
          <a:xfrm>
            <a:off x="856284" y="1701164"/>
            <a:ext cx="810895" cy="226985"/>
          </a:xfrm>
          <a:prstGeom prst="rect">
            <a:avLst/>
          </a:prstGeom>
        </p:spPr>
        <p:txBody>
          <a:bodyPr vert="horz" wrap="square" lIns="0" tIns="11430" rIns="0" bIns="0" rtlCol="0">
            <a:spAutoFit/>
          </a:bodyPr>
          <a:lstStyle/>
          <a:p>
            <a:pPr marL="12700">
              <a:lnSpc>
                <a:spcPct val="100000"/>
              </a:lnSpc>
              <a:spcBef>
                <a:spcPts val="90"/>
              </a:spcBef>
            </a:pPr>
            <a:r>
              <a:rPr sz="1400" b="1" dirty="0">
                <a:solidFill>
                  <a:srgbClr val="C00000"/>
                </a:solidFill>
                <a:latin typeface="Calibri"/>
                <a:cs typeface="Calibri"/>
              </a:rPr>
              <a:t>Python</a:t>
            </a:r>
            <a:r>
              <a:rPr sz="1400" b="1" spc="-10" dirty="0">
                <a:solidFill>
                  <a:srgbClr val="C00000"/>
                </a:solidFill>
                <a:latin typeface="Calibri"/>
                <a:cs typeface="Calibri"/>
              </a:rPr>
              <a:t> </a:t>
            </a:r>
            <a:r>
              <a:rPr sz="1400" b="1" spc="-25" dirty="0">
                <a:solidFill>
                  <a:srgbClr val="C00000"/>
                </a:solidFill>
                <a:latin typeface="Calibri"/>
                <a:cs typeface="Calibri"/>
              </a:rPr>
              <a:t>3.x</a:t>
            </a:r>
            <a:endParaRPr sz="1400" dirty="0">
              <a:latin typeface="Calibri"/>
              <a:cs typeface="Calibri"/>
            </a:endParaRPr>
          </a:p>
        </p:txBody>
      </p:sp>
      <p:sp>
        <p:nvSpPr>
          <p:cNvPr id="9" name="object 9"/>
          <p:cNvSpPr txBox="1"/>
          <p:nvPr/>
        </p:nvSpPr>
        <p:spPr>
          <a:xfrm>
            <a:off x="4286250" y="1708785"/>
            <a:ext cx="6153150" cy="381515"/>
          </a:xfrm>
          <a:prstGeom prst="rect">
            <a:avLst/>
          </a:prstGeom>
        </p:spPr>
        <p:txBody>
          <a:bodyPr vert="horz" wrap="square" lIns="0" tIns="12065" rIns="0" bIns="0" rtlCol="0">
            <a:spAutoFit/>
          </a:bodyPr>
          <a:lstStyle/>
          <a:p>
            <a:pPr marL="12700">
              <a:lnSpc>
                <a:spcPct val="100000"/>
              </a:lnSpc>
              <a:spcBef>
                <a:spcPts val="95"/>
              </a:spcBef>
            </a:pPr>
            <a:r>
              <a:rPr lang="en-IN" sz="1200" dirty="0"/>
              <a:t>Programming language used for data preprocessing, model training, graph construction, and prediction.</a:t>
            </a:r>
            <a:endParaRPr sz="1200" dirty="0">
              <a:latin typeface="Calibri"/>
              <a:cs typeface="Calibri"/>
            </a:endParaRPr>
          </a:p>
        </p:txBody>
      </p:sp>
      <p:grpSp>
        <p:nvGrpSpPr>
          <p:cNvPr id="10" name="object 10"/>
          <p:cNvGrpSpPr/>
          <p:nvPr/>
        </p:nvGrpSpPr>
        <p:grpSpPr>
          <a:xfrm>
            <a:off x="463295" y="2325649"/>
            <a:ext cx="11252835" cy="984250"/>
            <a:chOff x="463295" y="2325649"/>
            <a:chExt cx="11252835" cy="984250"/>
          </a:xfrm>
        </p:grpSpPr>
        <p:pic>
          <p:nvPicPr>
            <p:cNvPr id="11" name="object 11"/>
            <p:cNvPicPr/>
            <p:nvPr/>
          </p:nvPicPr>
          <p:blipFill>
            <a:blip r:embed="rId2" cstate="print"/>
            <a:stretch>
              <a:fillRect/>
            </a:stretch>
          </p:blipFill>
          <p:spPr>
            <a:xfrm>
              <a:off x="463295" y="2325649"/>
              <a:ext cx="11252835" cy="984097"/>
            </a:xfrm>
            <a:prstGeom prst="rect">
              <a:avLst/>
            </a:prstGeom>
          </p:spPr>
        </p:pic>
        <p:sp>
          <p:nvSpPr>
            <p:cNvPr id="12" name="object 12"/>
            <p:cNvSpPr/>
            <p:nvPr/>
          </p:nvSpPr>
          <p:spPr>
            <a:xfrm>
              <a:off x="548639" y="2386583"/>
              <a:ext cx="11092180" cy="822960"/>
            </a:xfrm>
            <a:custGeom>
              <a:avLst/>
              <a:gdLst/>
              <a:ahLst/>
              <a:cxnLst/>
              <a:rect l="l" t="t" r="r" b="b"/>
              <a:pathLst>
                <a:path w="11092180" h="822960">
                  <a:moveTo>
                    <a:pt x="11018519" y="0"/>
                  </a:moveTo>
                  <a:lnTo>
                    <a:pt x="73151" y="0"/>
                  </a:lnTo>
                  <a:lnTo>
                    <a:pt x="44678" y="5750"/>
                  </a:lnTo>
                  <a:lnTo>
                    <a:pt x="21426" y="21431"/>
                  </a:lnTo>
                  <a:lnTo>
                    <a:pt x="5748" y="44684"/>
                  </a:lnTo>
                  <a:lnTo>
                    <a:pt x="0" y="73151"/>
                  </a:lnTo>
                  <a:lnTo>
                    <a:pt x="0" y="749807"/>
                  </a:lnTo>
                  <a:lnTo>
                    <a:pt x="5748" y="778275"/>
                  </a:lnTo>
                  <a:lnTo>
                    <a:pt x="21426" y="801528"/>
                  </a:lnTo>
                  <a:lnTo>
                    <a:pt x="44678" y="817209"/>
                  </a:lnTo>
                  <a:lnTo>
                    <a:pt x="73151" y="822960"/>
                  </a:lnTo>
                  <a:lnTo>
                    <a:pt x="11018519" y="822960"/>
                  </a:lnTo>
                  <a:lnTo>
                    <a:pt x="11046987" y="817209"/>
                  </a:lnTo>
                  <a:lnTo>
                    <a:pt x="11070240" y="801528"/>
                  </a:lnTo>
                  <a:lnTo>
                    <a:pt x="11085921" y="778275"/>
                  </a:lnTo>
                  <a:lnTo>
                    <a:pt x="11091671" y="749807"/>
                  </a:lnTo>
                  <a:lnTo>
                    <a:pt x="11091671" y="73151"/>
                  </a:lnTo>
                  <a:lnTo>
                    <a:pt x="11085921" y="44684"/>
                  </a:lnTo>
                  <a:lnTo>
                    <a:pt x="11070240" y="21431"/>
                  </a:lnTo>
                  <a:lnTo>
                    <a:pt x="11046987" y="5750"/>
                  </a:lnTo>
                  <a:lnTo>
                    <a:pt x="11018519" y="0"/>
                  </a:lnTo>
                  <a:close/>
                </a:path>
              </a:pathLst>
            </a:custGeom>
            <a:solidFill>
              <a:srgbClr val="FFFFFF"/>
            </a:solidFill>
          </p:spPr>
          <p:txBody>
            <a:bodyPr wrap="square" lIns="0" tIns="0" rIns="0" bIns="0" rtlCol="0"/>
            <a:lstStyle/>
            <a:p>
              <a:endParaRPr/>
            </a:p>
          </p:txBody>
        </p:sp>
        <p:sp>
          <p:nvSpPr>
            <p:cNvPr id="13" name="object 13"/>
            <p:cNvSpPr/>
            <p:nvPr/>
          </p:nvSpPr>
          <p:spPr>
            <a:xfrm>
              <a:off x="548639" y="2386583"/>
              <a:ext cx="11092180" cy="822960"/>
            </a:xfrm>
            <a:custGeom>
              <a:avLst/>
              <a:gdLst/>
              <a:ahLst/>
              <a:cxnLst/>
              <a:rect l="l" t="t" r="r" b="b"/>
              <a:pathLst>
                <a:path w="11092180" h="822960">
                  <a:moveTo>
                    <a:pt x="0" y="73151"/>
                  </a:moveTo>
                  <a:lnTo>
                    <a:pt x="5748" y="44684"/>
                  </a:lnTo>
                  <a:lnTo>
                    <a:pt x="21426" y="21431"/>
                  </a:lnTo>
                  <a:lnTo>
                    <a:pt x="44678" y="5750"/>
                  </a:lnTo>
                  <a:lnTo>
                    <a:pt x="73151" y="0"/>
                  </a:lnTo>
                  <a:lnTo>
                    <a:pt x="11018519" y="0"/>
                  </a:lnTo>
                  <a:lnTo>
                    <a:pt x="11046987" y="5750"/>
                  </a:lnTo>
                  <a:lnTo>
                    <a:pt x="11070240" y="21431"/>
                  </a:lnTo>
                  <a:lnTo>
                    <a:pt x="11085921" y="44684"/>
                  </a:lnTo>
                  <a:lnTo>
                    <a:pt x="11091671" y="73151"/>
                  </a:lnTo>
                  <a:lnTo>
                    <a:pt x="11091671" y="749807"/>
                  </a:lnTo>
                  <a:lnTo>
                    <a:pt x="11085921" y="778275"/>
                  </a:lnTo>
                  <a:lnTo>
                    <a:pt x="11070240" y="801528"/>
                  </a:lnTo>
                  <a:lnTo>
                    <a:pt x="11046987" y="817209"/>
                  </a:lnTo>
                  <a:lnTo>
                    <a:pt x="11018519" y="822960"/>
                  </a:lnTo>
                  <a:lnTo>
                    <a:pt x="73151" y="822960"/>
                  </a:lnTo>
                  <a:lnTo>
                    <a:pt x="44678" y="817209"/>
                  </a:lnTo>
                  <a:lnTo>
                    <a:pt x="21426" y="801528"/>
                  </a:lnTo>
                  <a:lnTo>
                    <a:pt x="5748" y="778275"/>
                  </a:lnTo>
                  <a:lnTo>
                    <a:pt x="0" y="749807"/>
                  </a:lnTo>
                  <a:lnTo>
                    <a:pt x="0" y="73151"/>
                  </a:lnTo>
                  <a:close/>
                </a:path>
              </a:pathLst>
            </a:custGeom>
            <a:ln w="12192">
              <a:solidFill>
                <a:srgbClr val="DDD2C4"/>
              </a:solidFill>
            </a:ln>
          </p:spPr>
          <p:txBody>
            <a:bodyPr wrap="square" lIns="0" tIns="0" rIns="0" bIns="0" rtlCol="0"/>
            <a:lstStyle/>
            <a:p>
              <a:endParaRPr/>
            </a:p>
          </p:txBody>
        </p:sp>
      </p:grpSp>
      <p:sp>
        <p:nvSpPr>
          <p:cNvPr id="14" name="object 14"/>
          <p:cNvSpPr txBox="1"/>
          <p:nvPr/>
        </p:nvSpPr>
        <p:spPr>
          <a:xfrm>
            <a:off x="856284" y="2670505"/>
            <a:ext cx="1421765" cy="227626"/>
          </a:xfrm>
          <a:prstGeom prst="rect">
            <a:avLst/>
          </a:prstGeom>
        </p:spPr>
        <p:txBody>
          <a:bodyPr vert="horz" wrap="square" lIns="0" tIns="12065" rIns="0" bIns="0" rtlCol="0">
            <a:spAutoFit/>
          </a:bodyPr>
          <a:lstStyle/>
          <a:p>
            <a:pPr marL="12700">
              <a:lnSpc>
                <a:spcPct val="100000"/>
              </a:lnSpc>
              <a:spcBef>
                <a:spcPts val="95"/>
              </a:spcBef>
            </a:pPr>
            <a:r>
              <a:rPr lang="en-IN" sz="1400" b="1" dirty="0">
                <a:solidFill>
                  <a:srgbClr val="C00000"/>
                </a:solidFill>
              </a:rPr>
              <a:t>Pandas / NumPy</a:t>
            </a:r>
            <a:endParaRPr sz="1400" b="1" dirty="0">
              <a:solidFill>
                <a:srgbClr val="C00000"/>
              </a:solidFill>
              <a:latin typeface="Calibri"/>
              <a:cs typeface="Calibri"/>
            </a:endParaRPr>
          </a:p>
        </p:txBody>
      </p:sp>
      <p:sp>
        <p:nvSpPr>
          <p:cNvPr id="15" name="object 15"/>
          <p:cNvSpPr txBox="1"/>
          <p:nvPr/>
        </p:nvSpPr>
        <p:spPr>
          <a:xfrm>
            <a:off x="4286250" y="2678125"/>
            <a:ext cx="5695950" cy="350737"/>
          </a:xfrm>
          <a:prstGeom prst="rect">
            <a:avLst/>
          </a:prstGeom>
        </p:spPr>
        <p:txBody>
          <a:bodyPr vert="horz" wrap="square" lIns="0" tIns="12065" rIns="0" bIns="0" rtlCol="0">
            <a:spAutoFit/>
          </a:bodyPr>
          <a:lstStyle/>
          <a:p>
            <a:pPr marL="12700">
              <a:lnSpc>
                <a:spcPct val="100000"/>
              </a:lnSpc>
              <a:spcBef>
                <a:spcPts val="95"/>
              </a:spcBef>
            </a:pPr>
            <a:r>
              <a:rPr lang="en-IN" sz="1100" dirty="0"/>
              <a:t>Used for data handling, cleaning, numerical operations, and transaction dataset preparation.</a:t>
            </a:r>
            <a:endParaRPr sz="1100" dirty="0">
              <a:latin typeface="Calibri"/>
              <a:cs typeface="Calibri"/>
            </a:endParaRPr>
          </a:p>
        </p:txBody>
      </p:sp>
      <p:grpSp>
        <p:nvGrpSpPr>
          <p:cNvPr id="16" name="object 16"/>
          <p:cNvGrpSpPr/>
          <p:nvPr/>
        </p:nvGrpSpPr>
        <p:grpSpPr>
          <a:xfrm>
            <a:off x="463295" y="3294913"/>
            <a:ext cx="11252835" cy="984250"/>
            <a:chOff x="463295" y="3294913"/>
            <a:chExt cx="11252835" cy="984250"/>
          </a:xfrm>
        </p:grpSpPr>
        <p:pic>
          <p:nvPicPr>
            <p:cNvPr id="17" name="object 17"/>
            <p:cNvPicPr/>
            <p:nvPr/>
          </p:nvPicPr>
          <p:blipFill>
            <a:blip r:embed="rId2" cstate="print"/>
            <a:stretch>
              <a:fillRect/>
            </a:stretch>
          </p:blipFill>
          <p:spPr>
            <a:xfrm>
              <a:off x="463295" y="3294913"/>
              <a:ext cx="11252835" cy="984097"/>
            </a:xfrm>
            <a:prstGeom prst="rect">
              <a:avLst/>
            </a:prstGeom>
          </p:spPr>
        </p:pic>
        <p:sp>
          <p:nvSpPr>
            <p:cNvPr id="18" name="object 18"/>
            <p:cNvSpPr/>
            <p:nvPr/>
          </p:nvSpPr>
          <p:spPr>
            <a:xfrm>
              <a:off x="548639" y="3355847"/>
              <a:ext cx="11092180" cy="822960"/>
            </a:xfrm>
            <a:custGeom>
              <a:avLst/>
              <a:gdLst/>
              <a:ahLst/>
              <a:cxnLst/>
              <a:rect l="l" t="t" r="r" b="b"/>
              <a:pathLst>
                <a:path w="11092180" h="822960">
                  <a:moveTo>
                    <a:pt x="11018519" y="0"/>
                  </a:moveTo>
                  <a:lnTo>
                    <a:pt x="73151" y="0"/>
                  </a:lnTo>
                  <a:lnTo>
                    <a:pt x="44678" y="5750"/>
                  </a:lnTo>
                  <a:lnTo>
                    <a:pt x="21426" y="21431"/>
                  </a:lnTo>
                  <a:lnTo>
                    <a:pt x="5748" y="44684"/>
                  </a:lnTo>
                  <a:lnTo>
                    <a:pt x="0" y="73151"/>
                  </a:lnTo>
                  <a:lnTo>
                    <a:pt x="0" y="749807"/>
                  </a:lnTo>
                  <a:lnTo>
                    <a:pt x="5748" y="778275"/>
                  </a:lnTo>
                  <a:lnTo>
                    <a:pt x="21426" y="801528"/>
                  </a:lnTo>
                  <a:lnTo>
                    <a:pt x="44678" y="817209"/>
                  </a:lnTo>
                  <a:lnTo>
                    <a:pt x="73151" y="822959"/>
                  </a:lnTo>
                  <a:lnTo>
                    <a:pt x="11018519" y="822959"/>
                  </a:lnTo>
                  <a:lnTo>
                    <a:pt x="11046987" y="817209"/>
                  </a:lnTo>
                  <a:lnTo>
                    <a:pt x="11070240" y="801528"/>
                  </a:lnTo>
                  <a:lnTo>
                    <a:pt x="11085921" y="778275"/>
                  </a:lnTo>
                  <a:lnTo>
                    <a:pt x="11091671" y="749807"/>
                  </a:lnTo>
                  <a:lnTo>
                    <a:pt x="11091671" y="73151"/>
                  </a:lnTo>
                  <a:lnTo>
                    <a:pt x="11085921" y="44684"/>
                  </a:lnTo>
                  <a:lnTo>
                    <a:pt x="11070240" y="21431"/>
                  </a:lnTo>
                  <a:lnTo>
                    <a:pt x="11046987" y="5750"/>
                  </a:lnTo>
                  <a:lnTo>
                    <a:pt x="11018519" y="0"/>
                  </a:lnTo>
                  <a:close/>
                </a:path>
              </a:pathLst>
            </a:custGeom>
            <a:solidFill>
              <a:srgbClr val="FFFFFF"/>
            </a:solidFill>
          </p:spPr>
          <p:txBody>
            <a:bodyPr wrap="square" lIns="0" tIns="0" rIns="0" bIns="0" rtlCol="0"/>
            <a:lstStyle/>
            <a:p>
              <a:endParaRPr/>
            </a:p>
          </p:txBody>
        </p:sp>
        <p:sp>
          <p:nvSpPr>
            <p:cNvPr id="19" name="object 19"/>
            <p:cNvSpPr/>
            <p:nvPr/>
          </p:nvSpPr>
          <p:spPr>
            <a:xfrm>
              <a:off x="548639" y="3355847"/>
              <a:ext cx="11092180" cy="822960"/>
            </a:xfrm>
            <a:custGeom>
              <a:avLst/>
              <a:gdLst/>
              <a:ahLst/>
              <a:cxnLst/>
              <a:rect l="l" t="t" r="r" b="b"/>
              <a:pathLst>
                <a:path w="11092180" h="822960">
                  <a:moveTo>
                    <a:pt x="0" y="73151"/>
                  </a:moveTo>
                  <a:lnTo>
                    <a:pt x="5748" y="44684"/>
                  </a:lnTo>
                  <a:lnTo>
                    <a:pt x="21426" y="21431"/>
                  </a:lnTo>
                  <a:lnTo>
                    <a:pt x="44678" y="5750"/>
                  </a:lnTo>
                  <a:lnTo>
                    <a:pt x="73151" y="0"/>
                  </a:lnTo>
                  <a:lnTo>
                    <a:pt x="11018519" y="0"/>
                  </a:lnTo>
                  <a:lnTo>
                    <a:pt x="11046987" y="5750"/>
                  </a:lnTo>
                  <a:lnTo>
                    <a:pt x="11070240" y="21431"/>
                  </a:lnTo>
                  <a:lnTo>
                    <a:pt x="11085921" y="44684"/>
                  </a:lnTo>
                  <a:lnTo>
                    <a:pt x="11091671" y="73151"/>
                  </a:lnTo>
                  <a:lnTo>
                    <a:pt x="11091671" y="749807"/>
                  </a:lnTo>
                  <a:lnTo>
                    <a:pt x="11085921" y="778275"/>
                  </a:lnTo>
                  <a:lnTo>
                    <a:pt x="11070240" y="801528"/>
                  </a:lnTo>
                  <a:lnTo>
                    <a:pt x="11046987" y="817209"/>
                  </a:lnTo>
                  <a:lnTo>
                    <a:pt x="11018519" y="822959"/>
                  </a:lnTo>
                  <a:lnTo>
                    <a:pt x="73151" y="822959"/>
                  </a:lnTo>
                  <a:lnTo>
                    <a:pt x="44678" y="817209"/>
                  </a:lnTo>
                  <a:lnTo>
                    <a:pt x="21426" y="801528"/>
                  </a:lnTo>
                  <a:lnTo>
                    <a:pt x="5748" y="778275"/>
                  </a:lnTo>
                  <a:lnTo>
                    <a:pt x="0" y="749807"/>
                  </a:lnTo>
                  <a:lnTo>
                    <a:pt x="0" y="73151"/>
                  </a:lnTo>
                  <a:close/>
                </a:path>
              </a:pathLst>
            </a:custGeom>
            <a:ln w="12192">
              <a:solidFill>
                <a:srgbClr val="DDD2C4"/>
              </a:solidFill>
            </a:ln>
          </p:spPr>
          <p:txBody>
            <a:bodyPr wrap="square" lIns="0" tIns="0" rIns="0" bIns="0" rtlCol="0"/>
            <a:lstStyle/>
            <a:p>
              <a:endParaRPr/>
            </a:p>
          </p:txBody>
        </p:sp>
      </p:grpSp>
      <p:sp>
        <p:nvSpPr>
          <p:cNvPr id="20" name="object 20"/>
          <p:cNvSpPr txBox="1"/>
          <p:nvPr/>
        </p:nvSpPr>
        <p:spPr>
          <a:xfrm>
            <a:off x="703884" y="3611981"/>
            <a:ext cx="2496516" cy="226985"/>
          </a:xfrm>
          <a:prstGeom prst="rect">
            <a:avLst/>
          </a:prstGeom>
        </p:spPr>
        <p:txBody>
          <a:bodyPr vert="horz" wrap="square" lIns="0" tIns="11430" rIns="0" bIns="0" rtlCol="0">
            <a:spAutoFit/>
          </a:bodyPr>
          <a:lstStyle/>
          <a:p>
            <a:pPr marL="12700">
              <a:lnSpc>
                <a:spcPct val="100000"/>
              </a:lnSpc>
              <a:spcBef>
                <a:spcPts val="90"/>
              </a:spcBef>
            </a:pPr>
            <a:r>
              <a:rPr lang="en-IN" sz="1400" dirty="0" err="1"/>
              <a:t>PyTorch</a:t>
            </a:r>
            <a:r>
              <a:rPr lang="en-IN" sz="1400" dirty="0"/>
              <a:t> / </a:t>
            </a:r>
            <a:r>
              <a:rPr lang="en-IN" sz="1400" dirty="0" err="1"/>
              <a:t>PyTorch</a:t>
            </a:r>
            <a:r>
              <a:rPr lang="en-IN" sz="1400" dirty="0"/>
              <a:t> Geometric</a:t>
            </a:r>
            <a:endParaRPr sz="1400" dirty="0">
              <a:latin typeface="Calibri"/>
              <a:cs typeface="Calibri"/>
            </a:endParaRPr>
          </a:p>
        </p:txBody>
      </p:sp>
      <p:sp>
        <p:nvSpPr>
          <p:cNvPr id="21" name="object 21"/>
          <p:cNvSpPr txBox="1"/>
          <p:nvPr/>
        </p:nvSpPr>
        <p:spPr>
          <a:xfrm>
            <a:off x="4286250" y="3648202"/>
            <a:ext cx="6915150" cy="350737"/>
          </a:xfrm>
          <a:prstGeom prst="rect">
            <a:avLst/>
          </a:prstGeom>
        </p:spPr>
        <p:txBody>
          <a:bodyPr vert="horz" wrap="square" lIns="0" tIns="12065" rIns="0" bIns="0" rtlCol="0">
            <a:spAutoFit/>
          </a:bodyPr>
          <a:lstStyle/>
          <a:p>
            <a:pPr marL="12700">
              <a:lnSpc>
                <a:spcPct val="100000"/>
              </a:lnSpc>
              <a:spcBef>
                <a:spcPts val="95"/>
              </a:spcBef>
            </a:pPr>
            <a:r>
              <a:rPr lang="en-IN" sz="1100" dirty="0"/>
              <a:t>Used to build and train </a:t>
            </a:r>
            <a:r>
              <a:rPr lang="en-IN" sz="1100" b="1" dirty="0"/>
              <a:t>Graph Neural Network (GNN)</a:t>
            </a:r>
            <a:r>
              <a:rPr lang="en-IN" sz="1100" dirty="0"/>
              <a:t> models for </a:t>
            </a:r>
            <a:r>
              <a:rPr lang="en-IN" sz="1100" dirty="0" err="1"/>
              <a:t>analyzing</a:t>
            </a:r>
            <a:r>
              <a:rPr lang="en-IN" sz="1100" dirty="0"/>
              <a:t> relationships between financial accounts and transactions.</a:t>
            </a:r>
            <a:endParaRPr sz="1100" dirty="0">
              <a:latin typeface="Calibri"/>
              <a:cs typeface="Calibri"/>
            </a:endParaRPr>
          </a:p>
        </p:txBody>
      </p:sp>
      <p:grpSp>
        <p:nvGrpSpPr>
          <p:cNvPr id="22" name="object 22"/>
          <p:cNvGrpSpPr/>
          <p:nvPr/>
        </p:nvGrpSpPr>
        <p:grpSpPr>
          <a:xfrm>
            <a:off x="463295" y="4264177"/>
            <a:ext cx="11252835" cy="984250"/>
            <a:chOff x="463295" y="4264177"/>
            <a:chExt cx="11252835" cy="984250"/>
          </a:xfrm>
        </p:grpSpPr>
        <p:pic>
          <p:nvPicPr>
            <p:cNvPr id="23" name="object 23"/>
            <p:cNvPicPr/>
            <p:nvPr/>
          </p:nvPicPr>
          <p:blipFill>
            <a:blip r:embed="rId2" cstate="print"/>
            <a:stretch>
              <a:fillRect/>
            </a:stretch>
          </p:blipFill>
          <p:spPr>
            <a:xfrm>
              <a:off x="463295" y="4264177"/>
              <a:ext cx="11252835" cy="984097"/>
            </a:xfrm>
            <a:prstGeom prst="rect">
              <a:avLst/>
            </a:prstGeom>
          </p:spPr>
        </p:pic>
        <p:sp>
          <p:nvSpPr>
            <p:cNvPr id="24" name="object 24"/>
            <p:cNvSpPr/>
            <p:nvPr/>
          </p:nvSpPr>
          <p:spPr>
            <a:xfrm>
              <a:off x="548639" y="4325111"/>
              <a:ext cx="11092180" cy="822960"/>
            </a:xfrm>
            <a:custGeom>
              <a:avLst/>
              <a:gdLst/>
              <a:ahLst/>
              <a:cxnLst/>
              <a:rect l="l" t="t" r="r" b="b"/>
              <a:pathLst>
                <a:path w="11092180" h="822960">
                  <a:moveTo>
                    <a:pt x="11018519" y="0"/>
                  </a:moveTo>
                  <a:lnTo>
                    <a:pt x="73151" y="0"/>
                  </a:lnTo>
                  <a:lnTo>
                    <a:pt x="44678" y="5750"/>
                  </a:lnTo>
                  <a:lnTo>
                    <a:pt x="21426" y="21431"/>
                  </a:lnTo>
                  <a:lnTo>
                    <a:pt x="5748" y="44684"/>
                  </a:lnTo>
                  <a:lnTo>
                    <a:pt x="0" y="73151"/>
                  </a:lnTo>
                  <a:lnTo>
                    <a:pt x="0" y="749807"/>
                  </a:lnTo>
                  <a:lnTo>
                    <a:pt x="5748" y="778275"/>
                  </a:lnTo>
                  <a:lnTo>
                    <a:pt x="21426" y="801528"/>
                  </a:lnTo>
                  <a:lnTo>
                    <a:pt x="44678" y="817209"/>
                  </a:lnTo>
                  <a:lnTo>
                    <a:pt x="73151" y="822960"/>
                  </a:lnTo>
                  <a:lnTo>
                    <a:pt x="11018519" y="822960"/>
                  </a:lnTo>
                  <a:lnTo>
                    <a:pt x="11046987" y="817209"/>
                  </a:lnTo>
                  <a:lnTo>
                    <a:pt x="11070240" y="801528"/>
                  </a:lnTo>
                  <a:lnTo>
                    <a:pt x="11085921" y="778275"/>
                  </a:lnTo>
                  <a:lnTo>
                    <a:pt x="11091671" y="749807"/>
                  </a:lnTo>
                  <a:lnTo>
                    <a:pt x="11091671" y="73151"/>
                  </a:lnTo>
                  <a:lnTo>
                    <a:pt x="11085921" y="44684"/>
                  </a:lnTo>
                  <a:lnTo>
                    <a:pt x="11070240" y="21431"/>
                  </a:lnTo>
                  <a:lnTo>
                    <a:pt x="11046987" y="5750"/>
                  </a:lnTo>
                  <a:lnTo>
                    <a:pt x="11018519" y="0"/>
                  </a:lnTo>
                  <a:close/>
                </a:path>
              </a:pathLst>
            </a:custGeom>
            <a:solidFill>
              <a:srgbClr val="FFFFFF"/>
            </a:solidFill>
          </p:spPr>
          <p:txBody>
            <a:bodyPr wrap="square" lIns="0" tIns="0" rIns="0" bIns="0" rtlCol="0"/>
            <a:lstStyle/>
            <a:p>
              <a:endParaRPr/>
            </a:p>
          </p:txBody>
        </p:sp>
        <p:sp>
          <p:nvSpPr>
            <p:cNvPr id="25" name="object 25"/>
            <p:cNvSpPr/>
            <p:nvPr/>
          </p:nvSpPr>
          <p:spPr>
            <a:xfrm>
              <a:off x="548639" y="4325111"/>
              <a:ext cx="11092180" cy="822960"/>
            </a:xfrm>
            <a:custGeom>
              <a:avLst/>
              <a:gdLst/>
              <a:ahLst/>
              <a:cxnLst/>
              <a:rect l="l" t="t" r="r" b="b"/>
              <a:pathLst>
                <a:path w="11092180" h="822960">
                  <a:moveTo>
                    <a:pt x="0" y="73151"/>
                  </a:moveTo>
                  <a:lnTo>
                    <a:pt x="5748" y="44684"/>
                  </a:lnTo>
                  <a:lnTo>
                    <a:pt x="21426" y="21431"/>
                  </a:lnTo>
                  <a:lnTo>
                    <a:pt x="44678" y="5750"/>
                  </a:lnTo>
                  <a:lnTo>
                    <a:pt x="73151" y="0"/>
                  </a:lnTo>
                  <a:lnTo>
                    <a:pt x="11018519" y="0"/>
                  </a:lnTo>
                  <a:lnTo>
                    <a:pt x="11046987" y="5750"/>
                  </a:lnTo>
                  <a:lnTo>
                    <a:pt x="11070240" y="21431"/>
                  </a:lnTo>
                  <a:lnTo>
                    <a:pt x="11085921" y="44684"/>
                  </a:lnTo>
                  <a:lnTo>
                    <a:pt x="11091671" y="73151"/>
                  </a:lnTo>
                  <a:lnTo>
                    <a:pt x="11091671" y="749807"/>
                  </a:lnTo>
                  <a:lnTo>
                    <a:pt x="11085921" y="778275"/>
                  </a:lnTo>
                  <a:lnTo>
                    <a:pt x="11070240" y="801528"/>
                  </a:lnTo>
                  <a:lnTo>
                    <a:pt x="11046987" y="817209"/>
                  </a:lnTo>
                  <a:lnTo>
                    <a:pt x="11018519" y="822960"/>
                  </a:lnTo>
                  <a:lnTo>
                    <a:pt x="73151" y="822960"/>
                  </a:lnTo>
                  <a:lnTo>
                    <a:pt x="44678" y="817209"/>
                  </a:lnTo>
                  <a:lnTo>
                    <a:pt x="21426" y="801528"/>
                  </a:lnTo>
                  <a:lnTo>
                    <a:pt x="5748" y="778275"/>
                  </a:lnTo>
                  <a:lnTo>
                    <a:pt x="0" y="749807"/>
                  </a:lnTo>
                  <a:lnTo>
                    <a:pt x="0" y="73151"/>
                  </a:lnTo>
                  <a:close/>
                </a:path>
              </a:pathLst>
            </a:custGeom>
            <a:ln w="12192">
              <a:solidFill>
                <a:srgbClr val="DDD2C4"/>
              </a:solidFill>
            </a:ln>
          </p:spPr>
          <p:txBody>
            <a:bodyPr wrap="square" lIns="0" tIns="0" rIns="0" bIns="0" rtlCol="0"/>
            <a:lstStyle/>
            <a:p>
              <a:endParaRPr/>
            </a:p>
          </p:txBody>
        </p:sp>
      </p:grpSp>
      <p:sp>
        <p:nvSpPr>
          <p:cNvPr id="26" name="object 26"/>
          <p:cNvSpPr txBox="1"/>
          <p:nvPr/>
        </p:nvSpPr>
        <p:spPr>
          <a:xfrm>
            <a:off x="856284" y="4609922"/>
            <a:ext cx="1810716" cy="227626"/>
          </a:xfrm>
          <a:prstGeom prst="rect">
            <a:avLst/>
          </a:prstGeom>
        </p:spPr>
        <p:txBody>
          <a:bodyPr vert="horz" wrap="square" lIns="0" tIns="12065" rIns="0" bIns="0" rtlCol="0">
            <a:spAutoFit/>
          </a:bodyPr>
          <a:lstStyle/>
          <a:p>
            <a:pPr marL="12700">
              <a:lnSpc>
                <a:spcPct val="100000"/>
              </a:lnSpc>
              <a:spcBef>
                <a:spcPts val="95"/>
              </a:spcBef>
            </a:pPr>
            <a:r>
              <a:rPr sz="1400" b="1" dirty="0">
                <a:solidFill>
                  <a:srgbClr val="C00000"/>
                </a:solidFill>
                <a:latin typeface="Calibri"/>
                <a:cs typeface="Calibri"/>
              </a:rPr>
              <a:t>Jupyter</a:t>
            </a:r>
            <a:r>
              <a:rPr sz="1400" b="1" spc="-20" dirty="0">
                <a:solidFill>
                  <a:srgbClr val="C00000"/>
                </a:solidFill>
                <a:latin typeface="Calibri"/>
                <a:cs typeface="Calibri"/>
              </a:rPr>
              <a:t> </a:t>
            </a:r>
            <a:r>
              <a:rPr sz="1400" b="1" dirty="0">
                <a:solidFill>
                  <a:srgbClr val="C00000"/>
                </a:solidFill>
                <a:latin typeface="Calibri"/>
                <a:cs typeface="Calibri"/>
              </a:rPr>
              <a:t>/</a:t>
            </a:r>
            <a:r>
              <a:rPr sz="1400" b="1" spc="-65" dirty="0">
                <a:solidFill>
                  <a:srgbClr val="C00000"/>
                </a:solidFill>
                <a:latin typeface="Calibri"/>
                <a:cs typeface="Calibri"/>
              </a:rPr>
              <a:t> </a:t>
            </a:r>
            <a:r>
              <a:rPr lang="en-IN" sz="1400" b="1" spc="-65" dirty="0">
                <a:solidFill>
                  <a:srgbClr val="C00000"/>
                </a:solidFill>
                <a:latin typeface="Calibri"/>
                <a:cs typeface="Calibri"/>
              </a:rPr>
              <a:t>Google </a:t>
            </a:r>
            <a:r>
              <a:rPr lang="en-IN" sz="1400" b="1" spc="-65" dirty="0" err="1">
                <a:solidFill>
                  <a:srgbClr val="C00000"/>
                </a:solidFill>
                <a:latin typeface="Calibri"/>
                <a:cs typeface="Calibri"/>
              </a:rPr>
              <a:t>Colab</a:t>
            </a:r>
            <a:endParaRPr sz="1400" dirty="0">
              <a:latin typeface="Calibri"/>
              <a:cs typeface="Calibri"/>
            </a:endParaRPr>
          </a:p>
        </p:txBody>
      </p:sp>
      <p:sp>
        <p:nvSpPr>
          <p:cNvPr id="27" name="object 27"/>
          <p:cNvSpPr txBox="1"/>
          <p:nvPr/>
        </p:nvSpPr>
        <p:spPr>
          <a:xfrm>
            <a:off x="4286250" y="4617847"/>
            <a:ext cx="6915150" cy="443070"/>
          </a:xfrm>
          <a:prstGeom prst="rect">
            <a:avLst/>
          </a:prstGeom>
        </p:spPr>
        <p:txBody>
          <a:bodyPr vert="horz" wrap="square" lIns="0" tIns="12065" rIns="0" bIns="0" rtlCol="0">
            <a:spAutoFit/>
          </a:bodyPr>
          <a:lstStyle/>
          <a:p>
            <a:pPr marL="12700">
              <a:lnSpc>
                <a:spcPct val="100000"/>
              </a:lnSpc>
              <a:spcBef>
                <a:spcPts val="95"/>
              </a:spcBef>
            </a:pPr>
            <a:r>
              <a:rPr lang="en-IN" sz="1400" dirty="0"/>
              <a:t>Interactive environment for dataset analysis, model development, training, testing, and visualization.</a:t>
            </a:r>
            <a:endParaRPr sz="1300" dirty="0">
              <a:latin typeface="Calibri"/>
              <a:cs typeface="Calibri"/>
            </a:endParaRPr>
          </a:p>
        </p:txBody>
      </p:sp>
      <p:grpSp>
        <p:nvGrpSpPr>
          <p:cNvPr id="28" name="object 28"/>
          <p:cNvGrpSpPr/>
          <p:nvPr/>
        </p:nvGrpSpPr>
        <p:grpSpPr>
          <a:xfrm>
            <a:off x="463295" y="5233415"/>
            <a:ext cx="11252835" cy="984250"/>
            <a:chOff x="463295" y="5233415"/>
            <a:chExt cx="11252835" cy="984250"/>
          </a:xfrm>
        </p:grpSpPr>
        <p:pic>
          <p:nvPicPr>
            <p:cNvPr id="29" name="object 29"/>
            <p:cNvPicPr/>
            <p:nvPr/>
          </p:nvPicPr>
          <p:blipFill>
            <a:blip r:embed="rId2" cstate="print"/>
            <a:stretch>
              <a:fillRect/>
            </a:stretch>
          </p:blipFill>
          <p:spPr>
            <a:xfrm>
              <a:off x="463295" y="5233415"/>
              <a:ext cx="11252835" cy="984097"/>
            </a:xfrm>
            <a:prstGeom prst="rect">
              <a:avLst/>
            </a:prstGeom>
          </p:spPr>
        </p:pic>
        <p:sp>
          <p:nvSpPr>
            <p:cNvPr id="30" name="object 30"/>
            <p:cNvSpPr/>
            <p:nvPr/>
          </p:nvSpPr>
          <p:spPr>
            <a:xfrm>
              <a:off x="548639" y="5294375"/>
              <a:ext cx="11092180" cy="822960"/>
            </a:xfrm>
            <a:custGeom>
              <a:avLst/>
              <a:gdLst/>
              <a:ahLst/>
              <a:cxnLst/>
              <a:rect l="l" t="t" r="r" b="b"/>
              <a:pathLst>
                <a:path w="11092180" h="822960">
                  <a:moveTo>
                    <a:pt x="11018519" y="0"/>
                  </a:moveTo>
                  <a:lnTo>
                    <a:pt x="73151" y="0"/>
                  </a:lnTo>
                  <a:lnTo>
                    <a:pt x="44678" y="5750"/>
                  </a:lnTo>
                  <a:lnTo>
                    <a:pt x="21426" y="21431"/>
                  </a:lnTo>
                  <a:lnTo>
                    <a:pt x="5748" y="44684"/>
                  </a:lnTo>
                  <a:lnTo>
                    <a:pt x="0" y="73152"/>
                  </a:lnTo>
                  <a:lnTo>
                    <a:pt x="0" y="749808"/>
                  </a:lnTo>
                  <a:lnTo>
                    <a:pt x="5748" y="778281"/>
                  </a:lnTo>
                  <a:lnTo>
                    <a:pt x="21426" y="801533"/>
                  </a:lnTo>
                  <a:lnTo>
                    <a:pt x="44678" y="817211"/>
                  </a:lnTo>
                  <a:lnTo>
                    <a:pt x="73151" y="822960"/>
                  </a:lnTo>
                  <a:lnTo>
                    <a:pt x="11018519" y="822960"/>
                  </a:lnTo>
                  <a:lnTo>
                    <a:pt x="11046987" y="817211"/>
                  </a:lnTo>
                  <a:lnTo>
                    <a:pt x="11070240" y="801533"/>
                  </a:lnTo>
                  <a:lnTo>
                    <a:pt x="11085921" y="778281"/>
                  </a:lnTo>
                  <a:lnTo>
                    <a:pt x="11091671" y="749808"/>
                  </a:lnTo>
                  <a:lnTo>
                    <a:pt x="11091671" y="73152"/>
                  </a:lnTo>
                  <a:lnTo>
                    <a:pt x="11085921" y="44684"/>
                  </a:lnTo>
                  <a:lnTo>
                    <a:pt x="11070240" y="21431"/>
                  </a:lnTo>
                  <a:lnTo>
                    <a:pt x="11046987" y="5750"/>
                  </a:lnTo>
                  <a:lnTo>
                    <a:pt x="11018519" y="0"/>
                  </a:lnTo>
                  <a:close/>
                </a:path>
              </a:pathLst>
            </a:custGeom>
            <a:solidFill>
              <a:srgbClr val="FFFFFF"/>
            </a:solidFill>
          </p:spPr>
          <p:txBody>
            <a:bodyPr wrap="square" lIns="0" tIns="0" rIns="0" bIns="0" rtlCol="0"/>
            <a:lstStyle/>
            <a:p>
              <a:endParaRPr/>
            </a:p>
          </p:txBody>
        </p:sp>
        <p:sp>
          <p:nvSpPr>
            <p:cNvPr id="31" name="object 31"/>
            <p:cNvSpPr/>
            <p:nvPr/>
          </p:nvSpPr>
          <p:spPr>
            <a:xfrm>
              <a:off x="548639" y="5294375"/>
              <a:ext cx="11092180" cy="822960"/>
            </a:xfrm>
            <a:custGeom>
              <a:avLst/>
              <a:gdLst/>
              <a:ahLst/>
              <a:cxnLst/>
              <a:rect l="l" t="t" r="r" b="b"/>
              <a:pathLst>
                <a:path w="11092180" h="822960">
                  <a:moveTo>
                    <a:pt x="0" y="73152"/>
                  </a:moveTo>
                  <a:lnTo>
                    <a:pt x="5748" y="44684"/>
                  </a:lnTo>
                  <a:lnTo>
                    <a:pt x="21426" y="21431"/>
                  </a:lnTo>
                  <a:lnTo>
                    <a:pt x="44678" y="5750"/>
                  </a:lnTo>
                  <a:lnTo>
                    <a:pt x="73151" y="0"/>
                  </a:lnTo>
                  <a:lnTo>
                    <a:pt x="11018519" y="0"/>
                  </a:lnTo>
                  <a:lnTo>
                    <a:pt x="11046987" y="5750"/>
                  </a:lnTo>
                  <a:lnTo>
                    <a:pt x="11070240" y="21431"/>
                  </a:lnTo>
                  <a:lnTo>
                    <a:pt x="11085921" y="44684"/>
                  </a:lnTo>
                  <a:lnTo>
                    <a:pt x="11091671" y="73152"/>
                  </a:lnTo>
                  <a:lnTo>
                    <a:pt x="11091671" y="749808"/>
                  </a:lnTo>
                  <a:lnTo>
                    <a:pt x="11085921" y="778281"/>
                  </a:lnTo>
                  <a:lnTo>
                    <a:pt x="11070240" y="801533"/>
                  </a:lnTo>
                  <a:lnTo>
                    <a:pt x="11046987" y="817211"/>
                  </a:lnTo>
                  <a:lnTo>
                    <a:pt x="11018519" y="822960"/>
                  </a:lnTo>
                  <a:lnTo>
                    <a:pt x="73151" y="822960"/>
                  </a:lnTo>
                  <a:lnTo>
                    <a:pt x="44678" y="817211"/>
                  </a:lnTo>
                  <a:lnTo>
                    <a:pt x="21426" y="801533"/>
                  </a:lnTo>
                  <a:lnTo>
                    <a:pt x="5748" y="778281"/>
                  </a:lnTo>
                  <a:lnTo>
                    <a:pt x="0" y="749808"/>
                  </a:lnTo>
                  <a:lnTo>
                    <a:pt x="0" y="73152"/>
                  </a:lnTo>
                  <a:close/>
                </a:path>
              </a:pathLst>
            </a:custGeom>
            <a:ln w="12192">
              <a:solidFill>
                <a:srgbClr val="DDD2C4"/>
              </a:solidFill>
            </a:ln>
          </p:spPr>
          <p:txBody>
            <a:bodyPr wrap="square" lIns="0" tIns="0" rIns="0" bIns="0" rtlCol="0"/>
            <a:lstStyle/>
            <a:p>
              <a:endParaRPr/>
            </a:p>
          </p:txBody>
        </p:sp>
      </p:grpSp>
      <p:sp>
        <p:nvSpPr>
          <p:cNvPr id="32" name="object 32"/>
          <p:cNvSpPr txBox="1"/>
          <p:nvPr/>
        </p:nvSpPr>
        <p:spPr>
          <a:xfrm>
            <a:off x="856284" y="5580075"/>
            <a:ext cx="2191716" cy="226985"/>
          </a:xfrm>
          <a:prstGeom prst="rect">
            <a:avLst/>
          </a:prstGeom>
        </p:spPr>
        <p:txBody>
          <a:bodyPr vert="horz" wrap="square" lIns="0" tIns="11430" rIns="0" bIns="0" rtlCol="0">
            <a:spAutoFit/>
          </a:bodyPr>
          <a:lstStyle/>
          <a:p>
            <a:pPr marL="12700">
              <a:lnSpc>
                <a:spcPct val="100000"/>
              </a:lnSpc>
              <a:spcBef>
                <a:spcPts val="90"/>
              </a:spcBef>
            </a:pPr>
            <a:r>
              <a:rPr lang="en-IN" sz="1400" b="1" dirty="0">
                <a:solidFill>
                  <a:srgbClr val="C00000"/>
                </a:solidFill>
              </a:rPr>
              <a:t>Bottom/extra requirement</a:t>
            </a:r>
            <a:endParaRPr sz="1400" b="1" dirty="0">
              <a:solidFill>
                <a:srgbClr val="C00000"/>
              </a:solidFill>
              <a:latin typeface="Calibri"/>
              <a:cs typeface="Calibri"/>
            </a:endParaRPr>
          </a:p>
        </p:txBody>
      </p:sp>
      <p:sp>
        <p:nvSpPr>
          <p:cNvPr id="34" name="object 34"/>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35" name="object 35"/>
          <p:cNvSpPr txBox="1">
            <a:spLocks noGrp="1"/>
          </p:cNvSpPr>
          <p:nvPr>
            <p:ph type="sldNum" sz="quarter" idx="7"/>
          </p:nvPr>
        </p:nvSpPr>
        <p:spPr>
          <a:prstGeom prst="rect">
            <a:avLst/>
          </a:prstGeom>
        </p:spPr>
        <p:txBody>
          <a:bodyPr vert="horz" wrap="square" lIns="0" tIns="0" rIns="0" bIns="0" rtlCol="0">
            <a:spAutoFit/>
          </a:bodyPr>
          <a:lstStyle/>
          <a:p>
            <a:pPr marL="12700">
              <a:lnSpc>
                <a:spcPts val="965"/>
              </a:lnSpc>
            </a:pPr>
            <a:r>
              <a:rPr sz="700"/>
              <a:t>4</a:t>
            </a:r>
            <a:endParaRPr spc="-25" dirty="0"/>
          </a:p>
        </p:txBody>
      </p:sp>
      <p:sp>
        <p:nvSpPr>
          <p:cNvPr id="33" name="object 33"/>
          <p:cNvSpPr txBox="1"/>
          <p:nvPr/>
        </p:nvSpPr>
        <p:spPr>
          <a:xfrm>
            <a:off x="4286250" y="5587694"/>
            <a:ext cx="6153150" cy="350737"/>
          </a:xfrm>
          <a:prstGeom prst="rect">
            <a:avLst/>
          </a:prstGeom>
        </p:spPr>
        <p:txBody>
          <a:bodyPr vert="horz" wrap="square" lIns="0" tIns="12065" rIns="0" bIns="0" rtlCol="0">
            <a:spAutoFit/>
          </a:bodyPr>
          <a:lstStyle/>
          <a:p>
            <a:pPr marL="12700">
              <a:lnSpc>
                <a:spcPct val="100000"/>
              </a:lnSpc>
              <a:spcBef>
                <a:spcPts val="95"/>
              </a:spcBef>
            </a:pPr>
            <a:r>
              <a:rPr lang="en-IN" sz="1100" b="1" dirty="0"/>
              <a:t>Dataset</a:t>
            </a:r>
            <a:r>
              <a:rPr lang="en-IN" sz="1100" dirty="0"/>
              <a:t> → </a:t>
            </a:r>
            <a:r>
              <a:rPr lang="en-IN" sz="1100" b="1" dirty="0"/>
              <a:t>Financial transaction dataset</a:t>
            </a:r>
            <a:r>
              <a:rPr lang="en-IN" sz="1100" dirty="0"/>
              <a:t> containing sender, receiver, transaction amount, time, and fraud/AML-related labels for detecting suspicious transaction patterns.</a:t>
            </a:r>
            <a:endParaRPr sz="1100" dirty="0">
              <a:latin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r>
              <a:rPr sz="1600" b="1">
                <a:solidFill>
                  <a:srgbClr val="FFFFFF"/>
                </a:solidFill>
                <a:latin typeface="Aptos Display"/>
              </a:rPr>
              <a:t>LITERATURE REVIEW • PART 1</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r>
              <a:rPr sz="700"/>
              <a:t>5</a:t>
            </a:r>
          </a:p>
        </p:txBody>
      </p:sp>
      <p:sp>
        <p:nvSpPr>
          <p:cNvPr id="3" name="object 3"/>
          <p:cNvSpPr txBox="1"/>
          <p:nvPr/>
        </p:nvSpPr>
        <p:spPr>
          <a:xfrm>
            <a:off x="5755640" y="933449"/>
            <a:ext cx="681990" cy="201295"/>
          </a:xfrm>
          <a:prstGeom prst="rect">
            <a:avLst/>
          </a:prstGeom>
        </p:spPr>
        <p:txBody>
          <a:bodyPr vert="horz" wrap="square" lIns="0" tIns="12700" rIns="0" bIns="0" rtlCol="0">
            <a:spAutoFit/>
          </a:bodyPr>
          <a:lstStyle/>
          <a:p>
            <a:pPr algn="ctr"/>
            <a:r>
              <a:rPr sz="1000" b="1">
                <a:solidFill>
                  <a:srgbClr val="C00000"/>
                </a:solidFill>
              </a:rPr>
              <a:t>Papers 1–4</a:t>
            </a:r>
          </a:p>
        </p:txBody>
      </p:sp>
      <p:graphicFrame>
        <p:nvGraphicFramePr>
          <p:cNvPr id="4" name="object 4"/>
          <p:cNvGraphicFramePr>
            <a:graphicFrameLocks noGrp="1"/>
          </p:cNvGraphicFramePr>
          <p:nvPr>
            <p:extLst>
              <p:ext uri="{D42A27DB-BD31-4B8C-83A1-F6EECF244321}">
                <p14:modId xmlns:p14="http://schemas.microsoft.com/office/powerpoint/2010/main" val="1521557865"/>
              </p:ext>
            </p:extLst>
          </p:nvPr>
        </p:nvGraphicFramePr>
        <p:xfrm>
          <a:off x="362584" y="1295272"/>
          <a:ext cx="11457304" cy="5093208"/>
        </p:xfrm>
        <a:graphic>
          <a:graphicData uri="http://schemas.openxmlformats.org/drawingml/2006/table">
            <a:tbl>
              <a:tblPr firstRow="1" bandRow="1">
                <a:tableStyleId>{2D5ABB26-0587-4C30-8999-92F81FD0307C}</a:tableStyleId>
              </a:tblPr>
              <a:tblGrid>
                <a:gridCol w="35661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3200399">
                  <a:extLst>
                    <a:ext uri="{9D8B030D-6E8A-4147-A177-3AD203B41FA5}">
                      <a16:colId xmlns:a16="http://schemas.microsoft.com/office/drawing/2014/main" val="20002"/>
                    </a:ext>
                  </a:extLst>
                </a:gridCol>
                <a:gridCol w="2861945">
                  <a:extLst>
                    <a:ext uri="{9D8B030D-6E8A-4147-A177-3AD203B41FA5}">
                      <a16:colId xmlns:a16="http://schemas.microsoft.com/office/drawing/2014/main" val="20003"/>
                    </a:ext>
                  </a:extLst>
                </a:gridCol>
              </a:tblGrid>
              <a:tr h="658368">
                <a:tc>
                  <a:txBody>
                    <a:bodyPr/>
                    <a:lstStyle/>
                    <a:p>
                      <a:pPr algn="l">
                        <a:lnSpc>
                          <a:spcPct val="100000"/>
                        </a:lnSpc>
                        <a:spcBef>
                          <a:spcPts val="0"/>
                        </a:spcBef>
                        <a:spcAft>
                          <a:spcPts val="0"/>
                        </a:spcAft>
                      </a:pPr>
                      <a:r>
                        <a:rPr sz="1000" b="1">
                          <a:solidFill>
                            <a:srgbClr val="FFFFFF"/>
                          </a:solidFill>
                          <a:latin typeface="Aptos"/>
                        </a:rPr>
                        <a:t>Paper / Year</a:t>
                      </a:r>
                      <a:endParaRPr sz="100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a:lstStyle/>
                    <a:p>
                      <a:pPr algn="l">
                        <a:lnSpc>
                          <a:spcPct val="100000"/>
                        </a:lnSpc>
                        <a:spcBef>
                          <a:spcPts val="0"/>
                        </a:spcBef>
                        <a:spcAft>
                          <a:spcPts val="0"/>
                        </a:spcAft>
                      </a:pPr>
                      <a:r>
                        <a:rPr sz="1000" b="1">
                          <a:solidFill>
                            <a:srgbClr val="FFFFFF"/>
                          </a:solidFill>
                          <a:latin typeface="Aptos"/>
                        </a:rPr>
                        <a:t>Dataset</a:t>
                      </a:r>
                      <a:endParaRPr sz="100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a:lstStyle/>
                    <a:p>
                      <a:pPr algn="l">
                        <a:lnSpc>
                          <a:spcPct val="100000"/>
                        </a:lnSpc>
                        <a:spcBef>
                          <a:spcPts val="0"/>
                        </a:spcBef>
                        <a:spcAft>
                          <a:spcPts val="0"/>
                        </a:spcAft>
                      </a:pPr>
                      <a:r>
                        <a:rPr sz="1000" b="1">
                          <a:solidFill>
                            <a:srgbClr val="FFFFFF"/>
                          </a:solidFill>
                          <a:latin typeface="Aptos"/>
                        </a:rPr>
                        <a:t>Methodology</a:t>
                      </a:r>
                      <a:endParaRPr sz="100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a:lstStyle/>
                    <a:p>
                      <a:pPr algn="l">
                        <a:lnSpc>
                          <a:spcPct val="100000"/>
                        </a:lnSpc>
                        <a:spcBef>
                          <a:spcPts val="0"/>
                        </a:spcBef>
                        <a:spcAft>
                          <a:spcPts val="0"/>
                        </a:spcAft>
                      </a:pPr>
                      <a:r>
                        <a:rPr sz="1000" b="1">
                          <a:solidFill>
                            <a:srgbClr val="FFFFFF"/>
                          </a:solidFill>
                          <a:latin typeface="Aptos"/>
                        </a:rPr>
                        <a:t>Limitation</a:t>
                      </a:r>
                      <a:endParaRPr sz="100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extLst>
                  <a:ext uri="{0D108BD9-81ED-4DB2-BD59-A6C34878D82A}">
                    <a16:rowId xmlns:a16="http://schemas.microsoft.com/office/drawing/2014/main" val="10000"/>
                  </a:ext>
                </a:extLst>
              </a:tr>
              <a:tr h="1097280">
                <a:tc>
                  <a:txBody>
                    <a:bodyPr/>
                    <a:lstStyle/>
                    <a:p>
                      <a:pPr marL="73025">
                        <a:lnSpc>
                          <a:spcPct val="100000"/>
                        </a:lnSpc>
                        <a:spcBef>
                          <a:spcPts val="380"/>
                        </a:spcBef>
                        <a:spcAft>
                          <a:spcPts val="100"/>
                        </a:spcAft>
                      </a:pPr>
                      <a:r>
                        <a:rPr sz="740" b="1">
                          <a:solidFill>
                            <a:srgbClr val="000000"/>
                          </a:solidFill>
                          <a:latin typeface="Aptos"/>
                        </a:rPr>
                        <a:t>1. Mark Weber; Giacomo Domeniconi; Jie Chen; Daniel K. I. Weidele; Claudio Bellei; Tom Robinson; Charles E. Leiserson • 2019</a:t>
                      </a:r>
                      <a:endParaRPr sz="800" dirty="0">
                        <a:latin typeface="Calibri"/>
                        <a:cs typeface="Calibri"/>
                      </a:endParaRPr>
                    </a:p>
                    <a:p>
                      <a:pPr>
                        <a:spcBef>
                          <a:spcPts val="0"/>
                        </a:spcBef>
                        <a:spcAft>
                          <a:spcPts val="0"/>
                        </a:spcAft>
                      </a:pPr>
                      <a:r>
                        <a:rPr sz="730" b="0">
                          <a:solidFill>
                            <a:srgbClr val="000000"/>
                          </a:solidFill>
                          <a:latin typeface="Aptos"/>
                        </a:rPr>
                        <a:t>Anti-Money Laundering in Bitcoin: Experimenting with Graph Convolutional Networks for Financial Forensics</a:t>
                      </a: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3660" algn="l">
                        <a:lnSpc>
                          <a:spcPct val="100000"/>
                        </a:lnSpc>
                        <a:spcBef>
                          <a:spcPts val="0"/>
                        </a:spcBef>
                        <a:spcAft>
                          <a:spcPts val="0"/>
                        </a:spcAft>
                      </a:pPr>
                      <a:r>
                        <a:rPr sz="760" b="0">
                          <a:solidFill>
                            <a:srgbClr val="000000"/>
                          </a:solidFill>
                          <a:latin typeface="Aptos"/>
                        </a:rPr>
                        <a:t>Elliptic Bitcoin Dataset</a:t>
                      </a:r>
                      <a:endParaRPr sz="800" dirty="0">
                        <a:latin typeface="Calibri"/>
                        <a:cs typeface="Calibri"/>
                      </a:endParaRP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295" algn="l">
                        <a:lnSpc>
                          <a:spcPct val="100000"/>
                        </a:lnSpc>
                        <a:spcBef>
                          <a:spcPts val="0"/>
                        </a:spcBef>
                        <a:spcAft>
                          <a:spcPts val="0"/>
                        </a:spcAft>
                      </a:pPr>
                      <a:r>
                        <a:rPr sz="760" b="0">
                          <a:solidFill>
                            <a:srgbClr val="000000"/>
                          </a:solidFill>
                          <a:latin typeface="Aptos"/>
                        </a:rPr>
                        <a:t>Compared Logistic Regression, Random Forest, MLP and GCN for illicit-transaction classification; introduced the Elliptic transaction graph.</a:t>
                      </a:r>
                      <a:endParaRPr sz="800" dirty="0">
                        <a:latin typeface="Calibri"/>
                        <a:cs typeface="Calibri"/>
                      </a:endParaRP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930" algn="l">
                        <a:lnSpc>
                          <a:spcPct val="100000"/>
                        </a:lnSpc>
                        <a:spcBef>
                          <a:spcPts val="0"/>
                        </a:spcBef>
                        <a:spcAft>
                          <a:spcPts val="0"/>
                        </a:spcAft>
                      </a:pPr>
                      <a:r>
                        <a:rPr sz="760" b="0">
                          <a:solidFill>
                            <a:srgbClr val="000000"/>
                          </a:solidFill>
                          <a:latin typeface="Aptos"/>
                        </a:rPr>
                        <a:t>Real-world labeled AML data is scarce; the graph is large and dynamic; explainability is difficult; tested GCN variants did not consistently outperform simpler baselines.</a:t>
                      </a:r>
                      <a:endParaRPr sz="800" dirty="0">
                        <a:latin typeface="Calibri"/>
                        <a:cs typeface="Calibri"/>
                      </a:endParaRP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1"/>
                  </a:ext>
                </a:extLst>
              </a:tr>
              <a:tr h="1097280">
                <a:tc>
                  <a:txBody>
                    <a:bodyPr/>
                    <a:lstStyle/>
                    <a:p>
                      <a:pPr marL="73025">
                        <a:lnSpc>
                          <a:spcPct val="100000"/>
                        </a:lnSpc>
                        <a:spcBef>
                          <a:spcPts val="385"/>
                        </a:spcBef>
                        <a:spcAft>
                          <a:spcPts val="100"/>
                        </a:spcAft>
                      </a:pPr>
                      <a:r>
                        <a:rPr sz="740" b="1">
                          <a:solidFill>
                            <a:srgbClr val="000000"/>
                          </a:solidFill>
                          <a:latin typeface="Aptos"/>
                        </a:rPr>
                        <a:t>2. Ismail Alarab; Simant Prakoonwit; M. I. Nacer • 2020</a:t>
                      </a:r>
                      <a:endParaRPr sz="800" dirty="0">
                        <a:latin typeface="Calibri"/>
                        <a:cs typeface="Calibri"/>
                      </a:endParaRPr>
                    </a:p>
                    <a:p>
                      <a:pPr>
                        <a:spcBef>
                          <a:spcPts val="0"/>
                        </a:spcBef>
                        <a:spcAft>
                          <a:spcPts val="0"/>
                        </a:spcAft>
                      </a:pPr>
                      <a:r>
                        <a:rPr sz="730" b="0">
                          <a:solidFill>
                            <a:srgbClr val="000000"/>
                          </a:solidFill>
                          <a:latin typeface="Aptos"/>
                        </a:rPr>
                        <a:t>Competence of Graph Convolutional Network in Anti-Money Laundering in Bitcoin Blockchain</a:t>
                      </a: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3660" algn="l">
                        <a:lnSpc>
                          <a:spcPct val="100000"/>
                        </a:lnSpc>
                        <a:spcBef>
                          <a:spcPts val="0"/>
                        </a:spcBef>
                        <a:spcAft>
                          <a:spcPts val="0"/>
                        </a:spcAft>
                      </a:pPr>
                      <a:r>
                        <a:rPr sz="760" b="0">
                          <a:solidFill>
                            <a:srgbClr val="000000"/>
                          </a:solidFill>
                          <a:latin typeface="Aptos"/>
                        </a:rPr>
                        <a:t>Elliptic Bitcoin Dataset</a:t>
                      </a:r>
                      <a:endParaRPr sz="800" dirty="0">
                        <a:latin typeface="Calibri"/>
                        <a:cs typeface="Calibri"/>
                      </a:endParaRP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4295" marR="254000" algn="l">
                        <a:lnSpc>
                          <a:spcPct val="100000"/>
                        </a:lnSpc>
                        <a:spcBef>
                          <a:spcPts val="0"/>
                        </a:spcBef>
                        <a:spcAft>
                          <a:spcPts val="0"/>
                        </a:spcAft>
                      </a:pPr>
                      <a:r>
                        <a:rPr sz="760" b="0">
                          <a:solidFill>
                            <a:srgbClr val="000000"/>
                          </a:solidFill>
                          <a:latin typeface="Aptos"/>
                        </a:rPr>
                        <a:t>Combined graph-convolution node embeddings with node features and an MLP for illicit-transaction classification.</a:t>
                      </a:r>
                      <a:endParaRPr sz="800" dirty="0">
                        <a:latin typeface="Calibri"/>
                        <a:cs typeface="Calibri"/>
                      </a:endParaRP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4930" marR="659765" algn="l">
                        <a:lnSpc>
                          <a:spcPct val="100000"/>
                        </a:lnSpc>
                        <a:spcBef>
                          <a:spcPts val="0"/>
                        </a:spcBef>
                        <a:spcAft>
                          <a:spcPts val="0"/>
                        </a:spcAft>
                      </a:pPr>
                      <a:r>
                        <a:rPr sz="760" b="0">
                          <a:solidFill>
                            <a:srgbClr val="000000"/>
                          </a:solidFill>
                          <a:latin typeface="Aptos"/>
                        </a:rPr>
                        <a:t>Focused on one Bitcoin dataset; dependent on Elliptic labels/features; temporal evolution is not fully modeled.</a:t>
                      </a:r>
                      <a:endParaRPr sz="800" dirty="0">
                        <a:latin typeface="Calibri"/>
                        <a:cs typeface="Calibri"/>
                      </a:endParaRP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extLst>
                  <a:ext uri="{0D108BD9-81ED-4DB2-BD59-A6C34878D82A}">
                    <a16:rowId xmlns:a16="http://schemas.microsoft.com/office/drawing/2014/main" val="10002"/>
                  </a:ext>
                </a:extLst>
              </a:tr>
              <a:tr h="1097280">
                <a:tc>
                  <a:txBody>
                    <a:bodyPr/>
                    <a:lstStyle/>
                    <a:p>
                      <a:pPr marL="73025" marR="201295">
                        <a:lnSpc>
                          <a:spcPct val="100000"/>
                        </a:lnSpc>
                        <a:spcBef>
                          <a:spcPts val="390"/>
                        </a:spcBef>
                        <a:spcAft>
                          <a:spcPts val="100"/>
                        </a:spcAft>
                      </a:pPr>
                      <a:r>
                        <a:rPr sz="740" b="1">
                          <a:solidFill>
                            <a:srgbClr val="000000"/>
                          </a:solidFill>
                          <a:latin typeface="Aptos"/>
                        </a:rPr>
                        <a:t>3. Wai Weng Lo; Gayan K. Kulatilleke; Mohanad Sarhan; Siamak Layeghy; Marius Portmann • 2023</a:t>
                      </a:r>
                      <a:endParaRPr sz="800" dirty="0">
                        <a:latin typeface="Calibri"/>
                        <a:cs typeface="Calibri"/>
                      </a:endParaRPr>
                    </a:p>
                    <a:p>
                      <a:pPr>
                        <a:spcBef>
                          <a:spcPts val="0"/>
                        </a:spcBef>
                        <a:spcAft>
                          <a:spcPts val="0"/>
                        </a:spcAft>
                      </a:pPr>
                      <a:r>
                        <a:rPr sz="730" b="0">
                          <a:solidFill>
                            <a:srgbClr val="000000"/>
                          </a:solidFill>
                          <a:latin typeface="Aptos"/>
                        </a:rPr>
                        <a:t>Inspection-L: Self-Supervised GNN Node Embeddings for Money Laundering Detection in Bitcoin</a:t>
                      </a: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3660" algn="l">
                        <a:lnSpc>
                          <a:spcPct val="100000"/>
                        </a:lnSpc>
                        <a:spcBef>
                          <a:spcPts val="0"/>
                        </a:spcBef>
                        <a:spcAft>
                          <a:spcPts val="0"/>
                        </a:spcAft>
                      </a:pPr>
                      <a:r>
                        <a:rPr sz="760" b="0">
                          <a:solidFill>
                            <a:srgbClr val="000000"/>
                          </a:solidFill>
                          <a:latin typeface="Aptos"/>
                        </a:rPr>
                        <a:t>Elliptic Bitcoin Dataset</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295" marR="104775" algn="l">
                        <a:lnSpc>
                          <a:spcPct val="100000"/>
                        </a:lnSpc>
                        <a:spcBef>
                          <a:spcPts val="0"/>
                        </a:spcBef>
                        <a:spcAft>
                          <a:spcPts val="0"/>
                        </a:spcAft>
                      </a:pPr>
                      <a:r>
                        <a:rPr sz="760" b="0">
                          <a:solidFill>
                            <a:srgbClr val="000000"/>
                          </a:solidFill>
                          <a:latin typeface="Aptos"/>
                        </a:rPr>
                        <a:t>Used Deep Graph Infomax with a Graph Isomorphism Network to learn self-supervised node embeddings, followed by classification.</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930" marR="113030" algn="l">
                        <a:lnSpc>
                          <a:spcPct val="100000"/>
                        </a:lnSpc>
                        <a:spcBef>
                          <a:spcPts val="0"/>
                        </a:spcBef>
                        <a:spcAft>
                          <a:spcPts val="0"/>
                        </a:spcAft>
                      </a:pPr>
                      <a:r>
                        <a:rPr sz="760" b="0">
                          <a:solidFill>
                            <a:srgbClr val="000000"/>
                          </a:solidFill>
                          <a:latin typeface="Aptos"/>
                        </a:rPr>
                        <a:t>Still evaluated mainly in the Elliptic Bitcoin setting; final detection still needs labels; generalization to private banking data remains open.</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3"/>
                  </a:ext>
                </a:extLst>
              </a:tr>
              <a:tr h="1097280">
                <a:tc>
                  <a:txBody>
                    <a:bodyPr/>
                    <a:lstStyle/>
                    <a:p>
                      <a:pPr marL="73025">
                        <a:lnSpc>
                          <a:spcPct val="100000"/>
                        </a:lnSpc>
                        <a:spcBef>
                          <a:spcPts val="390"/>
                        </a:spcBef>
                        <a:spcAft>
                          <a:spcPts val="100"/>
                        </a:spcAft>
                      </a:pPr>
                      <a:r>
                        <a:rPr sz="740" b="1">
                          <a:solidFill>
                            <a:srgbClr val="000000"/>
                          </a:solidFill>
                          <a:latin typeface="Aptos"/>
                        </a:rPr>
                        <a:t>4. Ismail Alarab; Simant Prakoonwit • 2023</a:t>
                      </a:r>
                      <a:endParaRPr sz="800" dirty="0">
                        <a:latin typeface="Calibri"/>
                        <a:cs typeface="Calibri"/>
                      </a:endParaRPr>
                    </a:p>
                    <a:p>
                      <a:pPr>
                        <a:spcBef>
                          <a:spcPts val="0"/>
                        </a:spcBef>
                        <a:spcAft>
                          <a:spcPts val="0"/>
                        </a:spcAft>
                      </a:pPr>
                      <a:r>
                        <a:rPr sz="730" b="0">
                          <a:solidFill>
                            <a:srgbClr val="000000"/>
                          </a:solidFill>
                          <a:latin typeface="Aptos"/>
                        </a:rPr>
                        <a:t>Graph-Based LSTM for Anti-money Laundering: Experimenting Temporal Graph Convolutional Network with Bitcoin Data</a:t>
                      </a: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3660" algn="l">
                        <a:lnSpc>
                          <a:spcPct val="100000"/>
                        </a:lnSpc>
                        <a:spcBef>
                          <a:spcPts val="0"/>
                        </a:spcBef>
                        <a:spcAft>
                          <a:spcPts val="0"/>
                        </a:spcAft>
                      </a:pPr>
                      <a:r>
                        <a:rPr sz="760" b="0">
                          <a:solidFill>
                            <a:srgbClr val="000000"/>
                          </a:solidFill>
                          <a:latin typeface="Aptos"/>
                        </a:rPr>
                        <a:t>Elliptic Bitcoin Dataset</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4295" algn="l">
                        <a:lnSpc>
                          <a:spcPct val="100000"/>
                        </a:lnSpc>
                        <a:spcBef>
                          <a:spcPts val="0"/>
                        </a:spcBef>
                        <a:spcAft>
                          <a:spcPts val="0"/>
                        </a:spcAft>
                      </a:pPr>
                      <a:r>
                        <a:rPr sz="760" b="0">
                          <a:solidFill>
                            <a:srgbClr val="000000"/>
                          </a:solidFill>
                          <a:latin typeface="Aptos"/>
                        </a:rPr>
                        <a:t>Combined LSTM with GCN to incorporate temporal information and used active learning for illicit transaction classification.</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4930" marR="238125" algn="l">
                        <a:lnSpc>
                          <a:spcPct val="100000"/>
                        </a:lnSpc>
                        <a:spcBef>
                          <a:spcPts val="0"/>
                        </a:spcBef>
                        <a:spcAft>
                          <a:spcPts val="0"/>
                        </a:spcAft>
                      </a:pPr>
                      <a:r>
                        <a:rPr sz="760" b="0">
                          <a:solidFill>
                            <a:srgbClr val="000000"/>
                          </a:solidFill>
                          <a:latin typeface="Aptos"/>
                        </a:rPr>
                        <a:t>Temporal modeling increases complexity; evaluation is focused on Bitcoin rather than diverse banking transaction networks.</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extLst>
                  <a:ext uri="{0D108BD9-81ED-4DB2-BD59-A6C34878D82A}">
                    <a16:rowId xmlns:a16="http://schemas.microsoft.com/office/drawing/2014/main" val="10004"/>
                  </a:ext>
                </a:extLst>
              </a:tr>
              <a:tr h="0">
                <a:tc>
                  <a:txBody>
                    <a:bodyPr/>
                    <a:lstStyle/>
                    <a:p>
                      <a:pPr marL="73025" marR="274320">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3660">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295" marR="126364">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930" marR="236854">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r>
              <a:rPr sz="1600" b="1">
                <a:solidFill>
                  <a:srgbClr val="FFFFFF"/>
                </a:solidFill>
                <a:latin typeface="Aptos Display"/>
              </a:rPr>
              <a:t>LITERATURE REVIEW • PART 2</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r>
              <a:rPr sz="700"/>
              <a:t>6</a:t>
            </a:r>
          </a:p>
        </p:txBody>
      </p:sp>
      <p:sp>
        <p:nvSpPr>
          <p:cNvPr id="3" name="object 3"/>
          <p:cNvSpPr txBox="1"/>
          <p:nvPr/>
        </p:nvSpPr>
        <p:spPr>
          <a:xfrm>
            <a:off x="5719064" y="933449"/>
            <a:ext cx="754380" cy="201295"/>
          </a:xfrm>
          <a:prstGeom prst="rect">
            <a:avLst/>
          </a:prstGeom>
        </p:spPr>
        <p:txBody>
          <a:bodyPr vert="horz" wrap="square" lIns="0" tIns="12700" rIns="0" bIns="0" rtlCol="0">
            <a:spAutoFit/>
          </a:bodyPr>
          <a:lstStyle/>
          <a:p>
            <a:pPr algn="ctr"/>
            <a:r>
              <a:rPr sz="1000" b="1">
                <a:solidFill>
                  <a:srgbClr val="C00000"/>
                </a:solidFill>
              </a:rPr>
              <a:t>Papers 5–8</a:t>
            </a:r>
          </a:p>
        </p:txBody>
      </p:sp>
      <p:graphicFrame>
        <p:nvGraphicFramePr>
          <p:cNvPr id="4" name="object 4"/>
          <p:cNvGraphicFramePr>
            <a:graphicFrameLocks noGrp="1"/>
          </p:cNvGraphicFramePr>
          <p:nvPr>
            <p:extLst>
              <p:ext uri="{D42A27DB-BD31-4B8C-83A1-F6EECF244321}">
                <p14:modId xmlns:p14="http://schemas.microsoft.com/office/powerpoint/2010/main" val="302597882"/>
              </p:ext>
            </p:extLst>
          </p:nvPr>
        </p:nvGraphicFramePr>
        <p:xfrm>
          <a:off x="362584" y="1295272"/>
          <a:ext cx="11457304" cy="5093208"/>
        </p:xfrm>
        <a:graphic>
          <a:graphicData uri="http://schemas.openxmlformats.org/drawingml/2006/table">
            <a:tbl>
              <a:tblPr firstRow="1" bandRow="1">
                <a:tableStyleId>{2D5ABB26-0587-4C30-8999-92F81FD0307C}</a:tableStyleId>
              </a:tblPr>
              <a:tblGrid>
                <a:gridCol w="35661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3200399">
                  <a:extLst>
                    <a:ext uri="{9D8B030D-6E8A-4147-A177-3AD203B41FA5}">
                      <a16:colId xmlns:a16="http://schemas.microsoft.com/office/drawing/2014/main" val="20002"/>
                    </a:ext>
                  </a:extLst>
                </a:gridCol>
                <a:gridCol w="2861945">
                  <a:extLst>
                    <a:ext uri="{9D8B030D-6E8A-4147-A177-3AD203B41FA5}">
                      <a16:colId xmlns:a16="http://schemas.microsoft.com/office/drawing/2014/main" val="20003"/>
                    </a:ext>
                  </a:extLst>
                </a:gridCol>
              </a:tblGrid>
              <a:tr h="658368">
                <a:tc>
                  <a:txBody>
                    <a:bodyPr/>
                    <a:lstStyle/>
                    <a:p>
                      <a:pPr algn="l">
                        <a:lnSpc>
                          <a:spcPct val="100000"/>
                        </a:lnSpc>
                        <a:spcBef>
                          <a:spcPts val="0"/>
                        </a:spcBef>
                        <a:spcAft>
                          <a:spcPts val="0"/>
                        </a:spcAft>
                      </a:pPr>
                      <a:r>
                        <a:rPr sz="1000" b="1">
                          <a:solidFill>
                            <a:srgbClr val="FFFFFF"/>
                          </a:solidFill>
                          <a:latin typeface="Aptos"/>
                        </a:rPr>
                        <a:t>Paper / Year</a:t>
                      </a:r>
                      <a:endParaRPr sz="100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a:lstStyle/>
                    <a:p>
                      <a:pPr algn="l">
                        <a:lnSpc>
                          <a:spcPct val="100000"/>
                        </a:lnSpc>
                        <a:spcBef>
                          <a:spcPts val="0"/>
                        </a:spcBef>
                        <a:spcAft>
                          <a:spcPts val="0"/>
                        </a:spcAft>
                      </a:pPr>
                      <a:r>
                        <a:rPr sz="1000" b="1">
                          <a:solidFill>
                            <a:srgbClr val="FFFFFF"/>
                          </a:solidFill>
                          <a:latin typeface="Aptos"/>
                        </a:rPr>
                        <a:t>Dataset</a:t>
                      </a:r>
                      <a:endParaRPr sz="100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a:lstStyle/>
                    <a:p>
                      <a:pPr algn="l">
                        <a:lnSpc>
                          <a:spcPct val="100000"/>
                        </a:lnSpc>
                        <a:spcBef>
                          <a:spcPts val="0"/>
                        </a:spcBef>
                        <a:spcAft>
                          <a:spcPts val="0"/>
                        </a:spcAft>
                      </a:pPr>
                      <a:r>
                        <a:rPr sz="1000" b="1">
                          <a:solidFill>
                            <a:srgbClr val="FFFFFF"/>
                          </a:solidFill>
                          <a:latin typeface="Aptos"/>
                        </a:rPr>
                        <a:t>Methodology</a:t>
                      </a:r>
                      <a:endParaRPr sz="100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a:lstStyle/>
                    <a:p>
                      <a:pPr algn="l">
                        <a:lnSpc>
                          <a:spcPct val="100000"/>
                        </a:lnSpc>
                        <a:spcBef>
                          <a:spcPts val="0"/>
                        </a:spcBef>
                        <a:spcAft>
                          <a:spcPts val="0"/>
                        </a:spcAft>
                      </a:pPr>
                      <a:r>
                        <a:rPr sz="1000" b="1">
                          <a:solidFill>
                            <a:srgbClr val="FFFFFF"/>
                          </a:solidFill>
                          <a:latin typeface="Aptos"/>
                        </a:rPr>
                        <a:t>Limitation</a:t>
                      </a:r>
                      <a:endParaRPr sz="100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extLst>
                  <a:ext uri="{0D108BD9-81ED-4DB2-BD59-A6C34878D82A}">
                    <a16:rowId xmlns:a16="http://schemas.microsoft.com/office/drawing/2014/main" val="10000"/>
                  </a:ext>
                </a:extLst>
              </a:tr>
              <a:tr h="1097280">
                <a:tc>
                  <a:txBody>
                    <a:bodyPr/>
                    <a:lstStyle/>
                    <a:p>
                      <a:pPr marL="73025" marR="150495">
                        <a:lnSpc>
                          <a:spcPct val="100000"/>
                        </a:lnSpc>
                        <a:spcBef>
                          <a:spcPts val="380"/>
                        </a:spcBef>
                        <a:spcAft>
                          <a:spcPts val="100"/>
                        </a:spcAft>
                      </a:pPr>
                      <a:r>
                        <a:rPr sz="740" b="1">
                          <a:solidFill>
                            <a:srgbClr val="000000"/>
                          </a:solidFill>
                          <a:latin typeface="Aptos"/>
                        </a:rPr>
                        <a:t>5. Mohan et al. • 2023</a:t>
                      </a:r>
                      <a:endParaRPr sz="800" dirty="0">
                        <a:latin typeface="Calibri"/>
                        <a:cs typeface="Calibri"/>
                      </a:endParaRPr>
                    </a:p>
                    <a:p>
                      <a:pPr>
                        <a:spcBef>
                          <a:spcPts val="0"/>
                        </a:spcBef>
                        <a:spcAft>
                          <a:spcPts val="0"/>
                        </a:spcAft>
                      </a:pPr>
                      <a:r>
                        <a:rPr sz="730" b="0">
                          <a:solidFill>
                            <a:srgbClr val="000000"/>
                          </a:solidFill>
                          <a:latin typeface="Aptos"/>
                        </a:rPr>
                        <a:t>Improving Anti-Money Laundering in Bitcoin Using Evolving Graph Convolutions and Deep Neural Decision Forest</a:t>
                      </a: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3660" algn="l">
                        <a:lnSpc>
                          <a:spcPct val="100000"/>
                        </a:lnSpc>
                        <a:spcBef>
                          <a:spcPts val="0"/>
                        </a:spcBef>
                        <a:spcAft>
                          <a:spcPts val="0"/>
                        </a:spcAft>
                      </a:pPr>
                      <a:r>
                        <a:rPr sz="760" b="0">
                          <a:solidFill>
                            <a:srgbClr val="000000"/>
                          </a:solidFill>
                          <a:latin typeface="Aptos"/>
                        </a:rPr>
                        <a:t>Elliptic Bitcoin Dataset</a:t>
                      </a:r>
                      <a:endParaRPr sz="800" dirty="0">
                        <a:latin typeface="Calibri"/>
                        <a:cs typeface="Calibri"/>
                      </a:endParaRP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295" algn="l">
                        <a:lnSpc>
                          <a:spcPct val="100000"/>
                        </a:lnSpc>
                        <a:spcBef>
                          <a:spcPts val="0"/>
                        </a:spcBef>
                        <a:spcAft>
                          <a:spcPts val="0"/>
                        </a:spcAft>
                      </a:pPr>
                      <a:r>
                        <a:rPr sz="760" b="0">
                          <a:solidFill>
                            <a:srgbClr val="000000"/>
                          </a:solidFill>
                          <a:latin typeface="Aptos"/>
                        </a:rPr>
                        <a:t>Combined evolving/dynamic GCN with a Deep Neural Decision Forest and knowledge distillation for illicit-transaction classification.</a:t>
                      </a:r>
                      <a:endParaRPr sz="800" b="1" dirty="0">
                        <a:latin typeface="Calibri"/>
                        <a:cs typeface="Calibri"/>
                      </a:endParaRP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930" algn="l">
                        <a:lnSpc>
                          <a:spcPct val="100000"/>
                        </a:lnSpc>
                        <a:spcBef>
                          <a:spcPts val="0"/>
                        </a:spcBef>
                        <a:spcAft>
                          <a:spcPts val="0"/>
                        </a:spcAft>
                      </a:pPr>
                      <a:r>
                        <a:rPr sz="760" b="0">
                          <a:solidFill>
                            <a:srgbClr val="000000"/>
                          </a:solidFill>
                          <a:latin typeface="Aptos"/>
                        </a:rPr>
                        <a:t>More complex and computationally demanding than static GNNs; evaluation is centered on Bitcoin and one major benchmark dataset.</a:t>
                      </a:r>
                      <a:endParaRPr sz="800" dirty="0">
                        <a:latin typeface="Calibri"/>
                        <a:cs typeface="Calibri"/>
                      </a:endParaRP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1"/>
                  </a:ext>
                </a:extLst>
              </a:tr>
              <a:tr h="1097280">
                <a:tc>
                  <a:txBody>
                    <a:bodyPr/>
                    <a:lstStyle/>
                    <a:p>
                      <a:pPr marL="73025" marR="88265">
                        <a:lnSpc>
                          <a:spcPct val="100000"/>
                        </a:lnSpc>
                        <a:spcBef>
                          <a:spcPts val="385"/>
                        </a:spcBef>
                        <a:spcAft>
                          <a:spcPts val="100"/>
                        </a:spcAft>
                      </a:pPr>
                      <a:r>
                        <a:rPr sz="740" b="1">
                          <a:solidFill>
                            <a:srgbClr val="000000"/>
                          </a:solidFill>
                          <a:latin typeface="Aptos"/>
                        </a:rPr>
                        <a:t>6. Claudio Bellei; Muhua Xu; Ross Phillips; Tom Robinson; Mark Weber; Tim Kaler; Charles E. Leiserson; Arvind; Jie Chen • 2024</a:t>
                      </a:r>
                      <a:endParaRPr sz="800" dirty="0">
                        <a:latin typeface="Calibri"/>
                        <a:cs typeface="Calibri"/>
                      </a:endParaRPr>
                    </a:p>
                    <a:p>
                      <a:pPr>
                        <a:spcBef>
                          <a:spcPts val="0"/>
                        </a:spcBef>
                        <a:spcAft>
                          <a:spcPts val="0"/>
                        </a:spcAft>
                      </a:pPr>
                      <a:r>
                        <a:rPr sz="730" b="0">
                          <a:solidFill>
                            <a:srgbClr val="000000"/>
                          </a:solidFill>
                          <a:latin typeface="Aptos"/>
                        </a:rPr>
                        <a:t>The Shape of Money Laundering: Subgraph Representation Learning on the Blockchain with the Elliptic2 Dataset</a:t>
                      </a: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3660" algn="l">
                        <a:lnSpc>
                          <a:spcPct val="100000"/>
                        </a:lnSpc>
                        <a:spcBef>
                          <a:spcPts val="0"/>
                        </a:spcBef>
                        <a:spcAft>
                          <a:spcPts val="0"/>
                        </a:spcAft>
                      </a:pPr>
                      <a:r>
                        <a:rPr sz="760" b="0">
                          <a:solidFill>
                            <a:srgbClr val="000000"/>
                          </a:solidFill>
                          <a:latin typeface="Aptos"/>
                        </a:rPr>
                        <a:t>Elliptic2 Dataset</a:t>
                      </a:r>
                      <a:endParaRPr sz="800" dirty="0">
                        <a:latin typeface="Calibri"/>
                        <a:cs typeface="Calibri"/>
                      </a:endParaRP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4295" marR="408940" algn="l">
                        <a:lnSpc>
                          <a:spcPct val="100000"/>
                        </a:lnSpc>
                        <a:spcBef>
                          <a:spcPts val="0"/>
                        </a:spcBef>
                        <a:spcAft>
                          <a:spcPts val="0"/>
                        </a:spcAft>
                      </a:pPr>
                      <a:r>
                        <a:rPr sz="760" b="0">
                          <a:solidFill>
                            <a:srgbClr val="000000"/>
                          </a:solidFill>
                          <a:latin typeface="Aptos"/>
                        </a:rPr>
                        <a:t>Used subgraph representation learning to capture laundering patterns at the subgraph level instead of only classifying individual nodes.</a:t>
                      </a:r>
                      <a:endParaRPr sz="800" dirty="0">
                        <a:latin typeface="Calibri"/>
                        <a:cs typeface="Calibri"/>
                      </a:endParaRP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4930" marR="196850" algn="l">
                        <a:lnSpc>
                          <a:spcPct val="100000"/>
                        </a:lnSpc>
                        <a:spcBef>
                          <a:spcPts val="0"/>
                        </a:spcBef>
                        <a:spcAft>
                          <a:spcPts val="0"/>
                        </a:spcAft>
                      </a:pPr>
                      <a:r>
                        <a:rPr sz="760" b="0">
                          <a:solidFill>
                            <a:srgbClr val="000000"/>
                          </a:solidFill>
                          <a:latin typeface="Aptos"/>
                        </a:rPr>
                        <a:t>Very large-scale subgraph processing is computationally demanding; cryptocurrency focus may limit direct banking-AML generalization.</a:t>
                      </a:r>
                      <a:endParaRPr sz="800" dirty="0">
                        <a:latin typeface="Calibri"/>
                        <a:cs typeface="Calibri"/>
                      </a:endParaRP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extLst>
                  <a:ext uri="{0D108BD9-81ED-4DB2-BD59-A6C34878D82A}">
                    <a16:rowId xmlns:a16="http://schemas.microsoft.com/office/drawing/2014/main" val="10002"/>
                  </a:ext>
                </a:extLst>
              </a:tr>
              <a:tr h="1097280">
                <a:tc>
                  <a:txBody>
                    <a:bodyPr/>
                    <a:lstStyle/>
                    <a:p>
                      <a:pPr marL="73025" marR="131445">
                        <a:lnSpc>
                          <a:spcPct val="100000"/>
                        </a:lnSpc>
                        <a:spcBef>
                          <a:spcPts val="390"/>
                        </a:spcBef>
                        <a:spcAft>
                          <a:spcPts val="100"/>
                        </a:spcAft>
                      </a:pPr>
                      <a:r>
                        <a:rPr sz="740" b="1">
                          <a:solidFill>
                            <a:srgbClr val="000000"/>
                          </a:solidFill>
                          <a:latin typeface="Aptos"/>
                        </a:rPr>
                        <a:t>7. Authors of RPGE study • 2024</a:t>
                      </a:r>
                      <a:endParaRPr sz="800" dirty="0">
                        <a:latin typeface="Calibri"/>
                        <a:cs typeface="Calibri"/>
                      </a:endParaRPr>
                    </a:p>
                    <a:p>
                      <a:pPr>
                        <a:spcBef>
                          <a:spcPts val="0"/>
                        </a:spcBef>
                        <a:spcAft>
                          <a:spcPts val="0"/>
                        </a:spcAft>
                      </a:pPr>
                      <a:r>
                        <a:rPr sz="730" b="0">
                          <a:solidFill>
                            <a:srgbClr val="000000"/>
                          </a:solidFill>
                          <a:latin typeface="Aptos"/>
                        </a:rPr>
                        <a:t>A Plug-and-Play Data-Driven Approach for Anti-Money Laundering in Bitcoin</a:t>
                      </a: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3660" algn="l">
                        <a:lnSpc>
                          <a:spcPct val="100000"/>
                        </a:lnSpc>
                        <a:spcBef>
                          <a:spcPts val="0"/>
                        </a:spcBef>
                        <a:spcAft>
                          <a:spcPts val="0"/>
                        </a:spcAft>
                      </a:pPr>
                      <a:r>
                        <a:rPr sz="760" b="0">
                          <a:solidFill>
                            <a:srgbClr val="000000"/>
                          </a:solidFill>
                          <a:latin typeface="Aptos"/>
                        </a:rPr>
                        <a:t>Bitcoin transaction data / Elliptic</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295" marR="306705" algn="l">
                        <a:lnSpc>
                          <a:spcPct val="100000"/>
                        </a:lnSpc>
                        <a:spcBef>
                          <a:spcPts val="0"/>
                        </a:spcBef>
                        <a:spcAft>
                          <a:spcPts val="0"/>
                        </a:spcAft>
                      </a:pPr>
                      <a:r>
                        <a:rPr sz="760" b="0">
                          <a:solidFill>
                            <a:srgbClr val="000000"/>
                          </a:solidFill>
                          <a:latin typeface="Aptos"/>
                        </a:rPr>
                        <a:t>Proposed Reachability Preserving Graph Embedding (RPGE) to extract AML-related transaction representations and integrate them with GNN methods.</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930" marR="304800" algn="l">
                        <a:lnSpc>
                          <a:spcPct val="100000"/>
                        </a:lnSpc>
                        <a:spcBef>
                          <a:spcPts val="0"/>
                        </a:spcBef>
                        <a:spcAft>
                          <a:spcPts val="0"/>
                        </a:spcAft>
                      </a:pPr>
                      <a:r>
                        <a:rPr sz="760" b="0">
                          <a:solidFill>
                            <a:srgbClr val="000000"/>
                          </a:solidFill>
                          <a:latin typeface="Aptos"/>
                        </a:rPr>
                        <a:t>Still Bitcoin-focused; embedding quality depends on the constructed reachability network; cross-domain validation is needed.</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3"/>
                  </a:ext>
                </a:extLst>
              </a:tr>
              <a:tr h="1097280">
                <a:tc>
                  <a:txBody>
                    <a:bodyPr/>
                    <a:lstStyle/>
                    <a:p>
                      <a:pPr marL="73025">
                        <a:lnSpc>
                          <a:spcPct val="100000"/>
                        </a:lnSpc>
                        <a:spcBef>
                          <a:spcPts val="390"/>
                        </a:spcBef>
                        <a:spcAft>
                          <a:spcPts val="100"/>
                        </a:spcAft>
                      </a:pPr>
                      <a:r>
                        <a:rPr sz="740" b="1">
                          <a:solidFill>
                            <a:srgbClr val="000000"/>
                          </a:solidFill>
                          <a:latin typeface="Aptos"/>
                        </a:rPr>
                        <a:t>8. Hanbin Lu; Haosen Wang • 2024</a:t>
                      </a:r>
                      <a:endParaRPr sz="800" dirty="0">
                        <a:latin typeface="Calibri"/>
                        <a:cs typeface="Calibri"/>
                      </a:endParaRPr>
                    </a:p>
                    <a:p>
                      <a:pPr>
                        <a:spcBef>
                          <a:spcPts val="0"/>
                        </a:spcBef>
                        <a:spcAft>
                          <a:spcPts val="0"/>
                        </a:spcAft>
                      </a:pPr>
                      <a:r>
                        <a:rPr sz="730" b="0">
                          <a:solidFill>
                            <a:srgbClr val="000000"/>
                          </a:solidFill>
                          <a:latin typeface="Aptos"/>
                        </a:rPr>
                        <a:t>Graph Contrastive Pre-training for Anti-money Laundering</a:t>
                      </a: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3660" algn="l">
                        <a:lnSpc>
                          <a:spcPct val="100000"/>
                        </a:lnSpc>
                        <a:spcBef>
                          <a:spcPts val="0"/>
                        </a:spcBef>
                        <a:spcAft>
                          <a:spcPts val="0"/>
                        </a:spcAft>
                      </a:pPr>
                      <a:r>
                        <a:rPr sz="760" b="0">
                          <a:solidFill>
                            <a:srgbClr val="000000"/>
                          </a:solidFill>
                          <a:latin typeface="Aptos"/>
                        </a:rPr>
                        <a:t>Elliptic Dataset and AMLworld</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4295" algn="l">
                        <a:lnSpc>
                          <a:spcPct val="100000"/>
                        </a:lnSpc>
                        <a:spcBef>
                          <a:spcPts val="0"/>
                        </a:spcBef>
                        <a:spcAft>
                          <a:spcPts val="0"/>
                        </a:spcAft>
                      </a:pPr>
                      <a:r>
                        <a:rPr sz="760" b="0">
                          <a:solidFill>
                            <a:srgbClr val="000000"/>
                          </a:solidFill>
                          <a:latin typeface="Aptos"/>
                        </a:rPr>
                        <a:t>Proposed GCPAL using graph contrastive pre-training with stochastic graph views and a KNN view to reduce dependence on labeled data.</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4930" marR="109220" algn="l">
                        <a:lnSpc>
                          <a:spcPct val="100000"/>
                        </a:lnSpc>
                        <a:spcBef>
                          <a:spcPts val="0"/>
                        </a:spcBef>
                        <a:spcAft>
                          <a:spcPts val="0"/>
                        </a:spcAft>
                      </a:pPr>
                      <a:r>
                        <a:rPr sz="760" b="0">
                          <a:solidFill>
                            <a:srgbClr val="000000"/>
                          </a:solidFill>
                          <a:latin typeface="Aptos"/>
                        </a:rPr>
                        <a:t>Graph augmentation and contrastive training add complexity; performance depends on suitable graph views and hyperparameters.</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extLst>
                  <a:ext uri="{0D108BD9-81ED-4DB2-BD59-A6C34878D82A}">
                    <a16:rowId xmlns:a16="http://schemas.microsoft.com/office/drawing/2014/main" val="10004"/>
                  </a:ext>
                </a:extLst>
              </a:tr>
              <a:tr h="0">
                <a:tc>
                  <a:txBody>
                    <a:bodyPr/>
                    <a:lstStyle/>
                    <a:p>
                      <a:pPr marL="73025" marR="252729">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3660" marR="201930">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295">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930" marR="168910" algn="just">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r>
              <a:rPr sz="1600" b="1">
                <a:solidFill>
                  <a:srgbClr val="FFFFFF"/>
                </a:solidFill>
                <a:latin typeface="Aptos Display"/>
              </a:rPr>
              <a:t>LITERATURE REVIEW • PART 3</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r>
              <a:rPr sz="700"/>
              <a:t>7</a:t>
            </a:r>
          </a:p>
        </p:txBody>
      </p:sp>
      <p:sp>
        <p:nvSpPr>
          <p:cNvPr id="3" name="object 3"/>
          <p:cNvSpPr txBox="1"/>
          <p:nvPr/>
        </p:nvSpPr>
        <p:spPr>
          <a:xfrm>
            <a:off x="5682488" y="933449"/>
            <a:ext cx="828040" cy="201295"/>
          </a:xfrm>
          <a:prstGeom prst="rect">
            <a:avLst/>
          </a:prstGeom>
        </p:spPr>
        <p:txBody>
          <a:bodyPr vert="horz" wrap="square" lIns="0" tIns="12700" rIns="0" bIns="0" rtlCol="0">
            <a:spAutoFit/>
          </a:bodyPr>
          <a:lstStyle/>
          <a:p>
            <a:pPr algn="ctr"/>
            <a:r>
              <a:rPr sz="1000" b="1">
                <a:solidFill>
                  <a:srgbClr val="C00000"/>
                </a:solidFill>
              </a:rPr>
              <a:t>Papers 9–12</a:t>
            </a:r>
          </a:p>
        </p:txBody>
      </p:sp>
      <p:graphicFrame>
        <p:nvGraphicFramePr>
          <p:cNvPr id="4" name="object 4"/>
          <p:cNvGraphicFramePr>
            <a:graphicFrameLocks noGrp="1"/>
          </p:cNvGraphicFramePr>
          <p:nvPr>
            <p:extLst>
              <p:ext uri="{D42A27DB-BD31-4B8C-83A1-F6EECF244321}">
                <p14:modId xmlns:p14="http://schemas.microsoft.com/office/powerpoint/2010/main" val="487238847"/>
              </p:ext>
            </p:extLst>
          </p:nvPr>
        </p:nvGraphicFramePr>
        <p:xfrm>
          <a:off x="362584" y="1295272"/>
          <a:ext cx="11457304" cy="5093208"/>
        </p:xfrm>
        <a:graphic>
          <a:graphicData uri="http://schemas.openxmlformats.org/drawingml/2006/table">
            <a:tbl>
              <a:tblPr firstRow="1" bandRow="1">
                <a:tableStyleId>{2D5ABB26-0587-4C30-8999-92F81FD0307C}</a:tableStyleId>
              </a:tblPr>
              <a:tblGrid>
                <a:gridCol w="35661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3200399">
                  <a:extLst>
                    <a:ext uri="{9D8B030D-6E8A-4147-A177-3AD203B41FA5}">
                      <a16:colId xmlns:a16="http://schemas.microsoft.com/office/drawing/2014/main" val="20002"/>
                    </a:ext>
                  </a:extLst>
                </a:gridCol>
                <a:gridCol w="2861945">
                  <a:extLst>
                    <a:ext uri="{9D8B030D-6E8A-4147-A177-3AD203B41FA5}">
                      <a16:colId xmlns:a16="http://schemas.microsoft.com/office/drawing/2014/main" val="20003"/>
                    </a:ext>
                  </a:extLst>
                </a:gridCol>
              </a:tblGrid>
              <a:tr h="658368">
                <a:tc>
                  <a:txBody>
                    <a:bodyPr/>
                    <a:lstStyle/>
                    <a:p>
                      <a:pPr algn="l">
                        <a:lnSpc>
                          <a:spcPct val="100000"/>
                        </a:lnSpc>
                        <a:spcBef>
                          <a:spcPts val="0"/>
                        </a:spcBef>
                        <a:spcAft>
                          <a:spcPts val="0"/>
                        </a:spcAft>
                      </a:pPr>
                      <a:r>
                        <a:rPr sz="1000" b="1">
                          <a:solidFill>
                            <a:srgbClr val="FFFFFF"/>
                          </a:solidFill>
                          <a:latin typeface="Aptos"/>
                        </a:rPr>
                        <a:t>Paper / Year</a:t>
                      </a:r>
                      <a:endParaRPr sz="100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a:lstStyle/>
                    <a:p>
                      <a:pPr algn="l">
                        <a:lnSpc>
                          <a:spcPct val="100000"/>
                        </a:lnSpc>
                        <a:spcBef>
                          <a:spcPts val="0"/>
                        </a:spcBef>
                        <a:spcAft>
                          <a:spcPts val="0"/>
                        </a:spcAft>
                      </a:pPr>
                      <a:r>
                        <a:rPr sz="1000" b="1">
                          <a:solidFill>
                            <a:srgbClr val="FFFFFF"/>
                          </a:solidFill>
                          <a:latin typeface="Aptos"/>
                        </a:rPr>
                        <a:t>Dataset</a:t>
                      </a:r>
                      <a:endParaRPr sz="100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a:lstStyle/>
                    <a:p>
                      <a:pPr algn="l">
                        <a:lnSpc>
                          <a:spcPct val="100000"/>
                        </a:lnSpc>
                        <a:spcBef>
                          <a:spcPts val="0"/>
                        </a:spcBef>
                        <a:spcAft>
                          <a:spcPts val="0"/>
                        </a:spcAft>
                      </a:pPr>
                      <a:r>
                        <a:rPr sz="1000" b="1">
                          <a:solidFill>
                            <a:srgbClr val="FFFFFF"/>
                          </a:solidFill>
                          <a:latin typeface="Aptos"/>
                        </a:rPr>
                        <a:t>Methodology</a:t>
                      </a:r>
                      <a:endParaRPr sz="100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a:lstStyle/>
                    <a:p>
                      <a:pPr algn="l">
                        <a:lnSpc>
                          <a:spcPct val="100000"/>
                        </a:lnSpc>
                        <a:spcBef>
                          <a:spcPts val="0"/>
                        </a:spcBef>
                        <a:spcAft>
                          <a:spcPts val="0"/>
                        </a:spcAft>
                      </a:pPr>
                      <a:r>
                        <a:rPr sz="1000" b="1">
                          <a:solidFill>
                            <a:srgbClr val="FFFFFF"/>
                          </a:solidFill>
                          <a:latin typeface="Aptos"/>
                        </a:rPr>
                        <a:t>Limitation</a:t>
                      </a:r>
                      <a:endParaRPr sz="100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extLst>
                  <a:ext uri="{0D108BD9-81ED-4DB2-BD59-A6C34878D82A}">
                    <a16:rowId xmlns:a16="http://schemas.microsoft.com/office/drawing/2014/main" val="10000"/>
                  </a:ext>
                </a:extLst>
              </a:tr>
              <a:tr h="1097280">
                <a:tc>
                  <a:txBody>
                    <a:bodyPr/>
                    <a:lstStyle/>
                    <a:p>
                      <a:pPr marL="73025">
                        <a:lnSpc>
                          <a:spcPct val="100000"/>
                        </a:lnSpc>
                        <a:spcBef>
                          <a:spcPts val="380"/>
                        </a:spcBef>
                        <a:spcAft>
                          <a:spcPts val="100"/>
                        </a:spcAft>
                      </a:pPr>
                      <a:r>
                        <a:rPr sz="740" b="1">
                          <a:solidFill>
                            <a:srgbClr val="000000"/>
                          </a:solidFill>
                          <a:latin typeface="Aptos"/>
                        </a:rPr>
                        <a:t>9. Kathleen Wu • 2026</a:t>
                      </a:r>
                      <a:endParaRPr sz="800" dirty="0">
                        <a:latin typeface="Calibri"/>
                        <a:cs typeface="Calibri"/>
                      </a:endParaRPr>
                    </a:p>
                    <a:p>
                      <a:pPr>
                        <a:spcBef>
                          <a:spcPts val="0"/>
                        </a:spcBef>
                        <a:spcAft>
                          <a:spcPts val="0"/>
                        </a:spcAft>
                      </a:pPr>
                      <a:r>
                        <a:rPr sz="730" b="0">
                          <a:solidFill>
                            <a:srgbClr val="000000"/>
                          </a:solidFill>
                          <a:latin typeface="Aptos"/>
                        </a:rPr>
                        <a:t>Graph-Based Anti-Money Laundering in Bitcoin</a:t>
                      </a: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3660" algn="l">
                        <a:lnSpc>
                          <a:spcPct val="100000"/>
                        </a:lnSpc>
                        <a:spcBef>
                          <a:spcPts val="0"/>
                        </a:spcBef>
                        <a:spcAft>
                          <a:spcPts val="0"/>
                        </a:spcAft>
                      </a:pPr>
                      <a:r>
                        <a:rPr sz="760" b="0">
                          <a:solidFill>
                            <a:srgbClr val="000000"/>
                          </a:solidFill>
                          <a:latin typeface="Aptos"/>
                        </a:rPr>
                        <a:t>Elliptic Dataset</a:t>
                      </a:r>
                      <a:endParaRPr sz="800" dirty="0">
                        <a:latin typeface="Calibri"/>
                        <a:cs typeface="Calibri"/>
                      </a:endParaRP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295" marR="0" lvl="0" indent="0" algn="l" defTabSz="914400" eaLnBrk="1" fontAlgn="auto" latinLnBrk="0" hangingPunct="1">
                        <a:lnSpc>
                          <a:spcPct val="100000"/>
                        </a:lnSpc>
                        <a:spcBef>
                          <a:spcPts val="0"/>
                        </a:spcBef>
                        <a:spcAft>
                          <a:spcPts val="0"/>
                        </a:spcAft>
                        <a:buClrTx/>
                        <a:buSzTx/>
                        <a:buFontTx/>
                        <a:buNone/>
                        <a:tabLst/>
                        <a:defRPr/>
                      </a:pPr>
                      <a:r>
                        <a:rPr sz="760" b="0">
                          <a:solidFill>
                            <a:srgbClr val="000000"/>
                          </a:solidFill>
                          <a:latin typeface="Aptos"/>
                        </a:rPr>
                        <a:t>Compared Logistic Regression, Random Forest, XGBoost, MLP, GCN, GraphSAGE and GAT/GATv2 for illicit Bitcoin transaction detection.</a:t>
                      </a:r>
                      <a:endParaRPr sz="800" dirty="0">
                        <a:latin typeface="Calibri"/>
                        <a:cs typeface="Calibri"/>
                      </a:endParaRP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930" marR="189230" algn="l">
                        <a:lnSpc>
                          <a:spcPct val="100000"/>
                        </a:lnSpc>
                        <a:spcBef>
                          <a:spcPts val="0"/>
                        </a:spcBef>
                        <a:spcAft>
                          <a:spcPts val="0"/>
                        </a:spcAft>
                      </a:pPr>
                      <a:r>
                        <a:rPr sz="760" b="0">
                          <a:solidFill>
                            <a:srgbClr val="000000"/>
                          </a:solidFill>
                          <a:latin typeface="Aptos"/>
                        </a:rPr>
                        <a:t>Focused on a single public Bitcoin dataset; findings may not generalize to private banking transaction data.</a:t>
                      </a:r>
                      <a:endParaRPr sz="800" dirty="0">
                        <a:latin typeface="Calibri"/>
                        <a:cs typeface="Calibri"/>
                      </a:endParaRP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1"/>
                  </a:ext>
                </a:extLst>
              </a:tr>
              <a:tr h="1097280">
                <a:tc>
                  <a:txBody>
                    <a:bodyPr/>
                    <a:lstStyle/>
                    <a:p>
                      <a:pPr marL="73025" marR="192405">
                        <a:lnSpc>
                          <a:spcPct val="100000"/>
                        </a:lnSpc>
                        <a:spcBef>
                          <a:spcPts val="385"/>
                        </a:spcBef>
                        <a:spcAft>
                          <a:spcPts val="100"/>
                        </a:spcAft>
                      </a:pPr>
                      <a:r>
                        <a:rPr sz="740" b="1">
                          <a:solidFill>
                            <a:srgbClr val="000000"/>
                          </a:solidFill>
                          <a:latin typeface="Aptos"/>
                        </a:rPr>
                        <a:t>10. Meng Li; Lu Jia; XinQiao Su • 2025</a:t>
                      </a:r>
                      <a:endParaRPr sz="800" dirty="0">
                        <a:latin typeface="Calibri"/>
                        <a:cs typeface="Calibri"/>
                      </a:endParaRPr>
                    </a:p>
                    <a:p>
                      <a:pPr>
                        <a:spcBef>
                          <a:spcPts val="0"/>
                        </a:spcBef>
                        <a:spcAft>
                          <a:spcPts val="0"/>
                        </a:spcAft>
                      </a:pPr>
                      <a:r>
                        <a:rPr sz="730" b="0">
                          <a:solidFill>
                            <a:srgbClr val="000000"/>
                          </a:solidFill>
                          <a:latin typeface="Aptos"/>
                        </a:rPr>
                        <a:t>Global-local Graph Attention with Cyclic Pseudo-labels for Bitcoin Anti-Money Laundering Detection</a:t>
                      </a: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3660" marR="317500" algn="l">
                        <a:lnSpc>
                          <a:spcPct val="100000"/>
                        </a:lnSpc>
                        <a:spcBef>
                          <a:spcPts val="0"/>
                        </a:spcBef>
                        <a:spcAft>
                          <a:spcPts val="0"/>
                        </a:spcAft>
                      </a:pPr>
                      <a:r>
                        <a:rPr sz="760" b="0">
                          <a:solidFill>
                            <a:srgbClr val="000000"/>
                          </a:solidFill>
                          <a:latin typeface="Aptos"/>
                        </a:rPr>
                        <a:t>Bitcoin transaction graph / Elliptic</a:t>
                      </a:r>
                      <a:endParaRPr sz="800" dirty="0">
                        <a:latin typeface="Calibri"/>
                        <a:cs typeface="Calibri"/>
                      </a:endParaRP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4295" marR="240665" algn="l">
                        <a:lnSpc>
                          <a:spcPct val="100000"/>
                        </a:lnSpc>
                        <a:spcBef>
                          <a:spcPts val="0"/>
                        </a:spcBef>
                        <a:spcAft>
                          <a:spcPts val="0"/>
                        </a:spcAft>
                      </a:pPr>
                      <a:r>
                        <a:rPr sz="760" b="0">
                          <a:solidFill>
                            <a:srgbClr val="000000"/>
                          </a:solidFill>
                          <a:latin typeface="Aptos"/>
                        </a:rPr>
                        <a:t>Used global-local graph attention with cyclic pseudo-label generation to improve detection of complex illicit transaction patterns.</a:t>
                      </a:r>
                      <a:endParaRPr sz="800" dirty="0">
                        <a:latin typeface="Calibri"/>
                        <a:cs typeface="Calibri"/>
                      </a:endParaRP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4930" marR="234950" algn="l">
                        <a:lnSpc>
                          <a:spcPct val="100000"/>
                        </a:lnSpc>
                        <a:spcBef>
                          <a:spcPts val="0"/>
                        </a:spcBef>
                        <a:spcAft>
                          <a:spcPts val="0"/>
                        </a:spcAft>
                      </a:pPr>
                      <a:r>
                        <a:rPr sz="760" b="0">
                          <a:solidFill>
                            <a:srgbClr val="000000"/>
                          </a:solidFill>
                          <a:latin typeface="Aptos"/>
                        </a:rPr>
                        <a:t>Pseudo-label quality can affect learning; Bitcoin-focused evaluation and model complexity may limit deployment.</a:t>
                      </a:r>
                      <a:endParaRPr sz="800" dirty="0">
                        <a:latin typeface="Calibri"/>
                        <a:cs typeface="Calibri"/>
                      </a:endParaRP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extLst>
                  <a:ext uri="{0D108BD9-81ED-4DB2-BD59-A6C34878D82A}">
                    <a16:rowId xmlns:a16="http://schemas.microsoft.com/office/drawing/2014/main" val="10002"/>
                  </a:ext>
                </a:extLst>
              </a:tr>
              <a:tr h="1097280">
                <a:tc>
                  <a:txBody>
                    <a:bodyPr/>
                    <a:lstStyle/>
                    <a:p>
                      <a:pPr marL="73025">
                        <a:lnSpc>
                          <a:spcPct val="100000"/>
                        </a:lnSpc>
                        <a:spcBef>
                          <a:spcPts val="390"/>
                        </a:spcBef>
                        <a:spcAft>
                          <a:spcPts val="100"/>
                        </a:spcAft>
                      </a:pPr>
                      <a:r>
                        <a:rPr sz="740" b="1">
                          <a:solidFill>
                            <a:srgbClr val="000000"/>
                          </a:solidFill>
                          <a:latin typeface="Aptos"/>
                        </a:rPr>
                        <a:t>11. Ziqian Lin et al. • 2026</a:t>
                      </a:r>
                      <a:endParaRPr sz="800" dirty="0">
                        <a:latin typeface="Calibri"/>
                        <a:cs typeface="Calibri"/>
                      </a:endParaRPr>
                    </a:p>
                    <a:p>
                      <a:pPr>
                        <a:spcBef>
                          <a:spcPts val="0"/>
                        </a:spcBef>
                        <a:spcAft>
                          <a:spcPts val="0"/>
                        </a:spcAft>
                      </a:pPr>
                      <a:r>
                        <a:rPr sz="730" b="0">
                          <a:solidFill>
                            <a:srgbClr val="000000"/>
                          </a:solidFill>
                          <a:latin typeface="Aptos"/>
                        </a:rPr>
                        <a:t>Detecting Illicit Transactions in Bitcoin: A Wavelet-Temporal Graph Transformer Approach for Anti-Money Laundering</a:t>
                      </a: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3660" marR="334010" algn="l">
                        <a:lnSpc>
                          <a:spcPct val="100000"/>
                        </a:lnSpc>
                        <a:spcBef>
                          <a:spcPts val="0"/>
                        </a:spcBef>
                        <a:spcAft>
                          <a:spcPts val="0"/>
                        </a:spcAft>
                      </a:pPr>
                      <a:r>
                        <a:rPr sz="760" b="0">
                          <a:solidFill>
                            <a:srgbClr val="000000"/>
                          </a:solidFill>
                          <a:latin typeface="Aptos"/>
                        </a:rPr>
                        <a:t>Elliptic Dataset</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295" marR="215265" algn="l">
                        <a:lnSpc>
                          <a:spcPct val="100000"/>
                        </a:lnSpc>
                        <a:spcBef>
                          <a:spcPts val="0"/>
                        </a:spcBef>
                        <a:spcAft>
                          <a:spcPts val="0"/>
                        </a:spcAft>
                      </a:pPr>
                      <a:r>
                        <a:rPr sz="760" b="0">
                          <a:solidFill>
                            <a:srgbClr val="000000"/>
                          </a:solidFill>
                          <a:latin typeface="Aptos"/>
                        </a:rPr>
                        <a:t>Proposed a wavelet-temporal graph approach combining frequency decomposition, temporal encoding and graph learning.</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930" marR="216535" algn="l">
                        <a:lnSpc>
                          <a:spcPct val="100000"/>
                        </a:lnSpc>
                        <a:spcBef>
                          <a:spcPts val="0"/>
                        </a:spcBef>
                        <a:spcAft>
                          <a:spcPts val="0"/>
                        </a:spcAft>
                      </a:pPr>
                      <a:r>
                        <a:rPr sz="760" b="0">
                          <a:solidFill>
                            <a:srgbClr val="000000"/>
                          </a:solidFill>
                          <a:latin typeface="Aptos"/>
                        </a:rPr>
                        <a:t>More computationally complex than standard GNNs; Bitcoin-only evaluation leaves cross-domain validation open.</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3"/>
                  </a:ext>
                </a:extLst>
              </a:tr>
              <a:tr h="1097280">
                <a:tc>
                  <a:txBody>
                    <a:bodyPr/>
                    <a:lstStyle/>
                    <a:p>
                      <a:pPr marL="73025">
                        <a:lnSpc>
                          <a:spcPct val="100000"/>
                        </a:lnSpc>
                        <a:spcBef>
                          <a:spcPts val="390"/>
                        </a:spcBef>
                        <a:spcAft>
                          <a:spcPts val="100"/>
                        </a:spcAft>
                      </a:pPr>
                      <a:r>
                        <a:rPr sz="740" b="1">
                          <a:solidFill>
                            <a:srgbClr val="000000"/>
                          </a:solidFill>
                          <a:latin typeface="Aptos"/>
                        </a:rPr>
                        <a:t>12. Dawei Cheng; Yao Zou; Sheng Xiang; Changjun Jiang • 2025</a:t>
                      </a:r>
                      <a:endParaRPr sz="800" dirty="0">
                        <a:latin typeface="Calibri"/>
                        <a:cs typeface="Calibri"/>
                      </a:endParaRPr>
                    </a:p>
                    <a:p>
                      <a:pPr>
                        <a:spcBef>
                          <a:spcPts val="0"/>
                        </a:spcBef>
                        <a:spcAft>
                          <a:spcPts val="0"/>
                        </a:spcAft>
                      </a:pPr>
                      <a:r>
                        <a:rPr sz="730" b="0">
                          <a:solidFill>
                            <a:srgbClr val="000000"/>
                          </a:solidFill>
                          <a:latin typeface="Aptos"/>
                        </a:rPr>
                        <a:t>Graph Neural Networks for Financial Fraud Detection: A Review</a:t>
                      </a: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3660" algn="l">
                        <a:lnSpc>
                          <a:spcPct val="100000"/>
                        </a:lnSpc>
                        <a:spcBef>
                          <a:spcPts val="0"/>
                        </a:spcBef>
                        <a:spcAft>
                          <a:spcPts val="0"/>
                        </a:spcAft>
                      </a:pPr>
                      <a:r>
                        <a:rPr sz="760" b="0">
                          <a:solidFill>
                            <a:srgbClr val="000000"/>
                          </a:solidFill>
                          <a:latin typeface="Aptos"/>
                        </a:rPr>
                        <a:t>Multiple financial fraud datasets from prior studies</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4295" algn="l">
                        <a:lnSpc>
                          <a:spcPct val="100000"/>
                        </a:lnSpc>
                        <a:spcBef>
                          <a:spcPts val="0"/>
                        </a:spcBef>
                        <a:spcAft>
                          <a:spcPts val="0"/>
                        </a:spcAft>
                      </a:pPr>
                      <a:r>
                        <a:rPr sz="760" b="0">
                          <a:solidFill>
                            <a:srgbClr val="000000"/>
                          </a:solidFill>
                          <a:latin typeface="Aptos"/>
                        </a:rPr>
                        <a:t>Systematic review and taxonomy of GNN methods for financial fraud, covering relational, dynamic, heterogeneous and deployment aspects.</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4930" marR="180340" algn="l">
                        <a:lnSpc>
                          <a:spcPct val="100000"/>
                        </a:lnSpc>
                        <a:spcBef>
                          <a:spcPts val="0"/>
                        </a:spcBef>
                        <a:spcAft>
                          <a:spcPts val="0"/>
                        </a:spcAft>
                      </a:pPr>
                      <a:r>
                        <a:rPr sz="760" b="0">
                          <a:solidFill>
                            <a:srgbClr val="000000"/>
                          </a:solidFill>
                          <a:latin typeface="Aptos"/>
                        </a:rPr>
                        <a:t>A review rather than a new detector; conclusions depend on the quality and comparability of previous studies.</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extLst>
                  <a:ext uri="{0D108BD9-81ED-4DB2-BD59-A6C34878D82A}">
                    <a16:rowId xmlns:a16="http://schemas.microsoft.com/office/drawing/2014/main" val="10004"/>
                  </a:ext>
                </a:extLst>
              </a:tr>
              <a:tr h="0">
                <a:tc>
                  <a:txBody>
                    <a:bodyPr/>
                    <a:lstStyle/>
                    <a:p>
                      <a:pPr marL="73025" marR="419100">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3660" marR="312420">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295" marR="182245">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930" marR="175895">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r>
              <a:rPr sz="1600" b="1">
                <a:solidFill>
                  <a:srgbClr val="FFFFFF"/>
                </a:solidFill>
                <a:latin typeface="Aptos Display"/>
              </a:rPr>
              <a:t>LITERATURE REVIEW • PART 4</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r>
              <a:rPr sz="700"/>
              <a:t>8</a:t>
            </a:r>
          </a:p>
        </p:txBody>
      </p:sp>
      <p:sp>
        <p:nvSpPr>
          <p:cNvPr id="3" name="object 3"/>
          <p:cNvSpPr txBox="1"/>
          <p:nvPr/>
        </p:nvSpPr>
        <p:spPr>
          <a:xfrm>
            <a:off x="5682488" y="933449"/>
            <a:ext cx="828040" cy="201295"/>
          </a:xfrm>
          <a:prstGeom prst="rect">
            <a:avLst/>
          </a:prstGeom>
        </p:spPr>
        <p:txBody>
          <a:bodyPr vert="horz" wrap="square" lIns="0" tIns="12700" rIns="0" bIns="0" rtlCol="0">
            <a:spAutoFit/>
          </a:bodyPr>
          <a:lstStyle/>
          <a:p>
            <a:pPr algn="ctr"/>
            <a:r>
              <a:rPr sz="1000" b="1">
                <a:solidFill>
                  <a:srgbClr val="C00000"/>
                </a:solidFill>
              </a:rPr>
              <a:t>Papers 13–16</a:t>
            </a:r>
          </a:p>
        </p:txBody>
      </p:sp>
      <p:graphicFrame>
        <p:nvGraphicFramePr>
          <p:cNvPr id="4" name="object 4"/>
          <p:cNvGraphicFramePr>
            <a:graphicFrameLocks noGrp="1"/>
          </p:cNvGraphicFramePr>
          <p:nvPr>
            <p:extLst>
              <p:ext uri="{D42A27DB-BD31-4B8C-83A1-F6EECF244321}">
                <p14:modId xmlns:p14="http://schemas.microsoft.com/office/powerpoint/2010/main" val="4019603171"/>
              </p:ext>
            </p:extLst>
          </p:nvPr>
        </p:nvGraphicFramePr>
        <p:xfrm>
          <a:off x="362584" y="1295272"/>
          <a:ext cx="11457304" cy="5093208"/>
        </p:xfrm>
        <a:graphic>
          <a:graphicData uri="http://schemas.openxmlformats.org/drawingml/2006/table">
            <a:tbl>
              <a:tblPr firstRow="1" bandRow="1">
                <a:tableStyleId>{2D5ABB26-0587-4C30-8999-92F81FD0307C}</a:tableStyleId>
              </a:tblPr>
              <a:tblGrid>
                <a:gridCol w="35661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3200399">
                  <a:extLst>
                    <a:ext uri="{9D8B030D-6E8A-4147-A177-3AD203B41FA5}">
                      <a16:colId xmlns:a16="http://schemas.microsoft.com/office/drawing/2014/main" val="20002"/>
                    </a:ext>
                  </a:extLst>
                </a:gridCol>
                <a:gridCol w="2861945">
                  <a:extLst>
                    <a:ext uri="{9D8B030D-6E8A-4147-A177-3AD203B41FA5}">
                      <a16:colId xmlns:a16="http://schemas.microsoft.com/office/drawing/2014/main" val="20003"/>
                    </a:ext>
                  </a:extLst>
                </a:gridCol>
              </a:tblGrid>
              <a:tr h="658368">
                <a:tc>
                  <a:txBody>
                    <a:bodyPr/>
                    <a:lstStyle/>
                    <a:p>
                      <a:pPr algn="l">
                        <a:lnSpc>
                          <a:spcPct val="100000"/>
                        </a:lnSpc>
                        <a:spcBef>
                          <a:spcPts val="0"/>
                        </a:spcBef>
                        <a:spcAft>
                          <a:spcPts val="0"/>
                        </a:spcAft>
                      </a:pPr>
                      <a:r>
                        <a:rPr sz="1000" b="1">
                          <a:solidFill>
                            <a:srgbClr val="FFFFFF"/>
                          </a:solidFill>
                          <a:latin typeface="Aptos"/>
                        </a:rPr>
                        <a:t>Paper / Year</a:t>
                      </a:r>
                      <a:endParaRPr sz="100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a:lstStyle/>
                    <a:p>
                      <a:pPr algn="l">
                        <a:lnSpc>
                          <a:spcPct val="100000"/>
                        </a:lnSpc>
                        <a:spcBef>
                          <a:spcPts val="0"/>
                        </a:spcBef>
                        <a:spcAft>
                          <a:spcPts val="0"/>
                        </a:spcAft>
                      </a:pPr>
                      <a:r>
                        <a:rPr sz="1000" b="1">
                          <a:solidFill>
                            <a:srgbClr val="FFFFFF"/>
                          </a:solidFill>
                          <a:latin typeface="Aptos"/>
                        </a:rPr>
                        <a:t>Dataset</a:t>
                      </a:r>
                      <a:endParaRPr sz="1000" dirty="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a:lstStyle/>
                    <a:p>
                      <a:pPr algn="l">
                        <a:lnSpc>
                          <a:spcPct val="100000"/>
                        </a:lnSpc>
                        <a:spcBef>
                          <a:spcPts val="0"/>
                        </a:spcBef>
                        <a:spcAft>
                          <a:spcPts val="0"/>
                        </a:spcAft>
                      </a:pPr>
                      <a:r>
                        <a:rPr sz="1000" b="1">
                          <a:solidFill>
                            <a:srgbClr val="FFFFFF"/>
                          </a:solidFill>
                          <a:latin typeface="Aptos"/>
                        </a:rPr>
                        <a:t>Methodology</a:t>
                      </a:r>
                      <a:endParaRPr sz="100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a:lstStyle/>
                    <a:p>
                      <a:pPr algn="l">
                        <a:lnSpc>
                          <a:spcPct val="100000"/>
                        </a:lnSpc>
                        <a:spcBef>
                          <a:spcPts val="0"/>
                        </a:spcBef>
                        <a:spcAft>
                          <a:spcPts val="0"/>
                        </a:spcAft>
                      </a:pPr>
                      <a:r>
                        <a:rPr sz="1000" b="1">
                          <a:solidFill>
                            <a:srgbClr val="FFFFFF"/>
                          </a:solidFill>
                          <a:latin typeface="Aptos"/>
                        </a:rPr>
                        <a:t>Limitation</a:t>
                      </a:r>
                      <a:endParaRPr sz="100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extLst>
                  <a:ext uri="{0D108BD9-81ED-4DB2-BD59-A6C34878D82A}">
                    <a16:rowId xmlns:a16="http://schemas.microsoft.com/office/drawing/2014/main" val="10000"/>
                  </a:ext>
                </a:extLst>
              </a:tr>
              <a:tr h="1097280">
                <a:tc>
                  <a:txBody>
                    <a:bodyPr/>
                    <a:lstStyle/>
                    <a:p>
                      <a:pPr marL="73025">
                        <a:lnSpc>
                          <a:spcPct val="100000"/>
                        </a:lnSpc>
                        <a:spcBef>
                          <a:spcPts val="380"/>
                        </a:spcBef>
                        <a:spcAft>
                          <a:spcPts val="100"/>
                        </a:spcAft>
                      </a:pPr>
                      <a:r>
                        <a:rPr sz="740" b="1">
                          <a:solidFill>
                            <a:srgbClr val="000000"/>
                          </a:solidFill>
                          <a:latin typeface="Aptos"/>
                        </a:rPr>
                        <a:t>13. Soroor Motie; Bijan Raahemi • 2024</a:t>
                      </a:r>
                      <a:endParaRPr sz="800" dirty="0">
                        <a:latin typeface="Calibri"/>
                        <a:cs typeface="Calibri"/>
                      </a:endParaRPr>
                    </a:p>
                    <a:p>
                      <a:pPr>
                        <a:spcBef>
                          <a:spcPts val="0"/>
                        </a:spcBef>
                        <a:spcAft>
                          <a:spcPts val="0"/>
                        </a:spcAft>
                      </a:pPr>
                      <a:r>
                        <a:rPr sz="730" b="0">
                          <a:solidFill>
                            <a:srgbClr val="000000"/>
                          </a:solidFill>
                          <a:latin typeface="Aptos"/>
                        </a:rPr>
                        <a:t>Financial Fraud Detection Using Graph Neural Networks: A Systematic Review</a:t>
                      </a: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3660" algn="l">
                        <a:lnSpc>
                          <a:spcPct val="100000"/>
                        </a:lnSpc>
                        <a:spcBef>
                          <a:spcPts val="0"/>
                        </a:spcBef>
                        <a:spcAft>
                          <a:spcPts val="0"/>
                        </a:spcAft>
                      </a:pPr>
                      <a:r>
                        <a:rPr sz="760" b="0">
                          <a:solidFill>
                            <a:srgbClr val="000000"/>
                          </a:solidFill>
                          <a:latin typeface="Aptos"/>
                        </a:rPr>
                        <a:t>Literature covering banking, insurance, taxation, online payments and cryptocurrency</a:t>
                      </a:r>
                      <a:endParaRPr sz="800" dirty="0">
                        <a:latin typeface="Calibri"/>
                        <a:cs typeface="Calibri"/>
                      </a:endParaRP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295" algn="l">
                        <a:lnSpc>
                          <a:spcPct val="100000"/>
                        </a:lnSpc>
                        <a:spcBef>
                          <a:spcPts val="0"/>
                        </a:spcBef>
                        <a:spcAft>
                          <a:spcPts val="0"/>
                        </a:spcAft>
                      </a:pPr>
                      <a:r>
                        <a:rPr sz="760" b="0">
                          <a:solidFill>
                            <a:srgbClr val="000000"/>
                          </a:solidFill>
                          <a:latin typeface="Aptos"/>
                        </a:rPr>
                        <a:t>Systematically reviewed 388 unique articles and selected 33 studies, organizing GNNs by graph types, learning settings and anomaly levels.</a:t>
                      </a:r>
                      <a:endParaRPr sz="800" dirty="0">
                        <a:latin typeface="Calibri"/>
                        <a:cs typeface="Calibri"/>
                      </a:endParaRP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930" algn="l">
                        <a:lnSpc>
                          <a:spcPct val="100000"/>
                        </a:lnSpc>
                        <a:spcBef>
                          <a:spcPts val="0"/>
                        </a:spcBef>
                        <a:spcAft>
                          <a:spcPts val="0"/>
                        </a:spcAft>
                      </a:pPr>
                      <a:r>
                        <a:rPr sz="760" b="0">
                          <a:solidFill>
                            <a:srgbClr val="000000"/>
                          </a:solidFill>
                          <a:latin typeface="Aptos"/>
                        </a:rPr>
                        <a:t>Search and inclusion criteria may omit relevant studies; unsupervised, edge-level and graph-level detection remain underexplored.</a:t>
                      </a:r>
                      <a:endParaRPr sz="800" dirty="0">
                        <a:latin typeface="Calibri"/>
                        <a:cs typeface="Calibri"/>
                      </a:endParaRP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1"/>
                  </a:ext>
                </a:extLst>
              </a:tr>
              <a:tr h="1097280">
                <a:tc>
                  <a:txBody>
                    <a:bodyPr/>
                    <a:lstStyle/>
                    <a:p>
                      <a:pPr marL="73025">
                        <a:lnSpc>
                          <a:spcPct val="100000"/>
                        </a:lnSpc>
                        <a:spcBef>
                          <a:spcPts val="385"/>
                        </a:spcBef>
                        <a:spcAft>
                          <a:spcPts val="100"/>
                        </a:spcAft>
                      </a:pPr>
                      <a:r>
                        <a:rPr sz="740" b="1">
                          <a:solidFill>
                            <a:srgbClr val="000000"/>
                          </a:solidFill>
                          <a:latin typeface="Aptos"/>
                        </a:rPr>
                        <a:t>14. Yingtong Dou; Zhiwei Liu; Li Sun; Yutong Deng; Hao Peng; Philip S. Yu • 2020</a:t>
                      </a:r>
                      <a:endParaRPr sz="800" dirty="0">
                        <a:latin typeface="Calibri"/>
                        <a:cs typeface="Calibri"/>
                      </a:endParaRPr>
                    </a:p>
                    <a:p>
                      <a:pPr>
                        <a:spcBef>
                          <a:spcPts val="0"/>
                        </a:spcBef>
                        <a:spcAft>
                          <a:spcPts val="0"/>
                        </a:spcAft>
                      </a:pPr>
                      <a:r>
                        <a:rPr sz="730" b="0">
                          <a:solidFill>
                            <a:srgbClr val="000000"/>
                          </a:solidFill>
                          <a:latin typeface="Aptos"/>
                        </a:rPr>
                        <a:t>Enhancing Graph Neural Network-based Fraud Detectors against Camouflaged Fraudsters</a:t>
                      </a: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3660" algn="l">
                        <a:lnSpc>
                          <a:spcPct val="100000"/>
                        </a:lnSpc>
                        <a:spcBef>
                          <a:spcPts val="0"/>
                        </a:spcBef>
                        <a:spcAft>
                          <a:spcPts val="0"/>
                        </a:spcAft>
                      </a:pPr>
                      <a:r>
                        <a:rPr sz="760" b="0">
                          <a:solidFill>
                            <a:srgbClr val="000000"/>
                          </a:solidFill>
                          <a:latin typeface="Aptos"/>
                        </a:rPr>
                        <a:t>YelpChi and Amazon fraud datasets</a:t>
                      </a:r>
                      <a:endParaRPr sz="800" dirty="0">
                        <a:latin typeface="Calibri"/>
                        <a:cs typeface="Calibri"/>
                      </a:endParaRP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4295" marR="313055" algn="l">
                        <a:lnSpc>
                          <a:spcPct val="100000"/>
                        </a:lnSpc>
                        <a:spcBef>
                          <a:spcPts val="0"/>
                        </a:spcBef>
                        <a:spcAft>
                          <a:spcPts val="0"/>
                        </a:spcAft>
                      </a:pPr>
                      <a:r>
                        <a:rPr sz="760" b="0">
                          <a:solidFill>
                            <a:srgbClr val="000000"/>
                          </a:solidFill>
                          <a:latin typeface="Aptos"/>
                        </a:rPr>
                        <a:t>Introduced CARE-GNN using label-aware neighbor selection and reinforcement learning to handle feature and relation camouflage.</a:t>
                      </a:r>
                      <a:endParaRPr sz="800" dirty="0">
                        <a:latin typeface="Calibri"/>
                        <a:cs typeface="Calibri"/>
                      </a:endParaRP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4930" marR="127000" algn="l">
                        <a:lnSpc>
                          <a:spcPct val="100000"/>
                        </a:lnSpc>
                        <a:spcBef>
                          <a:spcPts val="0"/>
                        </a:spcBef>
                        <a:spcAft>
                          <a:spcPts val="0"/>
                        </a:spcAft>
                      </a:pPr>
                      <a:r>
                        <a:rPr sz="760" b="0">
                          <a:solidFill>
                            <a:srgbClr val="000000"/>
                          </a:solidFill>
                          <a:latin typeface="Aptos"/>
                        </a:rPr>
                        <a:t>Designed for general fraud rather than AML; requires labeled fraud data and does not directly model temporal AML patterns.</a:t>
                      </a:r>
                      <a:endParaRPr sz="800" dirty="0">
                        <a:latin typeface="Calibri"/>
                        <a:cs typeface="Calibri"/>
                      </a:endParaRP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extLst>
                  <a:ext uri="{0D108BD9-81ED-4DB2-BD59-A6C34878D82A}">
                    <a16:rowId xmlns:a16="http://schemas.microsoft.com/office/drawing/2014/main" val="10002"/>
                  </a:ext>
                </a:extLst>
              </a:tr>
              <a:tr h="1097280">
                <a:tc>
                  <a:txBody>
                    <a:bodyPr/>
                    <a:lstStyle/>
                    <a:p>
                      <a:pPr marL="73025" marR="91440">
                        <a:lnSpc>
                          <a:spcPct val="100000"/>
                        </a:lnSpc>
                        <a:spcBef>
                          <a:spcPts val="390"/>
                        </a:spcBef>
                        <a:spcAft>
                          <a:spcPts val="100"/>
                        </a:spcAft>
                      </a:pPr>
                      <a:r>
                        <a:rPr sz="740" b="1">
                          <a:solidFill>
                            <a:srgbClr val="000000"/>
                          </a:solidFill>
                          <a:latin typeface="Aptos"/>
                        </a:rPr>
                        <a:t>15. Yang Liu; Xiang Ao; Zidi Qin; Jianfeng Chi; Jinghua Feng; Hao Yang; Qing He • 2021</a:t>
                      </a:r>
                      <a:endParaRPr sz="800" dirty="0">
                        <a:latin typeface="Calibri"/>
                        <a:cs typeface="Calibri"/>
                      </a:endParaRPr>
                    </a:p>
                    <a:p>
                      <a:pPr>
                        <a:spcBef>
                          <a:spcPts val="0"/>
                        </a:spcBef>
                        <a:spcAft>
                          <a:spcPts val="0"/>
                        </a:spcAft>
                      </a:pPr>
                      <a:r>
                        <a:rPr sz="730" b="0">
                          <a:solidFill>
                            <a:srgbClr val="000000"/>
                          </a:solidFill>
                          <a:latin typeface="Aptos"/>
                        </a:rPr>
                        <a:t>Pick and Choose: A GNN-based Imbalanced Learning Approach for Fraud Detection</a:t>
                      </a: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3660" algn="l">
                        <a:lnSpc>
                          <a:spcPct val="100000"/>
                        </a:lnSpc>
                        <a:spcBef>
                          <a:spcPts val="0"/>
                        </a:spcBef>
                        <a:spcAft>
                          <a:spcPts val="0"/>
                        </a:spcAft>
                      </a:pPr>
                      <a:r>
                        <a:rPr sz="760" b="0">
                          <a:solidFill>
                            <a:srgbClr val="000000"/>
                          </a:solidFill>
                          <a:latin typeface="Aptos"/>
                        </a:rPr>
                        <a:t>Alibaba/M7/M9 fraud datasets</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295" marR="271780" algn="l">
                        <a:lnSpc>
                          <a:spcPct val="100000"/>
                        </a:lnSpc>
                        <a:spcBef>
                          <a:spcPts val="0"/>
                        </a:spcBef>
                        <a:spcAft>
                          <a:spcPts val="0"/>
                        </a:spcAft>
                      </a:pPr>
                      <a:r>
                        <a:rPr sz="760" b="0">
                          <a:solidFill>
                            <a:srgbClr val="000000"/>
                          </a:solidFill>
                          <a:latin typeface="Aptos"/>
                        </a:rPr>
                        <a:t>Proposed PC-GNN with a pick-and-choose neighbor/mini-batch strategy to address severe class imbalance in fraud detection.</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930" marR="247015" algn="l">
                        <a:lnSpc>
                          <a:spcPct val="100000"/>
                        </a:lnSpc>
                        <a:spcBef>
                          <a:spcPts val="0"/>
                        </a:spcBef>
                        <a:spcAft>
                          <a:spcPts val="0"/>
                        </a:spcAft>
                      </a:pPr>
                      <a:r>
                        <a:rPr sz="760" b="0">
                          <a:solidFill>
                            <a:srgbClr val="000000"/>
                          </a:solidFill>
                          <a:latin typeface="Aptos"/>
                        </a:rPr>
                        <a:t>Targets general fraud rather than AML; extra sampling steps can add training complexity and depend on dataset structure.</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3"/>
                  </a:ext>
                </a:extLst>
              </a:tr>
              <a:tr h="1097280">
                <a:tc>
                  <a:txBody>
                    <a:bodyPr/>
                    <a:lstStyle/>
                    <a:p>
                      <a:pPr marL="73025">
                        <a:lnSpc>
                          <a:spcPct val="100000"/>
                        </a:lnSpc>
                        <a:spcBef>
                          <a:spcPts val="390"/>
                        </a:spcBef>
                        <a:spcAft>
                          <a:spcPts val="100"/>
                        </a:spcAft>
                      </a:pPr>
                      <a:r>
                        <a:rPr sz="740" b="1">
                          <a:solidFill>
                            <a:srgbClr val="000000"/>
                          </a:solidFill>
                          <a:latin typeface="Aptos"/>
                        </a:rPr>
                        <a:t>16. Thomas N. Kipf; Max Welling • 2017</a:t>
                      </a:r>
                      <a:endParaRPr sz="800" dirty="0">
                        <a:latin typeface="Calibri"/>
                        <a:cs typeface="Calibri"/>
                      </a:endParaRPr>
                    </a:p>
                    <a:p>
                      <a:pPr>
                        <a:spcBef>
                          <a:spcPts val="0"/>
                        </a:spcBef>
                        <a:spcAft>
                          <a:spcPts val="0"/>
                        </a:spcAft>
                      </a:pPr>
                      <a:r>
                        <a:rPr sz="730" b="0">
                          <a:solidFill>
                            <a:srgbClr val="000000"/>
                          </a:solidFill>
                          <a:latin typeface="Aptos"/>
                        </a:rPr>
                        <a:t>Semi-Supervised Classification with Graph Convolutional Networks</a:t>
                      </a: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3660" algn="l">
                        <a:lnSpc>
                          <a:spcPct val="100000"/>
                        </a:lnSpc>
                        <a:spcBef>
                          <a:spcPts val="0"/>
                        </a:spcBef>
                        <a:spcAft>
                          <a:spcPts val="0"/>
                        </a:spcAft>
                      </a:pPr>
                      <a:r>
                        <a:rPr sz="760" b="0">
                          <a:solidFill>
                            <a:srgbClr val="000000"/>
                          </a:solidFill>
                          <a:latin typeface="Aptos"/>
                        </a:rPr>
                        <a:t>Cora, Citeseer and Pubmed citation networks</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4295" algn="l">
                        <a:lnSpc>
                          <a:spcPct val="100000"/>
                        </a:lnSpc>
                        <a:spcBef>
                          <a:spcPts val="0"/>
                        </a:spcBef>
                        <a:spcAft>
                          <a:spcPts val="0"/>
                        </a:spcAft>
                      </a:pPr>
                      <a:r>
                        <a:rPr sz="760" b="0">
                          <a:solidFill>
                            <a:srgbClr val="000000"/>
                          </a:solidFill>
                          <a:latin typeface="Aptos"/>
                        </a:rPr>
                        <a:t>Introduced the GCN architecture, combining node features with local graph structure for semi-supervised node classification.</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4930" marR="84455" algn="l">
                        <a:lnSpc>
                          <a:spcPct val="100000"/>
                        </a:lnSpc>
                        <a:spcBef>
                          <a:spcPts val="0"/>
                        </a:spcBef>
                        <a:spcAft>
                          <a:spcPts val="0"/>
                        </a:spcAft>
                      </a:pPr>
                      <a:r>
                        <a:rPr sz="760" b="0">
                          <a:solidFill>
                            <a:srgbClr val="000000"/>
                          </a:solidFill>
                          <a:latin typeface="Aptos"/>
                        </a:rPr>
                        <a:t>Not designed for AML; standard GCNs can suffer from over-smoothing and assume relatively stable graph structure.</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extLst>
                  <a:ext uri="{0D108BD9-81ED-4DB2-BD59-A6C34878D82A}">
                    <a16:rowId xmlns:a16="http://schemas.microsoft.com/office/drawing/2014/main" val="10004"/>
                  </a:ext>
                </a:extLst>
              </a:tr>
              <a:tr h="0">
                <a:tc>
                  <a:txBody>
                    <a:bodyPr/>
                    <a:lstStyle/>
                    <a:p>
                      <a:pPr marL="73025" marR="99060">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3660" marR="110489">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295" marR="200660">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930" marR="171450" algn="just">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r>
              <a:rPr sz="1600" b="1">
                <a:solidFill>
                  <a:srgbClr val="FFFFFF"/>
                </a:solidFill>
                <a:latin typeface="Aptos Display"/>
              </a:rPr>
              <a:t>LITERATURE REVIEW • PART 5</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r>
              <a:rPr sz="700"/>
              <a:t>9</a:t>
            </a:r>
          </a:p>
        </p:txBody>
      </p:sp>
      <p:sp>
        <p:nvSpPr>
          <p:cNvPr id="3" name="object 3"/>
          <p:cNvSpPr txBox="1"/>
          <p:nvPr/>
        </p:nvSpPr>
        <p:spPr>
          <a:xfrm>
            <a:off x="5682488" y="933449"/>
            <a:ext cx="828040" cy="201295"/>
          </a:xfrm>
          <a:prstGeom prst="rect">
            <a:avLst/>
          </a:prstGeom>
        </p:spPr>
        <p:txBody>
          <a:bodyPr vert="horz" wrap="square" lIns="0" tIns="12700" rIns="0" bIns="0" rtlCol="0">
            <a:spAutoFit/>
          </a:bodyPr>
          <a:lstStyle/>
          <a:p>
            <a:pPr algn="ctr"/>
            <a:r>
              <a:rPr sz="1000" b="1">
                <a:solidFill>
                  <a:srgbClr val="C00000"/>
                </a:solidFill>
              </a:rPr>
              <a:t>Papers 17–20</a:t>
            </a:r>
          </a:p>
        </p:txBody>
      </p:sp>
      <p:graphicFrame>
        <p:nvGraphicFramePr>
          <p:cNvPr id="4" name="object 4"/>
          <p:cNvGraphicFramePr>
            <a:graphicFrameLocks noGrp="1"/>
          </p:cNvGraphicFramePr>
          <p:nvPr>
            <p:extLst>
              <p:ext uri="{D42A27DB-BD31-4B8C-83A1-F6EECF244321}">
                <p14:modId xmlns:p14="http://schemas.microsoft.com/office/powerpoint/2010/main" val="4019603171"/>
              </p:ext>
            </p:extLst>
          </p:nvPr>
        </p:nvGraphicFramePr>
        <p:xfrm>
          <a:off x="362584" y="1295272"/>
          <a:ext cx="11457304" cy="5093208"/>
        </p:xfrm>
        <a:graphic>
          <a:graphicData uri="http://schemas.openxmlformats.org/drawingml/2006/table">
            <a:tbl>
              <a:tblPr firstRow="1" bandRow="1">
                <a:tableStyleId>{2D5ABB26-0587-4C30-8999-92F81FD0307C}</a:tableStyleId>
              </a:tblPr>
              <a:tblGrid>
                <a:gridCol w="35661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3200399">
                  <a:extLst>
                    <a:ext uri="{9D8B030D-6E8A-4147-A177-3AD203B41FA5}">
                      <a16:colId xmlns:a16="http://schemas.microsoft.com/office/drawing/2014/main" val="20002"/>
                    </a:ext>
                  </a:extLst>
                </a:gridCol>
                <a:gridCol w="2861945">
                  <a:extLst>
                    <a:ext uri="{9D8B030D-6E8A-4147-A177-3AD203B41FA5}">
                      <a16:colId xmlns:a16="http://schemas.microsoft.com/office/drawing/2014/main" val="20003"/>
                    </a:ext>
                  </a:extLst>
                </a:gridCol>
              </a:tblGrid>
              <a:tr h="658368">
                <a:tc>
                  <a:txBody>
                    <a:bodyPr/>
                    <a:lstStyle/>
                    <a:p>
                      <a:pPr algn="l">
                        <a:lnSpc>
                          <a:spcPct val="100000"/>
                        </a:lnSpc>
                        <a:spcBef>
                          <a:spcPts val="0"/>
                        </a:spcBef>
                        <a:spcAft>
                          <a:spcPts val="0"/>
                        </a:spcAft>
                      </a:pPr>
                      <a:r>
                        <a:rPr sz="1000" b="1">
                          <a:solidFill>
                            <a:srgbClr val="FFFFFF"/>
                          </a:solidFill>
                          <a:latin typeface="Aptos"/>
                        </a:rPr>
                        <a:t>Paper / Year</a:t>
                      </a:r>
                      <a:endParaRPr sz="100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a:lstStyle/>
                    <a:p>
                      <a:pPr algn="l">
                        <a:lnSpc>
                          <a:spcPct val="100000"/>
                        </a:lnSpc>
                        <a:spcBef>
                          <a:spcPts val="0"/>
                        </a:spcBef>
                        <a:spcAft>
                          <a:spcPts val="0"/>
                        </a:spcAft>
                      </a:pPr>
                      <a:r>
                        <a:rPr sz="1000" b="1">
                          <a:solidFill>
                            <a:srgbClr val="FFFFFF"/>
                          </a:solidFill>
                          <a:latin typeface="Aptos"/>
                        </a:rPr>
                        <a:t>Dataset</a:t>
                      </a:r>
                      <a:endParaRPr sz="1000" dirty="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a:lstStyle/>
                    <a:p>
                      <a:pPr algn="l">
                        <a:lnSpc>
                          <a:spcPct val="100000"/>
                        </a:lnSpc>
                        <a:spcBef>
                          <a:spcPts val="0"/>
                        </a:spcBef>
                        <a:spcAft>
                          <a:spcPts val="0"/>
                        </a:spcAft>
                      </a:pPr>
                      <a:r>
                        <a:rPr sz="1000" b="1">
                          <a:solidFill>
                            <a:srgbClr val="FFFFFF"/>
                          </a:solidFill>
                          <a:latin typeface="Aptos"/>
                        </a:rPr>
                        <a:t>Methodology</a:t>
                      </a:r>
                      <a:endParaRPr sz="100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a:lstStyle/>
                    <a:p>
                      <a:pPr algn="l">
                        <a:lnSpc>
                          <a:spcPct val="100000"/>
                        </a:lnSpc>
                        <a:spcBef>
                          <a:spcPts val="0"/>
                        </a:spcBef>
                        <a:spcAft>
                          <a:spcPts val="0"/>
                        </a:spcAft>
                      </a:pPr>
                      <a:r>
                        <a:rPr sz="1000" b="1">
                          <a:solidFill>
                            <a:srgbClr val="FFFFFF"/>
                          </a:solidFill>
                          <a:latin typeface="Aptos"/>
                        </a:rPr>
                        <a:t>Limitation</a:t>
                      </a:r>
                      <a:endParaRPr sz="100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extLst>
                  <a:ext uri="{0D108BD9-81ED-4DB2-BD59-A6C34878D82A}">
                    <a16:rowId xmlns:a16="http://schemas.microsoft.com/office/drawing/2014/main" val="10000"/>
                  </a:ext>
                </a:extLst>
              </a:tr>
              <a:tr h="1097280">
                <a:tc>
                  <a:txBody>
                    <a:bodyPr/>
                    <a:lstStyle/>
                    <a:p>
                      <a:pPr marL="73025">
                        <a:lnSpc>
                          <a:spcPct val="100000"/>
                        </a:lnSpc>
                        <a:spcBef>
                          <a:spcPts val="380"/>
                        </a:spcBef>
                        <a:spcAft>
                          <a:spcPts val="100"/>
                        </a:spcAft>
                      </a:pPr>
                      <a:r>
                        <a:rPr sz="740" b="1">
                          <a:solidFill>
                            <a:srgbClr val="000000"/>
                          </a:solidFill>
                          <a:latin typeface="Aptos"/>
                        </a:rPr>
                        <a:t>17. Petar Veličković; Guillem Cucurull; Arantxa Casanova; Adriana Romero; Pietro Liò; Yoshua Bengio • 2018</a:t>
                      </a:r>
                      <a:endParaRPr sz="800" dirty="0">
                        <a:latin typeface="Calibri"/>
                        <a:cs typeface="Calibri"/>
                      </a:endParaRPr>
                    </a:p>
                    <a:p>
                      <a:pPr>
                        <a:spcBef>
                          <a:spcPts val="0"/>
                        </a:spcBef>
                        <a:spcAft>
                          <a:spcPts val="0"/>
                        </a:spcAft>
                      </a:pPr>
                      <a:r>
                        <a:rPr sz="730" b="0">
                          <a:solidFill>
                            <a:srgbClr val="000000"/>
                          </a:solidFill>
                          <a:latin typeface="Aptos"/>
                        </a:rPr>
                        <a:t>Graph Attention Networks</a:t>
                      </a: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3660" algn="l">
                        <a:lnSpc>
                          <a:spcPct val="100000"/>
                        </a:lnSpc>
                        <a:spcBef>
                          <a:spcPts val="0"/>
                        </a:spcBef>
                        <a:spcAft>
                          <a:spcPts val="0"/>
                        </a:spcAft>
                      </a:pPr>
                      <a:r>
                        <a:rPr sz="760" b="0">
                          <a:solidFill>
                            <a:srgbClr val="000000"/>
                          </a:solidFill>
                          <a:latin typeface="Aptos"/>
                        </a:rPr>
                        <a:t>Cora, Citeseer, Pubmed and protein-interaction data</a:t>
                      </a:r>
                      <a:endParaRPr sz="800" dirty="0">
                        <a:latin typeface="Calibri"/>
                        <a:cs typeface="Calibri"/>
                      </a:endParaRP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295" algn="l">
                        <a:lnSpc>
                          <a:spcPct val="100000"/>
                        </a:lnSpc>
                        <a:spcBef>
                          <a:spcPts val="0"/>
                        </a:spcBef>
                        <a:spcAft>
                          <a:spcPts val="0"/>
                        </a:spcAft>
                      </a:pPr>
                      <a:r>
                        <a:rPr sz="760" b="0">
                          <a:solidFill>
                            <a:srgbClr val="000000"/>
                          </a:solidFill>
                          <a:latin typeface="Aptos"/>
                        </a:rPr>
                        <a:t>Introduced masked self-attention so nodes assign different importance to neighboring nodes during message passing.</a:t>
                      </a:r>
                      <a:endParaRPr sz="800" dirty="0">
                        <a:latin typeface="Calibri"/>
                        <a:cs typeface="Calibri"/>
                      </a:endParaRP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930" algn="l">
                        <a:lnSpc>
                          <a:spcPct val="100000"/>
                        </a:lnSpc>
                        <a:spcBef>
                          <a:spcPts val="0"/>
                        </a:spcBef>
                        <a:spcAft>
                          <a:spcPts val="0"/>
                        </a:spcAft>
                      </a:pPr>
                      <a:r>
                        <a:rPr sz="760" b="0">
                          <a:solidFill>
                            <a:srgbClr val="000000"/>
                          </a:solidFill>
                          <a:latin typeface="Aptos"/>
                        </a:rPr>
                        <a:t>Not AML-specific; attention increases computational complexity and original evaluation was on non-financial graph benchmarks.</a:t>
                      </a:r>
                      <a:endParaRPr sz="800" dirty="0">
                        <a:latin typeface="Calibri"/>
                        <a:cs typeface="Calibri"/>
                      </a:endParaRP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1"/>
                  </a:ext>
                </a:extLst>
              </a:tr>
              <a:tr h="1097280">
                <a:tc>
                  <a:txBody>
                    <a:bodyPr/>
                    <a:lstStyle/>
                    <a:p>
                      <a:pPr marL="73025">
                        <a:lnSpc>
                          <a:spcPct val="100000"/>
                        </a:lnSpc>
                        <a:spcBef>
                          <a:spcPts val="385"/>
                        </a:spcBef>
                        <a:spcAft>
                          <a:spcPts val="100"/>
                        </a:spcAft>
                      </a:pPr>
                      <a:r>
                        <a:rPr sz="740" b="1">
                          <a:solidFill>
                            <a:srgbClr val="000000"/>
                          </a:solidFill>
                          <a:latin typeface="Aptos"/>
                        </a:rPr>
                        <a:t>18. William L. Hamilton; Rex Ying; Jure Leskovec • 2017</a:t>
                      </a:r>
                      <a:endParaRPr sz="800" dirty="0">
                        <a:latin typeface="Calibri"/>
                        <a:cs typeface="Calibri"/>
                      </a:endParaRPr>
                    </a:p>
                    <a:p>
                      <a:pPr>
                        <a:spcBef>
                          <a:spcPts val="0"/>
                        </a:spcBef>
                        <a:spcAft>
                          <a:spcPts val="0"/>
                        </a:spcAft>
                      </a:pPr>
                      <a:r>
                        <a:rPr sz="730" b="0">
                          <a:solidFill>
                            <a:srgbClr val="000000"/>
                          </a:solidFill>
                          <a:latin typeface="Aptos"/>
                        </a:rPr>
                        <a:t>Inductive Representation Learning on Large Graphs</a:t>
                      </a: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3660" algn="l">
                        <a:lnSpc>
                          <a:spcPct val="100000"/>
                        </a:lnSpc>
                        <a:spcBef>
                          <a:spcPts val="0"/>
                        </a:spcBef>
                        <a:spcAft>
                          <a:spcPts val="0"/>
                        </a:spcAft>
                      </a:pPr>
                      <a:r>
                        <a:rPr sz="760" b="0">
                          <a:solidFill>
                            <a:srgbClr val="000000"/>
                          </a:solidFill>
                          <a:latin typeface="Aptos"/>
                        </a:rPr>
                        <a:t>Reddit, citation networks and protein-protein interaction graphs</a:t>
                      </a:r>
                      <a:endParaRPr sz="800" dirty="0">
                        <a:latin typeface="Calibri"/>
                        <a:cs typeface="Calibri"/>
                      </a:endParaRP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4295" marR="313055" algn="l">
                        <a:lnSpc>
                          <a:spcPct val="100000"/>
                        </a:lnSpc>
                        <a:spcBef>
                          <a:spcPts val="0"/>
                        </a:spcBef>
                        <a:spcAft>
                          <a:spcPts val="0"/>
                        </a:spcAft>
                      </a:pPr>
                      <a:r>
                        <a:rPr sz="760" b="0">
                          <a:solidFill>
                            <a:srgbClr val="000000"/>
                          </a:solidFill>
                          <a:latin typeface="Aptos"/>
                        </a:rPr>
                        <a:t>Introduced GraphSAGE, which samples and aggregates neighborhood information to generate embeddings for unseen nodes.</a:t>
                      </a:r>
                      <a:endParaRPr sz="800" dirty="0">
                        <a:latin typeface="Calibri"/>
                        <a:cs typeface="Calibri"/>
                      </a:endParaRP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4930" marR="127000" algn="l">
                        <a:lnSpc>
                          <a:spcPct val="100000"/>
                        </a:lnSpc>
                        <a:spcBef>
                          <a:spcPts val="0"/>
                        </a:spcBef>
                        <a:spcAft>
                          <a:spcPts val="0"/>
                        </a:spcAft>
                      </a:pPr>
                      <a:r>
                        <a:rPr sz="760" b="0">
                          <a:solidFill>
                            <a:srgbClr val="000000"/>
                          </a:solidFill>
                          <a:latin typeface="Aptos"/>
                        </a:rPr>
                        <a:t>Not AML-specific; neighborhood sampling can lose information and performance depends on sampling strategy.</a:t>
                      </a:r>
                      <a:endParaRPr sz="800" dirty="0">
                        <a:latin typeface="Calibri"/>
                        <a:cs typeface="Calibri"/>
                      </a:endParaRP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extLst>
                  <a:ext uri="{0D108BD9-81ED-4DB2-BD59-A6C34878D82A}">
                    <a16:rowId xmlns:a16="http://schemas.microsoft.com/office/drawing/2014/main" val="10002"/>
                  </a:ext>
                </a:extLst>
              </a:tr>
              <a:tr h="1097280">
                <a:tc>
                  <a:txBody>
                    <a:bodyPr/>
                    <a:lstStyle/>
                    <a:p>
                      <a:pPr marL="73025" marR="91440">
                        <a:lnSpc>
                          <a:spcPct val="100000"/>
                        </a:lnSpc>
                        <a:spcBef>
                          <a:spcPts val="390"/>
                        </a:spcBef>
                        <a:spcAft>
                          <a:spcPts val="100"/>
                        </a:spcAft>
                      </a:pPr>
                      <a:r>
                        <a:rPr sz="740" b="1">
                          <a:solidFill>
                            <a:srgbClr val="000000"/>
                          </a:solidFill>
                          <a:latin typeface="Aptos"/>
                        </a:rPr>
                        <a:t>19. Keyulu Xu; Weihua Hu; Jure Leskovec; Stefanie Jegelka • 2019</a:t>
                      </a:r>
                      <a:endParaRPr sz="800" dirty="0">
                        <a:latin typeface="Calibri"/>
                        <a:cs typeface="Calibri"/>
                      </a:endParaRPr>
                    </a:p>
                    <a:p>
                      <a:pPr>
                        <a:spcBef>
                          <a:spcPts val="0"/>
                        </a:spcBef>
                        <a:spcAft>
                          <a:spcPts val="0"/>
                        </a:spcAft>
                      </a:pPr>
                      <a:r>
                        <a:rPr sz="730" b="0">
                          <a:solidFill>
                            <a:srgbClr val="000000"/>
                          </a:solidFill>
                          <a:latin typeface="Aptos"/>
                        </a:rPr>
                        <a:t>How Powerful Are Graph Neural Networks?</a:t>
                      </a: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3660" algn="l">
                        <a:lnSpc>
                          <a:spcPct val="100000"/>
                        </a:lnSpc>
                        <a:spcBef>
                          <a:spcPts val="0"/>
                        </a:spcBef>
                        <a:spcAft>
                          <a:spcPts val="0"/>
                        </a:spcAft>
                      </a:pPr>
                      <a:r>
                        <a:rPr sz="760" b="0">
                          <a:solidFill>
                            <a:srgbClr val="000000"/>
                          </a:solidFill>
                          <a:latin typeface="Aptos"/>
                        </a:rPr>
                        <a:t>Graph classification benchmark datasets</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295" marR="271780" algn="l">
                        <a:lnSpc>
                          <a:spcPct val="100000"/>
                        </a:lnSpc>
                        <a:spcBef>
                          <a:spcPts val="0"/>
                        </a:spcBef>
                        <a:spcAft>
                          <a:spcPts val="0"/>
                        </a:spcAft>
                      </a:pPr>
                      <a:r>
                        <a:rPr sz="760" b="0">
                          <a:solidFill>
                            <a:srgbClr val="000000"/>
                          </a:solidFill>
                          <a:latin typeface="Aptos"/>
                        </a:rPr>
                        <a:t>Developed the GIN architecture and a theoretical framework for GNN expressive power.</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930" marR="247015" algn="l">
                        <a:lnSpc>
                          <a:spcPct val="100000"/>
                        </a:lnSpc>
                        <a:spcBef>
                          <a:spcPts val="0"/>
                        </a:spcBef>
                        <a:spcAft>
                          <a:spcPts val="0"/>
                        </a:spcAft>
                      </a:pPr>
                      <a:r>
                        <a:rPr sz="760" b="0">
                          <a:solidFill>
                            <a:srgbClr val="000000"/>
                          </a:solidFill>
                          <a:latin typeface="Aptos"/>
                        </a:rPr>
                        <a:t>Theoretical expressiveness does not guarantee the best real-world AML performance; not designed specifically for financial transactions.</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3"/>
                  </a:ext>
                </a:extLst>
              </a:tr>
              <a:tr h="1097280">
                <a:tc>
                  <a:txBody>
                    <a:bodyPr/>
                    <a:lstStyle/>
                    <a:p>
                      <a:pPr marL="73025">
                        <a:lnSpc>
                          <a:spcPct val="100000"/>
                        </a:lnSpc>
                        <a:spcBef>
                          <a:spcPts val="390"/>
                        </a:spcBef>
                        <a:spcAft>
                          <a:spcPts val="100"/>
                        </a:spcAft>
                      </a:pPr>
                      <a:r>
                        <a:rPr sz="740" b="1">
                          <a:solidFill>
                            <a:srgbClr val="000000"/>
                          </a:solidFill>
                          <a:latin typeface="Aptos"/>
                        </a:rPr>
                        <a:t>20. Jie Zhou; Ganqu Cui; Shengding Hu; Zhengyan Zhang; Cheng Yang; Zhiyuan Liu; Lifeng Wang; Changcheng Li; Maosong Sun • 2020</a:t>
                      </a:r>
                      <a:endParaRPr sz="800" dirty="0">
                        <a:latin typeface="Calibri"/>
                        <a:cs typeface="Calibri"/>
                      </a:endParaRPr>
                    </a:p>
                    <a:p>
                      <a:pPr>
                        <a:spcBef>
                          <a:spcPts val="0"/>
                        </a:spcBef>
                        <a:spcAft>
                          <a:spcPts val="0"/>
                        </a:spcAft>
                      </a:pPr>
                      <a:r>
                        <a:rPr sz="730" b="0">
                          <a:solidFill>
                            <a:srgbClr val="000000"/>
                          </a:solidFill>
                          <a:latin typeface="Aptos"/>
                        </a:rPr>
                        <a:t>Graph Neural Networks: A Review of Methods and Applications</a:t>
                      </a: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3660" algn="l">
                        <a:lnSpc>
                          <a:spcPct val="100000"/>
                        </a:lnSpc>
                        <a:spcBef>
                          <a:spcPts val="0"/>
                        </a:spcBef>
                        <a:spcAft>
                          <a:spcPts val="0"/>
                        </a:spcAft>
                      </a:pPr>
                      <a:r>
                        <a:rPr sz="760" b="0">
                          <a:solidFill>
                            <a:srgbClr val="000000"/>
                          </a:solidFill>
                          <a:latin typeface="Aptos"/>
                        </a:rPr>
                        <a:t>Multiple graph datasets from prior GNN research</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4295" algn="l">
                        <a:lnSpc>
                          <a:spcPct val="100000"/>
                        </a:lnSpc>
                        <a:spcBef>
                          <a:spcPts val="0"/>
                        </a:spcBef>
                        <a:spcAft>
                          <a:spcPts val="0"/>
                        </a:spcAft>
                      </a:pPr>
                      <a:r>
                        <a:rPr sz="760" b="0">
                          <a:solidFill>
                            <a:srgbClr val="000000"/>
                          </a:solidFill>
                          <a:latin typeface="Aptos"/>
                        </a:rPr>
                        <a:t>Surveyed GNN architectures, message-passing strategies, training methods and applications.</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4930" marR="84455" algn="l">
                        <a:lnSpc>
                          <a:spcPct val="100000"/>
                        </a:lnSpc>
                        <a:spcBef>
                          <a:spcPts val="0"/>
                        </a:spcBef>
                        <a:spcAft>
                          <a:spcPts val="0"/>
                        </a:spcAft>
                      </a:pPr>
                      <a:r>
                        <a:rPr sz="760" b="0">
                          <a:solidFill>
                            <a:srgbClr val="000000"/>
                          </a:solidFill>
                          <a:latin typeface="Aptos"/>
                        </a:rPr>
                        <a:t>Broad survey scope means AML-specific evidence is limited; it does not experimentally evaluate an AML detector.</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extLst>
                  <a:ext uri="{0D108BD9-81ED-4DB2-BD59-A6C34878D82A}">
                    <a16:rowId xmlns:a16="http://schemas.microsoft.com/office/drawing/2014/main" val="10004"/>
                  </a:ext>
                </a:extLst>
              </a:tr>
              <a:tr h="0">
                <a:tc>
                  <a:txBody>
                    <a:bodyPr/>
                    <a:lstStyle/>
                    <a:p>
                      <a:pPr marL="73025" marR="99060">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3660" marR="110489">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295" marR="200660">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930" marR="171450" algn="just">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r>
              <a:rPr sz="1600" b="1">
                <a:solidFill>
                  <a:srgbClr val="FFFFFF"/>
                </a:solidFill>
                <a:latin typeface="Aptos Display"/>
              </a:rPr>
              <a:t>LITERATURE REVIEW • PART 6</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r>
              <a:rPr sz="700"/>
              <a:t>10</a:t>
            </a:r>
          </a:p>
        </p:txBody>
      </p:sp>
      <p:sp>
        <p:nvSpPr>
          <p:cNvPr id="3" name="object 3"/>
          <p:cNvSpPr txBox="1"/>
          <p:nvPr/>
        </p:nvSpPr>
        <p:spPr>
          <a:xfrm>
            <a:off x="5682488" y="933449"/>
            <a:ext cx="828040" cy="201295"/>
          </a:xfrm>
          <a:prstGeom prst="rect">
            <a:avLst/>
          </a:prstGeom>
        </p:spPr>
        <p:txBody>
          <a:bodyPr vert="horz" wrap="square" lIns="0" tIns="12700" rIns="0" bIns="0" rtlCol="0">
            <a:spAutoFit/>
          </a:bodyPr>
          <a:lstStyle/>
          <a:p>
            <a:pPr algn="ctr"/>
            <a:r>
              <a:rPr sz="1000" b="1">
                <a:solidFill>
                  <a:srgbClr val="C00000"/>
                </a:solidFill>
              </a:rPr>
              <a:t>Papers 21–24</a:t>
            </a:r>
          </a:p>
        </p:txBody>
      </p:sp>
      <p:graphicFrame>
        <p:nvGraphicFramePr>
          <p:cNvPr id="4" name="object 4"/>
          <p:cNvGraphicFramePr>
            <a:graphicFrameLocks noGrp="1"/>
          </p:cNvGraphicFramePr>
          <p:nvPr>
            <p:extLst>
              <p:ext uri="{D42A27DB-BD31-4B8C-83A1-F6EECF244321}">
                <p14:modId xmlns:p14="http://schemas.microsoft.com/office/powerpoint/2010/main" val="4019603171"/>
              </p:ext>
            </p:extLst>
          </p:nvPr>
        </p:nvGraphicFramePr>
        <p:xfrm>
          <a:off x="362584" y="1295272"/>
          <a:ext cx="11457304" cy="5093208"/>
        </p:xfrm>
        <a:graphic>
          <a:graphicData uri="http://schemas.openxmlformats.org/drawingml/2006/table">
            <a:tbl>
              <a:tblPr firstRow="1" bandRow="1">
                <a:tableStyleId>{2D5ABB26-0587-4C30-8999-92F81FD0307C}</a:tableStyleId>
              </a:tblPr>
              <a:tblGrid>
                <a:gridCol w="35661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3200399">
                  <a:extLst>
                    <a:ext uri="{9D8B030D-6E8A-4147-A177-3AD203B41FA5}">
                      <a16:colId xmlns:a16="http://schemas.microsoft.com/office/drawing/2014/main" val="20002"/>
                    </a:ext>
                  </a:extLst>
                </a:gridCol>
                <a:gridCol w="2861945">
                  <a:extLst>
                    <a:ext uri="{9D8B030D-6E8A-4147-A177-3AD203B41FA5}">
                      <a16:colId xmlns:a16="http://schemas.microsoft.com/office/drawing/2014/main" val="20003"/>
                    </a:ext>
                  </a:extLst>
                </a:gridCol>
              </a:tblGrid>
              <a:tr h="658368">
                <a:tc>
                  <a:txBody>
                    <a:bodyPr/>
                    <a:lstStyle/>
                    <a:p>
                      <a:pPr algn="l">
                        <a:lnSpc>
                          <a:spcPct val="100000"/>
                        </a:lnSpc>
                        <a:spcBef>
                          <a:spcPts val="0"/>
                        </a:spcBef>
                        <a:spcAft>
                          <a:spcPts val="0"/>
                        </a:spcAft>
                      </a:pPr>
                      <a:r>
                        <a:rPr sz="1000" b="1">
                          <a:solidFill>
                            <a:srgbClr val="FFFFFF"/>
                          </a:solidFill>
                          <a:latin typeface="Aptos"/>
                        </a:rPr>
                        <a:t>Paper / Year</a:t>
                      </a:r>
                      <a:endParaRPr sz="100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a:lstStyle/>
                    <a:p>
                      <a:pPr algn="l">
                        <a:lnSpc>
                          <a:spcPct val="100000"/>
                        </a:lnSpc>
                        <a:spcBef>
                          <a:spcPts val="0"/>
                        </a:spcBef>
                        <a:spcAft>
                          <a:spcPts val="0"/>
                        </a:spcAft>
                      </a:pPr>
                      <a:r>
                        <a:rPr sz="1000" b="1">
                          <a:solidFill>
                            <a:srgbClr val="FFFFFF"/>
                          </a:solidFill>
                          <a:latin typeface="Aptos"/>
                        </a:rPr>
                        <a:t>Dataset</a:t>
                      </a:r>
                      <a:endParaRPr sz="1000" dirty="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a:lstStyle/>
                    <a:p>
                      <a:pPr algn="l">
                        <a:lnSpc>
                          <a:spcPct val="100000"/>
                        </a:lnSpc>
                        <a:spcBef>
                          <a:spcPts val="0"/>
                        </a:spcBef>
                        <a:spcAft>
                          <a:spcPts val="0"/>
                        </a:spcAft>
                      </a:pPr>
                      <a:r>
                        <a:rPr sz="1000" b="1">
                          <a:solidFill>
                            <a:srgbClr val="FFFFFF"/>
                          </a:solidFill>
                          <a:latin typeface="Aptos"/>
                        </a:rPr>
                        <a:t>Methodology</a:t>
                      </a:r>
                      <a:endParaRPr sz="100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a:lstStyle/>
                    <a:p>
                      <a:pPr algn="l">
                        <a:lnSpc>
                          <a:spcPct val="100000"/>
                        </a:lnSpc>
                        <a:spcBef>
                          <a:spcPts val="0"/>
                        </a:spcBef>
                        <a:spcAft>
                          <a:spcPts val="0"/>
                        </a:spcAft>
                      </a:pPr>
                      <a:r>
                        <a:rPr sz="1000" b="1">
                          <a:solidFill>
                            <a:srgbClr val="FFFFFF"/>
                          </a:solidFill>
                          <a:latin typeface="Aptos"/>
                        </a:rPr>
                        <a:t>Limitation</a:t>
                      </a:r>
                      <a:endParaRPr sz="100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extLst>
                  <a:ext uri="{0D108BD9-81ED-4DB2-BD59-A6C34878D82A}">
                    <a16:rowId xmlns:a16="http://schemas.microsoft.com/office/drawing/2014/main" val="10000"/>
                  </a:ext>
                </a:extLst>
              </a:tr>
              <a:tr h="1097280">
                <a:tc>
                  <a:txBody>
                    <a:bodyPr/>
                    <a:lstStyle/>
                    <a:p>
                      <a:pPr marL="73025">
                        <a:lnSpc>
                          <a:spcPct val="100000"/>
                        </a:lnSpc>
                        <a:spcBef>
                          <a:spcPts val="380"/>
                        </a:spcBef>
                        <a:spcAft>
                          <a:spcPts val="100"/>
                        </a:spcAft>
                      </a:pPr>
                      <a:r>
                        <a:rPr sz="740" b="1">
                          <a:solidFill>
                            <a:srgbClr val="000000"/>
                          </a:solidFill>
                          <a:latin typeface="Aptos"/>
                        </a:rPr>
                        <a:t>21. Ziwei Zhang; Peng Cui; Wenwu Zhu • 2018</a:t>
                      </a:r>
                      <a:endParaRPr sz="800" dirty="0">
                        <a:latin typeface="Calibri"/>
                        <a:cs typeface="Calibri"/>
                      </a:endParaRPr>
                    </a:p>
                    <a:p>
                      <a:pPr>
                        <a:spcBef>
                          <a:spcPts val="0"/>
                        </a:spcBef>
                        <a:spcAft>
                          <a:spcPts val="0"/>
                        </a:spcAft>
                      </a:pPr>
                      <a:r>
                        <a:rPr sz="730" b="0">
                          <a:solidFill>
                            <a:srgbClr val="000000"/>
                          </a:solidFill>
                          <a:latin typeface="Aptos"/>
                        </a:rPr>
                        <a:t>Deep Learning on Graphs: A Survey</a:t>
                      </a: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3660" algn="l">
                        <a:lnSpc>
                          <a:spcPct val="100000"/>
                        </a:lnSpc>
                        <a:spcBef>
                          <a:spcPts val="0"/>
                        </a:spcBef>
                        <a:spcAft>
                          <a:spcPts val="0"/>
                        </a:spcAft>
                      </a:pPr>
                      <a:r>
                        <a:rPr sz="760" b="0">
                          <a:solidFill>
                            <a:srgbClr val="000000"/>
                          </a:solidFill>
                          <a:latin typeface="Aptos"/>
                        </a:rPr>
                        <a:t>Multiple graph datasets from prior studies</a:t>
                      </a:r>
                      <a:endParaRPr sz="800" dirty="0">
                        <a:latin typeface="Calibri"/>
                        <a:cs typeface="Calibri"/>
                      </a:endParaRP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295" algn="l">
                        <a:lnSpc>
                          <a:spcPct val="100000"/>
                        </a:lnSpc>
                        <a:spcBef>
                          <a:spcPts val="0"/>
                        </a:spcBef>
                        <a:spcAft>
                          <a:spcPts val="0"/>
                        </a:spcAft>
                      </a:pPr>
                      <a:r>
                        <a:rPr sz="760" b="0">
                          <a:solidFill>
                            <a:srgbClr val="000000"/>
                          </a:solidFill>
                          <a:latin typeface="Aptos"/>
                        </a:rPr>
                        <a:t>Reviewed graph recurrent networks, graph convolutional networks, graph autoencoders, graph reinforcement learning and graph adversarial methods.</a:t>
                      </a:r>
                      <a:endParaRPr sz="800" dirty="0">
                        <a:latin typeface="Calibri"/>
                        <a:cs typeface="Calibri"/>
                      </a:endParaRP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930" algn="l">
                        <a:lnSpc>
                          <a:spcPct val="100000"/>
                        </a:lnSpc>
                        <a:spcBef>
                          <a:spcPts val="0"/>
                        </a:spcBef>
                        <a:spcAft>
                          <a:spcPts val="0"/>
                        </a:spcAft>
                      </a:pPr>
                      <a:r>
                        <a:rPr sz="760" b="0">
                          <a:solidFill>
                            <a:srgbClr val="000000"/>
                          </a:solidFill>
                          <a:latin typeface="Aptos"/>
                        </a:rPr>
                        <a:t>Broad survey rather than AML-specific experimentation; financial transaction constraints are not the main focus.</a:t>
                      </a:r>
                      <a:endParaRPr sz="800" dirty="0">
                        <a:latin typeface="Calibri"/>
                        <a:cs typeface="Calibri"/>
                      </a:endParaRP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1"/>
                  </a:ext>
                </a:extLst>
              </a:tr>
              <a:tr h="1097280">
                <a:tc>
                  <a:txBody>
                    <a:bodyPr/>
                    <a:lstStyle/>
                    <a:p>
                      <a:pPr marL="73025">
                        <a:lnSpc>
                          <a:spcPct val="100000"/>
                        </a:lnSpc>
                        <a:spcBef>
                          <a:spcPts val="385"/>
                        </a:spcBef>
                        <a:spcAft>
                          <a:spcPts val="100"/>
                        </a:spcAft>
                      </a:pPr>
                      <a:r>
                        <a:rPr sz="740" b="1">
                          <a:solidFill>
                            <a:srgbClr val="000000"/>
                          </a:solidFill>
                          <a:latin typeface="Aptos"/>
                        </a:rPr>
                        <a:t>22. Shirui Pan et al. • 2020</a:t>
                      </a:r>
                      <a:endParaRPr sz="800" dirty="0">
                        <a:latin typeface="Calibri"/>
                        <a:cs typeface="Calibri"/>
                      </a:endParaRPr>
                    </a:p>
                    <a:p>
                      <a:pPr>
                        <a:spcBef>
                          <a:spcPts val="0"/>
                        </a:spcBef>
                        <a:spcAft>
                          <a:spcPts val="0"/>
                        </a:spcAft>
                      </a:pPr>
                      <a:r>
                        <a:rPr sz="730" b="0">
                          <a:solidFill>
                            <a:srgbClr val="000000"/>
                          </a:solidFill>
                          <a:latin typeface="Aptos"/>
                        </a:rPr>
                        <a:t>A Comprehensive Survey on Graph Neural Networks</a:t>
                      </a: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3660" algn="l">
                        <a:lnSpc>
                          <a:spcPct val="100000"/>
                        </a:lnSpc>
                        <a:spcBef>
                          <a:spcPts val="0"/>
                        </a:spcBef>
                        <a:spcAft>
                          <a:spcPts val="0"/>
                        </a:spcAft>
                      </a:pPr>
                      <a:r>
                        <a:rPr sz="760" b="0">
                          <a:solidFill>
                            <a:srgbClr val="000000"/>
                          </a:solidFill>
                          <a:latin typeface="Aptos"/>
                        </a:rPr>
                        <a:t>Multiple benchmark graph datasets</a:t>
                      </a:r>
                      <a:endParaRPr sz="800" dirty="0">
                        <a:latin typeface="Calibri"/>
                        <a:cs typeface="Calibri"/>
                      </a:endParaRP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4295" marR="313055" algn="l">
                        <a:lnSpc>
                          <a:spcPct val="100000"/>
                        </a:lnSpc>
                        <a:spcBef>
                          <a:spcPts val="0"/>
                        </a:spcBef>
                        <a:spcAft>
                          <a:spcPts val="0"/>
                        </a:spcAft>
                      </a:pPr>
                      <a:r>
                        <a:rPr sz="760" b="0">
                          <a:solidFill>
                            <a:srgbClr val="000000"/>
                          </a:solidFill>
                          <a:latin typeface="Aptos"/>
                        </a:rPr>
                        <a:t>Presented a taxonomy covering recurrent, convolutional, graph autoencoder and spatial-temporal GNN families and their applications.</a:t>
                      </a:r>
                      <a:endParaRPr sz="800" dirty="0">
                        <a:latin typeface="Calibri"/>
                        <a:cs typeface="Calibri"/>
                      </a:endParaRP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4930" marR="127000" algn="l">
                        <a:lnSpc>
                          <a:spcPct val="100000"/>
                        </a:lnSpc>
                        <a:spcBef>
                          <a:spcPts val="0"/>
                        </a:spcBef>
                        <a:spcAft>
                          <a:spcPts val="0"/>
                        </a:spcAft>
                      </a:pPr>
                      <a:r>
                        <a:rPr sz="760" b="0">
                          <a:solidFill>
                            <a:srgbClr val="000000"/>
                          </a:solidFill>
                          <a:latin typeface="Aptos"/>
                        </a:rPr>
                        <a:t>General-purpose survey; limited direct discussion of AML datasets, financial constraints and deployment.</a:t>
                      </a:r>
                      <a:endParaRPr sz="800" dirty="0">
                        <a:latin typeface="Calibri"/>
                        <a:cs typeface="Calibri"/>
                      </a:endParaRP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extLst>
                  <a:ext uri="{0D108BD9-81ED-4DB2-BD59-A6C34878D82A}">
                    <a16:rowId xmlns:a16="http://schemas.microsoft.com/office/drawing/2014/main" val="10002"/>
                  </a:ext>
                </a:extLst>
              </a:tr>
              <a:tr h="1097280">
                <a:tc>
                  <a:txBody>
                    <a:bodyPr/>
                    <a:lstStyle/>
                    <a:p>
                      <a:pPr marL="73025" marR="91440">
                        <a:lnSpc>
                          <a:spcPct val="100000"/>
                        </a:lnSpc>
                        <a:spcBef>
                          <a:spcPts val="390"/>
                        </a:spcBef>
                        <a:spcAft>
                          <a:spcPts val="100"/>
                        </a:spcAft>
                      </a:pPr>
                      <a:r>
                        <a:rPr sz="740" b="1">
                          <a:solidFill>
                            <a:srgbClr val="000000"/>
                          </a:solidFill>
                          <a:latin typeface="Aptos"/>
                        </a:rPr>
                        <a:t>23. Dawei Cheng; Yao Zou; Sheng Xiang; Changjun Jiang • 2025</a:t>
                      </a:r>
                      <a:endParaRPr sz="800" dirty="0">
                        <a:latin typeface="Calibri"/>
                        <a:cs typeface="Calibri"/>
                      </a:endParaRPr>
                    </a:p>
                    <a:p>
                      <a:pPr>
                        <a:spcBef>
                          <a:spcPts val="0"/>
                        </a:spcBef>
                        <a:spcAft>
                          <a:spcPts val="0"/>
                        </a:spcAft>
                      </a:pPr>
                      <a:r>
                        <a:rPr sz="730" b="0">
                          <a:solidFill>
                            <a:srgbClr val="000000"/>
                          </a:solidFill>
                          <a:latin typeface="Aptos"/>
                        </a:rPr>
                        <a:t>Graph Learning-Empowered Financial Fraud Detection: Progress and Future Directions</a:t>
                      </a: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3660" algn="l">
                        <a:lnSpc>
                          <a:spcPct val="100000"/>
                        </a:lnSpc>
                        <a:spcBef>
                          <a:spcPts val="0"/>
                        </a:spcBef>
                        <a:spcAft>
                          <a:spcPts val="0"/>
                        </a:spcAft>
                      </a:pPr>
                      <a:r>
                        <a:rPr sz="760" b="0">
                          <a:solidFill>
                            <a:srgbClr val="000000"/>
                          </a:solidFill>
                          <a:latin typeface="Aptos"/>
                        </a:rPr>
                        <a:t>Multiple financial fraud datasets from literature</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295" marR="271780" algn="l">
                        <a:lnSpc>
                          <a:spcPct val="100000"/>
                        </a:lnSpc>
                        <a:spcBef>
                          <a:spcPts val="0"/>
                        </a:spcBef>
                        <a:spcAft>
                          <a:spcPts val="0"/>
                        </a:spcAft>
                      </a:pPr>
                      <a:r>
                        <a:rPr sz="760" b="0">
                          <a:solidFill>
                            <a:srgbClr val="000000"/>
                          </a:solidFill>
                          <a:latin typeface="Aptos"/>
                        </a:rPr>
                        <a:t>Surveyed graph learning methods for financial fraud, emphasizing relational structure, transaction networks, heterogeneous/dynamic graphs and future research directions.</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930" marR="247015" algn="l">
                        <a:lnSpc>
                          <a:spcPct val="100000"/>
                        </a:lnSpc>
                        <a:spcBef>
                          <a:spcPts val="0"/>
                        </a:spcBef>
                        <a:spcAft>
                          <a:spcPts val="0"/>
                        </a:spcAft>
                      </a:pPr>
                      <a:r>
                        <a:rPr sz="760" b="0">
                          <a:solidFill>
                            <a:srgbClr val="000000"/>
                          </a:solidFill>
                          <a:latin typeface="Aptos"/>
                        </a:rPr>
                        <a:t>Review paper; practical deployment, data privacy and benchmarking across proprietary datasets remain open challenges.</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3"/>
                  </a:ext>
                </a:extLst>
              </a:tr>
              <a:tr h="1097280">
                <a:tc>
                  <a:txBody>
                    <a:bodyPr/>
                    <a:lstStyle/>
                    <a:p>
                      <a:pPr marL="73025">
                        <a:lnSpc>
                          <a:spcPct val="100000"/>
                        </a:lnSpc>
                        <a:spcBef>
                          <a:spcPts val="390"/>
                        </a:spcBef>
                        <a:spcAft>
                          <a:spcPts val="100"/>
                        </a:spcAft>
                      </a:pPr>
                      <a:r>
                        <a:rPr sz="740" b="1">
                          <a:solidFill>
                            <a:srgbClr val="000000"/>
                          </a:solidFill>
                          <a:latin typeface="Aptos"/>
                        </a:rPr>
                        <a:t>24. Dawei Cheng; Yao Zou; Sheng Xiang; Changjun Jiang • 2025</a:t>
                      </a:r>
                      <a:endParaRPr sz="800" dirty="0">
                        <a:latin typeface="Calibri"/>
                        <a:cs typeface="Calibri"/>
                      </a:endParaRPr>
                    </a:p>
                    <a:p>
                      <a:pPr>
                        <a:spcBef>
                          <a:spcPts val="0"/>
                        </a:spcBef>
                        <a:spcAft>
                          <a:spcPts val="0"/>
                        </a:spcAft>
                      </a:pPr>
                      <a:r>
                        <a:rPr sz="730" b="0">
                          <a:solidFill>
                            <a:srgbClr val="000000"/>
                          </a:solidFill>
                          <a:latin typeface="Aptos"/>
                        </a:rPr>
                        <a:t>Graph Neural Networks for Financial Fraud Detection: A Review (extended/revised source)</a:t>
                      </a: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3660" algn="l">
                        <a:lnSpc>
                          <a:spcPct val="100000"/>
                        </a:lnSpc>
                        <a:spcBef>
                          <a:spcPts val="0"/>
                        </a:spcBef>
                        <a:spcAft>
                          <a:spcPts val="0"/>
                        </a:spcAft>
                      </a:pPr>
                      <a:r>
                        <a:rPr sz="760" b="0">
                          <a:solidFill>
                            <a:srgbClr val="000000"/>
                          </a:solidFill>
                          <a:latin typeface="Aptos"/>
                        </a:rPr>
                        <a:t>Multiple financial fraud datasets from prior studies</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4295" algn="l">
                        <a:lnSpc>
                          <a:spcPct val="100000"/>
                        </a:lnSpc>
                        <a:spcBef>
                          <a:spcPts val="0"/>
                        </a:spcBef>
                        <a:spcAft>
                          <a:spcPts val="0"/>
                        </a:spcAft>
                      </a:pPr>
                      <a:r>
                        <a:rPr sz="760" b="0">
                          <a:solidFill>
                            <a:srgbClr val="000000"/>
                          </a:solidFill>
                          <a:latin typeface="Aptos"/>
                        </a:rPr>
                        <a:t>Organized GNN research by graph type, learning paradigm, fraud type and deployment considerations, with discussion of open problems.</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4930" marR="84455" algn="l">
                        <a:lnSpc>
                          <a:spcPct val="100000"/>
                        </a:lnSpc>
                        <a:spcBef>
                          <a:spcPts val="0"/>
                        </a:spcBef>
                        <a:spcAft>
                          <a:spcPts val="0"/>
                        </a:spcAft>
                      </a:pPr>
                      <a:r>
                        <a:rPr sz="760" b="0">
                          <a:solidFill>
                            <a:srgbClr val="000000"/>
                          </a:solidFill>
                          <a:latin typeface="Aptos"/>
                        </a:rPr>
                        <a:t>Broad review; not a new detector and it cannot resolve the lack of high-quality public real-world AML labels.</a:t>
                      </a: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extLst>
                  <a:ext uri="{0D108BD9-81ED-4DB2-BD59-A6C34878D82A}">
                    <a16:rowId xmlns:a16="http://schemas.microsoft.com/office/drawing/2014/main" val="10004"/>
                  </a:ext>
                </a:extLst>
              </a:tr>
              <a:tr h="0">
                <a:tc>
                  <a:txBody>
                    <a:bodyPr/>
                    <a:lstStyle/>
                    <a:p>
                      <a:pPr marL="73025" marR="99060">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3660" marR="110489">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295" marR="200660">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930" marR="171450" algn="just">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r>
              <a:rPr sz="1600" b="1">
                <a:solidFill>
                  <a:srgbClr val="FFFFFF"/>
                </a:solidFill>
                <a:latin typeface="Aptos Display"/>
              </a:rPr>
              <a:t>LITERATURE REVIEW • PART 7</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r>
              <a:rPr sz="700"/>
              <a:t>11</a:t>
            </a:r>
          </a:p>
        </p:txBody>
      </p:sp>
      <p:sp>
        <p:nvSpPr>
          <p:cNvPr id="3" name="object 3"/>
          <p:cNvSpPr txBox="1"/>
          <p:nvPr/>
        </p:nvSpPr>
        <p:spPr>
          <a:xfrm>
            <a:off x="5682488" y="933449"/>
            <a:ext cx="828040" cy="201295"/>
          </a:xfrm>
          <a:prstGeom prst="rect">
            <a:avLst/>
          </a:prstGeom>
        </p:spPr>
        <p:txBody>
          <a:bodyPr vert="horz" wrap="square" lIns="0" tIns="12700" rIns="0" bIns="0" rtlCol="0">
            <a:spAutoFit/>
          </a:bodyPr>
          <a:lstStyle/>
          <a:p>
            <a:pPr algn="ctr"/>
            <a:r>
              <a:rPr sz="1000" b="1">
                <a:solidFill>
                  <a:srgbClr val="C00000"/>
                </a:solidFill>
              </a:rPr>
              <a:t>Papers 25–26</a:t>
            </a:r>
          </a:p>
        </p:txBody>
      </p:sp>
      <p:graphicFrame>
        <p:nvGraphicFramePr>
          <p:cNvPr id="4" name="object 4"/>
          <p:cNvGraphicFramePr>
            <a:graphicFrameLocks noGrp="1"/>
          </p:cNvGraphicFramePr>
          <p:nvPr>
            <p:extLst>
              <p:ext uri="{D42A27DB-BD31-4B8C-83A1-F6EECF244321}">
                <p14:modId xmlns:p14="http://schemas.microsoft.com/office/powerpoint/2010/main" val="4019603171"/>
              </p:ext>
            </p:extLst>
          </p:nvPr>
        </p:nvGraphicFramePr>
        <p:xfrm>
          <a:off x="362584" y="1295272"/>
          <a:ext cx="11457304" cy="4910328"/>
        </p:xfrm>
        <a:graphic>
          <a:graphicData uri="http://schemas.openxmlformats.org/drawingml/2006/table">
            <a:tbl>
              <a:tblPr firstRow="1" bandRow="1">
                <a:tableStyleId>{2D5ABB26-0587-4C30-8999-92F81FD0307C}</a:tableStyleId>
              </a:tblPr>
              <a:tblGrid>
                <a:gridCol w="35661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3200399">
                  <a:extLst>
                    <a:ext uri="{9D8B030D-6E8A-4147-A177-3AD203B41FA5}">
                      <a16:colId xmlns:a16="http://schemas.microsoft.com/office/drawing/2014/main" val="20002"/>
                    </a:ext>
                  </a:extLst>
                </a:gridCol>
                <a:gridCol w="2861945">
                  <a:extLst>
                    <a:ext uri="{9D8B030D-6E8A-4147-A177-3AD203B41FA5}">
                      <a16:colId xmlns:a16="http://schemas.microsoft.com/office/drawing/2014/main" val="20003"/>
                    </a:ext>
                  </a:extLst>
                </a:gridCol>
              </a:tblGrid>
              <a:tr h="658368">
                <a:tc>
                  <a:txBody>
                    <a:bodyPr/>
                    <a:lstStyle/>
                    <a:p>
                      <a:pPr algn="l">
                        <a:lnSpc>
                          <a:spcPct val="100000"/>
                        </a:lnSpc>
                        <a:spcBef>
                          <a:spcPts val="0"/>
                        </a:spcBef>
                        <a:spcAft>
                          <a:spcPts val="0"/>
                        </a:spcAft>
                      </a:pPr>
                      <a:r>
                        <a:rPr sz="1000" b="1">
                          <a:solidFill>
                            <a:srgbClr val="FFFFFF"/>
                          </a:solidFill>
                          <a:latin typeface="Aptos"/>
                        </a:rPr>
                        <a:t>Paper / Year</a:t>
                      </a:r>
                      <a:endParaRPr sz="100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a:lstStyle/>
                    <a:p>
                      <a:pPr algn="l">
                        <a:lnSpc>
                          <a:spcPct val="100000"/>
                        </a:lnSpc>
                        <a:spcBef>
                          <a:spcPts val="0"/>
                        </a:spcBef>
                        <a:spcAft>
                          <a:spcPts val="0"/>
                        </a:spcAft>
                      </a:pPr>
                      <a:r>
                        <a:rPr sz="1000" b="1">
                          <a:solidFill>
                            <a:srgbClr val="FFFFFF"/>
                          </a:solidFill>
                          <a:latin typeface="Aptos"/>
                        </a:rPr>
                        <a:t>Dataset</a:t>
                      </a:r>
                      <a:endParaRPr sz="1000" dirty="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a:lstStyle/>
                    <a:p>
                      <a:pPr algn="l">
                        <a:lnSpc>
                          <a:spcPct val="100000"/>
                        </a:lnSpc>
                        <a:spcBef>
                          <a:spcPts val="0"/>
                        </a:spcBef>
                        <a:spcAft>
                          <a:spcPts val="0"/>
                        </a:spcAft>
                      </a:pPr>
                      <a:r>
                        <a:rPr sz="1000" b="1">
                          <a:solidFill>
                            <a:srgbClr val="FFFFFF"/>
                          </a:solidFill>
                          <a:latin typeface="Aptos"/>
                        </a:rPr>
                        <a:t>Methodology</a:t>
                      </a:r>
                      <a:endParaRPr sz="100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tc>
                  <a:txBody>
                    <a:bodyPr/>
                    <a:lstStyle/>
                    <a:p>
                      <a:pPr algn="l">
                        <a:lnSpc>
                          <a:spcPct val="100000"/>
                        </a:lnSpc>
                        <a:spcBef>
                          <a:spcPts val="0"/>
                        </a:spcBef>
                        <a:spcAft>
                          <a:spcPts val="0"/>
                        </a:spcAft>
                      </a:pPr>
                      <a:r>
                        <a:rPr sz="1000" b="1">
                          <a:solidFill>
                            <a:srgbClr val="FFFFFF"/>
                          </a:solidFill>
                          <a:latin typeface="Aptos"/>
                        </a:rPr>
                        <a:t>Limitation</a:t>
                      </a:r>
                      <a:endParaRPr sz="1000">
                        <a:latin typeface="Times New Roman"/>
                        <a:cs typeface="Times New Roman"/>
                      </a:endParaRPr>
                    </a:p>
                  </a:txBody>
                  <a:tcPr marL="0" marR="0" marT="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C00000"/>
                    </a:solidFill>
                  </a:tcPr>
                </a:tc>
                <a:extLst>
                  <a:ext uri="{0D108BD9-81ED-4DB2-BD59-A6C34878D82A}">
                    <a16:rowId xmlns:a16="http://schemas.microsoft.com/office/drawing/2014/main" val="10000"/>
                  </a:ext>
                </a:extLst>
              </a:tr>
              <a:tr h="2057400">
                <a:tc>
                  <a:txBody>
                    <a:bodyPr/>
                    <a:lstStyle/>
                    <a:p>
                      <a:pPr marL="73025">
                        <a:lnSpc>
                          <a:spcPct val="100000"/>
                        </a:lnSpc>
                        <a:spcBef>
                          <a:spcPts val="380"/>
                        </a:spcBef>
                        <a:spcAft>
                          <a:spcPts val="100"/>
                        </a:spcAft>
                      </a:pPr>
                      <a:r>
                        <a:rPr sz="740" b="1">
                          <a:solidFill>
                            <a:srgbClr val="000000"/>
                          </a:solidFill>
                          <a:latin typeface="Aptos"/>
                        </a:rPr>
                        <a:t>25. Mark Weber; Giacomo Domeniconi; Jie Chen et al. • 2019</a:t>
                      </a:r>
                      <a:endParaRPr sz="800" dirty="0">
                        <a:latin typeface="Calibri"/>
                        <a:cs typeface="Calibri"/>
                      </a:endParaRPr>
                    </a:p>
                    <a:p>
                      <a:pPr>
                        <a:spcBef>
                          <a:spcPts val="0"/>
                        </a:spcBef>
                        <a:spcAft>
                          <a:spcPts val="0"/>
                        </a:spcAft>
                      </a:pPr>
                      <a:r>
                        <a:rPr sz="730" b="0">
                          <a:solidFill>
                            <a:srgbClr val="000000"/>
                          </a:solidFill>
                          <a:latin typeface="Aptos"/>
                        </a:rPr>
                        <a:t>Anti-Money Laundering in Bitcoin: Experimenting with Graph Convolutional Networks for Financial Forensics</a:t>
                      </a: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3660" algn="l">
                        <a:lnSpc>
                          <a:spcPct val="100000"/>
                        </a:lnSpc>
                        <a:spcBef>
                          <a:spcPts val="0"/>
                        </a:spcBef>
                        <a:spcAft>
                          <a:spcPts val="0"/>
                        </a:spcAft>
                      </a:pPr>
                      <a:r>
                        <a:rPr sz="760" b="0">
                          <a:solidFill>
                            <a:srgbClr val="000000"/>
                          </a:solidFill>
                          <a:latin typeface="Aptos"/>
                        </a:rPr>
                        <a:t>Elliptic Bitcoin Dataset</a:t>
                      </a:r>
                      <a:endParaRPr sz="800" dirty="0">
                        <a:latin typeface="Calibri"/>
                        <a:cs typeface="Calibri"/>
                      </a:endParaRP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295" algn="l">
                        <a:lnSpc>
                          <a:spcPct val="100000"/>
                        </a:lnSpc>
                        <a:spcBef>
                          <a:spcPts val="0"/>
                        </a:spcBef>
                        <a:spcAft>
                          <a:spcPts val="0"/>
                        </a:spcAft>
                      </a:pPr>
                      <a:r>
                        <a:rPr sz="760" b="0">
                          <a:solidFill>
                            <a:srgbClr val="000000"/>
                          </a:solidFill>
                          <a:latin typeface="Aptos"/>
                        </a:rPr>
                        <a:t>Explored graph convolution and conventional machine-learning baselines for identifying illicit Bitcoin transactions and demonstrated the value of relational information.</a:t>
                      </a:r>
                      <a:endParaRPr sz="800" dirty="0">
                        <a:latin typeface="Calibri"/>
                        <a:cs typeface="Calibri"/>
                      </a:endParaRP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930" algn="l">
                        <a:lnSpc>
                          <a:spcPct val="100000"/>
                        </a:lnSpc>
                        <a:spcBef>
                          <a:spcPts val="0"/>
                        </a:spcBef>
                        <a:spcAft>
                          <a:spcPts val="0"/>
                        </a:spcAft>
                      </a:pPr>
                      <a:r>
                        <a:rPr sz="760" b="0">
                          <a:solidFill>
                            <a:srgbClr val="000000"/>
                          </a:solidFill>
                          <a:latin typeface="Aptos"/>
                        </a:rPr>
                        <a:t>Elliptic labels are incomplete and the public dataset does not capture all real-world banking AML conditions.</a:t>
                      </a:r>
                      <a:endParaRPr sz="800" dirty="0">
                        <a:latin typeface="Calibri"/>
                        <a:cs typeface="Calibri"/>
                      </a:endParaRPr>
                    </a:p>
                  </a:txBody>
                  <a:tcPr marL="0" marR="0" marT="4826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1"/>
                  </a:ext>
                </a:extLst>
              </a:tr>
              <a:tr h="2057400">
                <a:tc>
                  <a:txBody>
                    <a:bodyPr/>
                    <a:lstStyle/>
                    <a:p>
                      <a:pPr marL="73025">
                        <a:lnSpc>
                          <a:spcPct val="100000"/>
                        </a:lnSpc>
                        <a:spcBef>
                          <a:spcPts val="385"/>
                        </a:spcBef>
                        <a:spcAft>
                          <a:spcPts val="100"/>
                        </a:spcAft>
                      </a:pPr>
                      <a:r>
                        <a:rPr sz="740" b="1">
                          <a:solidFill>
                            <a:srgbClr val="000000"/>
                          </a:solidFill>
                          <a:latin typeface="Aptos"/>
                        </a:rPr>
                        <a:t>26. IBM Research • 2020</a:t>
                      </a:r>
                      <a:endParaRPr sz="800" dirty="0">
                        <a:latin typeface="Calibri"/>
                        <a:cs typeface="Calibri"/>
                      </a:endParaRPr>
                    </a:p>
                    <a:p>
                      <a:pPr>
                        <a:spcBef>
                          <a:spcPts val="0"/>
                        </a:spcBef>
                        <a:spcAft>
                          <a:spcPts val="0"/>
                        </a:spcAft>
                      </a:pPr>
                      <a:r>
                        <a:rPr sz="730" b="0">
                          <a:solidFill>
                            <a:srgbClr val="000000"/>
                          </a:solidFill>
                          <a:latin typeface="Aptos"/>
                        </a:rPr>
                        <a:t>AMLSim: Synthetic Data Generation for Anti-Money Laundering Research</a:t>
                      </a: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3660" algn="l">
                        <a:lnSpc>
                          <a:spcPct val="100000"/>
                        </a:lnSpc>
                        <a:spcBef>
                          <a:spcPts val="0"/>
                        </a:spcBef>
                        <a:spcAft>
                          <a:spcPts val="0"/>
                        </a:spcAft>
                      </a:pPr>
                      <a:r>
                        <a:rPr sz="760" b="0">
                          <a:solidFill>
                            <a:srgbClr val="000000"/>
                          </a:solidFill>
                          <a:latin typeface="Aptos"/>
                        </a:rPr>
                        <a:t>AMLSim synthetic banking transaction data</a:t>
                      </a:r>
                      <a:endParaRPr sz="800" dirty="0">
                        <a:latin typeface="Calibri"/>
                        <a:cs typeface="Calibri"/>
                      </a:endParaRP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4295" marR="313055" algn="l">
                        <a:lnSpc>
                          <a:spcPct val="100000"/>
                        </a:lnSpc>
                        <a:spcBef>
                          <a:spcPts val="0"/>
                        </a:spcBef>
                        <a:spcAft>
                          <a:spcPts val="0"/>
                        </a:spcAft>
                      </a:pPr>
                      <a:r>
                        <a:rPr sz="760" b="0">
                          <a:solidFill>
                            <a:srgbClr val="000000"/>
                          </a:solidFill>
                          <a:latin typeface="Aptos"/>
                        </a:rPr>
                        <a:t>Generates synthetic banking transaction networks containing normal and predefined illicit behaviors for AML model development and evaluation.</a:t>
                      </a:r>
                      <a:endParaRPr sz="800" dirty="0">
                        <a:latin typeface="Calibri"/>
                        <a:cs typeface="Calibri"/>
                      </a:endParaRP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4930" marR="127000" algn="l">
                        <a:lnSpc>
                          <a:spcPct val="100000"/>
                        </a:lnSpc>
                        <a:spcBef>
                          <a:spcPts val="0"/>
                        </a:spcBef>
                        <a:spcAft>
                          <a:spcPts val="0"/>
                        </a:spcAft>
                      </a:pPr>
                      <a:r>
                        <a:rPr sz="760" b="0">
                          <a:solidFill>
                            <a:srgbClr val="000000"/>
                          </a:solidFill>
                          <a:latin typeface="Aptos"/>
                        </a:rPr>
                        <a:t>Synthetic data cannot fully reproduce the complexity and distribution of real bank transactions; transferability to real-world institutions must be validated.</a:t>
                      </a:r>
                      <a:endParaRPr sz="800" dirty="0">
                        <a:latin typeface="Calibri"/>
                        <a:cs typeface="Calibri"/>
                      </a:endParaRPr>
                    </a:p>
                  </a:txBody>
                  <a:tcPr marL="0" marR="0" marT="48895"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extLst>
                  <a:ext uri="{0D108BD9-81ED-4DB2-BD59-A6C34878D82A}">
                    <a16:rowId xmlns:a16="http://schemas.microsoft.com/office/drawing/2014/main" val="10002"/>
                  </a:ext>
                </a:extLst>
              </a:tr>
              <a:tr h="0">
                <a:tc>
                  <a:txBody>
                    <a:bodyPr/>
                    <a:lstStyle/>
                    <a:p>
                      <a:pPr marL="73025" marR="91440" algn="l">
                        <a:lnSpc>
                          <a:spcPct val="100000"/>
                        </a:lnSpc>
                        <a:spcBef>
                          <a:spcPts val="0"/>
                        </a:spcBef>
                        <a:spcAft>
                          <a:spcPts val="0"/>
                        </a:spcAft>
                      </a:pP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3660" algn="l">
                        <a:lnSpc>
                          <a:spcPct val="100000"/>
                        </a:lnSpc>
                        <a:spcBef>
                          <a:spcPts val="0"/>
                        </a:spcBef>
                        <a:spcAft>
                          <a:spcPts val="0"/>
                        </a:spcAft>
                      </a:pP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295" marR="271780" algn="l">
                        <a:lnSpc>
                          <a:spcPct val="100000"/>
                        </a:lnSpc>
                        <a:spcBef>
                          <a:spcPts val="0"/>
                        </a:spcBef>
                        <a:spcAft>
                          <a:spcPts val="0"/>
                        </a:spcAft>
                      </a:pP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930" marR="247015" algn="l">
                        <a:lnSpc>
                          <a:spcPct val="100000"/>
                        </a:lnSpc>
                        <a:spcBef>
                          <a:spcPts val="0"/>
                        </a:spcBef>
                        <a:spcAft>
                          <a:spcPts val="0"/>
                        </a:spcAft>
                      </a:pP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3"/>
                  </a:ext>
                </a:extLst>
              </a:tr>
              <a:tr h="0">
                <a:tc>
                  <a:txBody>
                    <a:bodyPr/>
                    <a:lstStyle/>
                    <a:p>
                      <a:pPr marL="73025" algn="l">
                        <a:lnSpc>
                          <a:spcPct val="100000"/>
                        </a:lnSpc>
                        <a:spcBef>
                          <a:spcPts val="0"/>
                        </a:spcBef>
                        <a:spcAft>
                          <a:spcPts val="0"/>
                        </a:spcAft>
                      </a:pP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3660" algn="l">
                        <a:lnSpc>
                          <a:spcPct val="100000"/>
                        </a:lnSpc>
                        <a:spcBef>
                          <a:spcPts val="0"/>
                        </a:spcBef>
                        <a:spcAft>
                          <a:spcPts val="0"/>
                        </a:spcAft>
                      </a:pP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4295" algn="l">
                        <a:lnSpc>
                          <a:spcPct val="100000"/>
                        </a:lnSpc>
                        <a:spcBef>
                          <a:spcPts val="0"/>
                        </a:spcBef>
                        <a:spcAft>
                          <a:spcPts val="0"/>
                        </a:spcAft>
                      </a:pP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tc>
                  <a:txBody>
                    <a:bodyPr/>
                    <a:lstStyle/>
                    <a:p>
                      <a:pPr marL="74930" marR="84455" algn="l">
                        <a:lnSpc>
                          <a:spcPct val="100000"/>
                        </a:lnSpc>
                        <a:spcBef>
                          <a:spcPts val="0"/>
                        </a:spcBef>
                        <a:spcAft>
                          <a:spcPts val="0"/>
                        </a:spcAft>
                      </a:pPr>
                      <a:endParaRPr sz="800" dirty="0">
                        <a:latin typeface="Calibri"/>
                        <a:cs typeface="Calibri"/>
                      </a:endParaRPr>
                    </a:p>
                  </a:txBody>
                  <a:tcPr marL="0" marR="0" marT="49530" marB="0" anchor="ctr">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5EEE6"/>
                    </a:solidFill>
                  </a:tcPr>
                </a:tc>
                <a:extLst>
                  <a:ext uri="{0D108BD9-81ED-4DB2-BD59-A6C34878D82A}">
                    <a16:rowId xmlns:a16="http://schemas.microsoft.com/office/drawing/2014/main" val="10004"/>
                  </a:ext>
                </a:extLst>
              </a:tr>
              <a:tr h="0">
                <a:tc>
                  <a:txBody>
                    <a:bodyPr/>
                    <a:lstStyle/>
                    <a:p>
                      <a:pPr marL="73025" marR="99060">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3660" marR="110489">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295" marR="200660">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tc>
                  <a:txBody>
                    <a:bodyPr/>
                    <a:lstStyle/>
                    <a:p>
                      <a:pPr marL="74930" marR="171450" algn="just">
                        <a:lnSpc>
                          <a:spcPct val="100000"/>
                        </a:lnSpc>
                        <a:spcBef>
                          <a:spcPts val="395"/>
                        </a:spcBef>
                      </a:pPr>
                      <a:endParaRPr sz="800" dirty="0">
                        <a:latin typeface="Calibri"/>
                        <a:cs typeface="Calibri"/>
                      </a:endParaRPr>
                    </a:p>
                  </a:txBody>
                  <a:tcPr marL="0" marR="0" marT="50165" marB="0">
                    <a:lnL w="6350">
                      <a:solidFill>
                        <a:srgbClr val="DDD2C4"/>
                      </a:solidFill>
                      <a:prstDash val="solid"/>
                    </a:lnL>
                    <a:lnR w="6350">
                      <a:solidFill>
                        <a:srgbClr val="DDD2C4"/>
                      </a:solidFill>
                      <a:prstDash val="solid"/>
                    </a:lnR>
                    <a:lnT w="6350">
                      <a:solidFill>
                        <a:srgbClr val="DDD2C4"/>
                      </a:solidFill>
                      <a:prstDash val="solid"/>
                    </a:lnT>
                    <a:lnB w="6350">
                      <a:solidFill>
                        <a:srgbClr val="DDD2C4"/>
                      </a:solidFill>
                      <a:prstDash val="soli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86200" y="228600"/>
            <a:ext cx="3657600" cy="320040"/>
          </a:xfrm>
          <a:prstGeom prst="rect">
            <a:avLst/>
          </a:prstGeom>
          <a:noFill/>
        </p:spPr>
        <p:txBody>
          <a:bodyPr wrap="square" lIns="73152" tIns="36576" rIns="73152" bIns="36576">
            <a:spAutoFit/>
          </a:bodyPr>
          <a:lstStyle/>
          <a:p>
            <a:pPr algn="ctr"/>
            <a:r>
              <a:rPr sz="2000" b="1"/>
              <a:t>PROBLEM STATEMENT</a:t>
            </a:r>
          </a:p>
        </p:txBody>
      </p:sp>
      <p:sp>
        <p:nvSpPr>
          <p:cNvPr id="3" name="TextBox 2"/>
          <p:cNvSpPr txBox="1"/>
          <p:nvPr/>
        </p:nvSpPr>
        <p:spPr>
          <a:xfrm>
            <a:off x="4297680" y="594360"/>
            <a:ext cx="3017520" cy="256032"/>
          </a:xfrm>
          <a:prstGeom prst="rect">
            <a:avLst/>
          </a:prstGeom>
          <a:noFill/>
        </p:spPr>
        <p:txBody>
          <a:bodyPr wrap="square" lIns="73152" tIns="36576" rIns="73152" bIns="36576">
            <a:spAutoFit/>
          </a:bodyPr>
          <a:lstStyle/>
          <a:p>
            <a:pPr algn="ctr"/>
            <a:r>
              <a:rPr sz="1000" b="0"/>
              <a:t>Why AML detection needs graph-based learning</a:t>
            </a:r>
          </a:p>
        </p:txBody>
      </p:sp>
      <p:sp>
        <p:nvSpPr>
          <p:cNvPr id="4" name="Rectangle 3"/>
          <p:cNvSpPr/>
          <p:nvPr/>
        </p:nvSpPr>
        <p:spPr>
          <a:xfrm>
            <a:off x="731520" y="1097280"/>
            <a:ext cx="5074920" cy="1143000"/>
          </a:xfrm>
          <a:prstGeom prst="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wrap="square" lIns="152400" tIns="101600" rIns="152400" bIns="101600" rtlCol="0" anchor="ctr"/>
          <a:lstStyle/>
          <a:p>
            <a:pPr algn="l">
              <a:defRPr sz="1400" b="0">
                <a:solidFill>
                  <a:srgbClr val="000000"/>
                </a:solidFill>
                <a:latin typeface="Arial"/>
              </a:defRPr>
            </a:pPr>
            <a:r>
              <a:t>COMPLEX TRANSACTION PATTERNS</a:t>
            </a:r>
            <a:br/>
            <a:r>
              <a:t>Money laundering can involve chains of interconnected transactions. These relationships may be difficult to capture using fixed rules alone.</a:t>
            </a:r>
          </a:p>
        </p:txBody>
      </p:sp>
      <p:sp>
        <p:nvSpPr>
          <p:cNvPr id="5" name="Rectangle 4"/>
          <p:cNvSpPr/>
          <p:nvPr/>
        </p:nvSpPr>
        <p:spPr>
          <a:xfrm>
            <a:off x="6080760" y="1097280"/>
            <a:ext cx="5074920" cy="1143000"/>
          </a:xfrm>
          <a:prstGeom prst="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wrap="square" lIns="152400" tIns="101600" rIns="152400" bIns="101600" rtlCol="0" anchor="ctr"/>
          <a:lstStyle/>
          <a:p>
            <a:pPr algn="l">
              <a:defRPr sz="1400" b="0">
                <a:solidFill>
                  <a:srgbClr val="000000"/>
                </a:solidFill>
                <a:latin typeface="Arial"/>
              </a:defRPr>
            </a:pPr>
            <a:r>
              <a:t>LIMITATIONS OF TRADITIONAL AML</a:t>
            </a:r>
            <a:br/>
            <a:r>
              <a:t>Rule-based systems depend on predefined patterns and manual investigation, which may miss evolving or previously unseen transaction relationships.</a:t>
            </a:r>
          </a:p>
        </p:txBody>
      </p:sp>
      <p:sp>
        <p:nvSpPr>
          <p:cNvPr id="6" name="Rectangle 5"/>
          <p:cNvSpPr/>
          <p:nvPr/>
        </p:nvSpPr>
        <p:spPr>
          <a:xfrm>
            <a:off x="731520" y="2560320"/>
            <a:ext cx="5074920" cy="1143000"/>
          </a:xfrm>
          <a:prstGeom prst="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wrap="square" lIns="152400" tIns="101600" rIns="152400" bIns="101600" rtlCol="0" anchor="ctr"/>
          <a:lstStyle/>
          <a:p>
            <a:pPr algn="l">
              <a:defRPr sz="1400" b="0">
                <a:solidFill>
                  <a:srgbClr val="000000"/>
                </a:solidFill>
                <a:latin typeface="Arial"/>
              </a:defRPr>
            </a:pPr>
            <a:r>
              <a:t>DATA CHALLENGES</a:t>
            </a:r>
            <a:br/>
            <a:r>
              <a:t>The Elliptic data contains a large unknown class and a much smaller illicit class. This imbalance and incomplete labeling must be considered during model training.</a:t>
            </a:r>
          </a:p>
        </p:txBody>
      </p:sp>
      <p:sp>
        <p:nvSpPr>
          <p:cNvPr id="7" name="Rectangle 6"/>
          <p:cNvSpPr/>
          <p:nvPr/>
        </p:nvSpPr>
        <p:spPr>
          <a:xfrm>
            <a:off x="6080760" y="2560320"/>
            <a:ext cx="5074920" cy="1143000"/>
          </a:xfrm>
          <a:prstGeom prst="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wrap="square" lIns="152400" tIns="101600" rIns="152400" bIns="101600" rtlCol="0" anchor="ctr"/>
          <a:lstStyle/>
          <a:p>
            <a:pPr algn="l">
              <a:defRPr sz="1400" b="0">
                <a:solidFill>
                  <a:srgbClr val="000000"/>
                </a:solidFill>
                <a:latin typeface="Arial"/>
              </a:defRPr>
            </a:pPr>
            <a:r>
              <a:t>PROJECT NEED</a:t>
            </a:r>
            <a:br/>
            <a:r>
              <a:t>A graph-based learning approach can combine transaction features with transaction-to-transaction relationships to identify potentially illicit patterns.</a:t>
            </a:r>
          </a:p>
        </p:txBody>
      </p:sp>
      <p:sp>
        <p:nvSpPr>
          <p:cNvPr id="8" name="TextBox 7"/>
          <p:cNvSpPr txBox="1"/>
          <p:nvPr/>
        </p:nvSpPr>
        <p:spPr>
          <a:xfrm>
            <a:off x="914400" y="4206240"/>
            <a:ext cx="9966960" cy="822960"/>
          </a:xfrm>
          <a:prstGeom prst="rect">
            <a:avLst/>
          </a:prstGeom>
          <a:noFill/>
        </p:spPr>
        <p:txBody>
          <a:bodyPr wrap="square" lIns="152400" tIns="101600" rIns="152400" bIns="101600" anchor="ctr">
            <a:spAutoFit/>
          </a:bodyPr>
          <a:lstStyle/>
          <a:p>
            <a:pPr algn="ctr">
              <a:defRPr sz="1600" b="0">
                <a:solidFill>
                  <a:srgbClr val="000000"/>
                </a:solidFill>
                <a:latin typeface="Arial"/>
              </a:defRPr>
            </a:pPr>
            <a:r>
              <a:t>OBJECTIVE</a:t>
            </a:r>
            <a:br/>
            <a:r>
              <a:t>Develop and evaluate a Graph Neural Network approach for detecting illicit transaction patterns using transaction features and graph connectivity.</a:t>
            </a:r>
          </a:p>
        </p:txBody>
      </p:sp>
      <p:sp>
        <p:nvSpPr>
          <p:cNvPr id="9" name="TextBox 8"/>
          <p:cNvSpPr txBox="1"/>
          <p:nvPr/>
        </p:nvSpPr>
        <p:spPr>
          <a:xfrm>
            <a:off x="365760" y="6016752"/>
            <a:ext cx="2468880" cy="137160"/>
          </a:xfrm>
          <a:prstGeom prst="rect">
            <a:avLst/>
          </a:prstGeom>
          <a:noFill/>
        </p:spPr>
        <p:txBody>
          <a:bodyPr wrap="square" lIns="73152" tIns="36576" rIns="73152" bIns="36576">
            <a:spAutoFit/>
          </a:bodyPr>
          <a:lstStyle/>
          <a:p>
            <a:pPr algn="l"/>
            <a:r>
              <a:rPr sz="700" b="0"/>
              <a:t>MACHINE LEARNING • COURSE CODE: 25SC2107E</a:t>
            </a:r>
          </a:p>
        </p:txBody>
      </p:sp>
      <p:sp>
        <p:nvSpPr>
          <p:cNvPr id="10" name="TextBox 9"/>
          <p:cNvSpPr txBox="1"/>
          <p:nvPr/>
        </p:nvSpPr>
        <p:spPr>
          <a:xfrm>
            <a:off x="10652760" y="6016752"/>
            <a:ext cx="182880" cy="137160"/>
          </a:xfrm>
          <a:prstGeom prst="rect">
            <a:avLst/>
          </a:prstGeom>
          <a:noFill/>
        </p:spPr>
        <p:txBody>
          <a:bodyPr wrap="square" lIns="73152" tIns="36576" rIns="73152" bIns="36576">
            <a:spAutoFit/>
          </a:bodyPr>
          <a:lstStyle/>
          <a:p>
            <a:pPr algn="r"/>
            <a:r>
              <a:rPr sz="700"/>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86200" y="228600"/>
            <a:ext cx="3657600" cy="320040"/>
          </a:xfrm>
          <a:prstGeom prst="rect">
            <a:avLst/>
          </a:prstGeom>
          <a:noFill/>
        </p:spPr>
        <p:txBody>
          <a:bodyPr wrap="square" lIns="73152" tIns="36576" rIns="73152" bIns="36576">
            <a:spAutoFit/>
          </a:bodyPr>
          <a:lstStyle/>
          <a:p>
            <a:pPr algn="ctr"/>
            <a:r>
              <a:rPr sz="2000" b="1"/>
              <a:t>DATASET DESCRIPTION</a:t>
            </a:r>
          </a:p>
        </p:txBody>
      </p:sp>
      <p:sp>
        <p:nvSpPr>
          <p:cNvPr id="3" name="TextBox 2"/>
          <p:cNvSpPr txBox="1"/>
          <p:nvPr/>
        </p:nvSpPr>
        <p:spPr>
          <a:xfrm>
            <a:off x="4297680" y="594360"/>
            <a:ext cx="3017520" cy="256032"/>
          </a:xfrm>
          <a:prstGeom prst="rect">
            <a:avLst/>
          </a:prstGeom>
          <a:noFill/>
        </p:spPr>
        <p:txBody>
          <a:bodyPr wrap="square" lIns="73152" tIns="36576" rIns="73152" bIns="36576">
            <a:spAutoFit/>
          </a:bodyPr>
          <a:lstStyle/>
          <a:p>
            <a:pPr algn="ctr"/>
            <a:r>
              <a:rPr sz="1000" b="0"/>
              <a:t>Elliptic transaction data used for AML analysis</a:t>
            </a:r>
          </a:p>
        </p:txBody>
      </p:sp>
      <p:sp>
        <p:nvSpPr>
          <p:cNvPr id="4" name="Rectangle 3"/>
          <p:cNvSpPr/>
          <p:nvPr/>
        </p:nvSpPr>
        <p:spPr>
          <a:xfrm>
            <a:off x="594360" y="1097280"/>
            <a:ext cx="2331720" cy="1005840"/>
          </a:xfrm>
          <a:prstGeom prst="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wrap="square" lIns="152400" tIns="101600" rIns="152400" bIns="101600" rtlCol="0" anchor="ctr"/>
          <a:lstStyle/>
          <a:p>
            <a:pPr algn="ctr">
              <a:defRPr sz="1500" b="0">
                <a:solidFill>
                  <a:srgbClr val="000000"/>
                </a:solidFill>
                <a:latin typeface="Arial"/>
              </a:defRPr>
            </a:pPr>
            <a:r>
              <a:t>44,950</a:t>
            </a:r>
            <a:br/>
            <a:r>
              <a:t>FEATURE ROWS</a:t>
            </a:r>
          </a:p>
        </p:txBody>
      </p:sp>
      <p:sp>
        <p:nvSpPr>
          <p:cNvPr id="5" name="Rectangle 4"/>
          <p:cNvSpPr/>
          <p:nvPr/>
        </p:nvSpPr>
        <p:spPr>
          <a:xfrm>
            <a:off x="3429000" y="1097280"/>
            <a:ext cx="2331720" cy="1005840"/>
          </a:xfrm>
          <a:prstGeom prst="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wrap="square" lIns="152400" tIns="101600" rIns="152400" bIns="101600" rtlCol="0" anchor="ctr"/>
          <a:lstStyle/>
          <a:p>
            <a:pPr algn="ctr">
              <a:defRPr sz="1500" b="0">
                <a:solidFill>
                  <a:srgbClr val="000000"/>
                </a:solidFill>
                <a:latin typeface="Arial"/>
              </a:defRPr>
            </a:pPr>
            <a:r>
              <a:t>167</a:t>
            </a:r>
            <a:br/>
            <a:r>
              <a:t>FEATURE COLUMNS</a:t>
            </a:r>
          </a:p>
        </p:txBody>
      </p:sp>
      <p:sp>
        <p:nvSpPr>
          <p:cNvPr id="6" name="Rectangle 5"/>
          <p:cNvSpPr/>
          <p:nvPr/>
        </p:nvSpPr>
        <p:spPr>
          <a:xfrm>
            <a:off x="6263640" y="1097280"/>
            <a:ext cx="2331720" cy="1005840"/>
          </a:xfrm>
          <a:prstGeom prst="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wrap="square" lIns="152400" tIns="101600" rIns="152400" bIns="101600" rtlCol="0" anchor="ctr"/>
          <a:lstStyle/>
          <a:p>
            <a:pPr algn="ctr">
              <a:defRPr sz="1500" b="0">
                <a:solidFill>
                  <a:srgbClr val="000000"/>
                </a:solidFill>
                <a:latin typeface="Arial"/>
              </a:defRPr>
            </a:pPr>
            <a:r>
              <a:t>234,355</a:t>
            </a:r>
            <a:br/>
            <a:r>
              <a:t>EDGES</a:t>
            </a:r>
          </a:p>
        </p:txBody>
      </p:sp>
      <p:sp>
        <p:nvSpPr>
          <p:cNvPr id="7" name="Rectangle 6"/>
          <p:cNvSpPr/>
          <p:nvPr/>
        </p:nvSpPr>
        <p:spPr>
          <a:xfrm>
            <a:off x="9098280" y="1097280"/>
            <a:ext cx="2331720" cy="1005840"/>
          </a:xfrm>
          <a:prstGeom prst="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wrap="square" lIns="152400" tIns="101600" rIns="152400" bIns="101600" rtlCol="0" anchor="ctr"/>
          <a:lstStyle/>
          <a:p>
            <a:pPr algn="ctr">
              <a:defRPr sz="1500" b="0">
                <a:solidFill>
                  <a:srgbClr val="000000"/>
                </a:solidFill>
                <a:latin typeface="Arial"/>
              </a:defRPr>
            </a:pPr>
            <a:r>
              <a:t>203,769</a:t>
            </a:r>
            <a:br/>
            <a:r>
              <a:t>CLASS LABELS</a:t>
            </a:r>
          </a:p>
        </p:txBody>
      </p:sp>
      <p:sp>
        <p:nvSpPr>
          <p:cNvPr id="8" name="Rectangle 7"/>
          <p:cNvSpPr/>
          <p:nvPr/>
        </p:nvSpPr>
        <p:spPr>
          <a:xfrm>
            <a:off x="731520" y="2514600"/>
            <a:ext cx="5074920" cy="2011680"/>
          </a:xfrm>
          <a:prstGeom prst="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wrap="square" lIns="152400" tIns="101600" rIns="152400" bIns="101600" rtlCol="0" anchor="ctr"/>
          <a:lstStyle/>
          <a:p>
            <a:pPr algn="l">
              <a:defRPr sz="1400" b="0">
                <a:solidFill>
                  <a:srgbClr val="000000"/>
                </a:solidFill>
                <a:latin typeface="Arial"/>
              </a:defRPr>
            </a:pPr>
            <a:r>
              <a:t>DATA COMPONENTS</a:t>
            </a:r>
            <a:br/>
            <a:r>
              <a:t>• Feature data for transactions</a:t>
            </a:r>
            <a:br/>
            <a:r>
              <a:t>• Class labels: Unknown, Licit, Illicit</a:t>
            </a:r>
            <a:br/>
            <a:r>
              <a:t>• Edge list using txId1 and txId2</a:t>
            </a:r>
            <a:br/>
            <a:r>
              <a:t>• Graph structure for relational learning</a:t>
            </a:r>
          </a:p>
        </p:txBody>
      </p:sp>
      <p:sp>
        <p:nvSpPr>
          <p:cNvPr id="9" name="Rectangle 8"/>
          <p:cNvSpPr/>
          <p:nvPr/>
        </p:nvSpPr>
        <p:spPr>
          <a:xfrm>
            <a:off x="6080760" y="2514600"/>
            <a:ext cx="5074920" cy="2011680"/>
          </a:xfrm>
          <a:prstGeom prst="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wrap="square" lIns="152400" tIns="101600" rIns="152400" bIns="101600" rtlCol="0" anchor="ctr"/>
          <a:lstStyle/>
          <a:p>
            <a:pPr algn="l">
              <a:defRPr sz="1400" b="0">
                <a:solidFill>
                  <a:srgbClr val="000000"/>
                </a:solidFill>
                <a:latin typeface="Arial"/>
              </a:defRPr>
            </a:pPr>
            <a:r>
              <a:t>DATA QUALITY &amp; LABELS</a:t>
            </a:r>
            <a:br/>
            <a:r>
              <a:t>• 15 missing values in feature data</a:t>
            </a:r>
            <a:br/>
            <a:r>
              <a:t>• 157,205 Unknown</a:t>
            </a:r>
            <a:br/>
            <a:r>
              <a:t>• 42,019 Licit</a:t>
            </a:r>
            <a:br/>
            <a:r>
              <a:t>• 4,545 Illicit</a:t>
            </a:r>
          </a:p>
        </p:txBody>
      </p:sp>
      <p:sp>
        <p:nvSpPr>
          <p:cNvPr id="10" name="TextBox 9"/>
          <p:cNvSpPr txBox="1"/>
          <p:nvPr/>
        </p:nvSpPr>
        <p:spPr>
          <a:xfrm>
            <a:off x="914400" y="4892040"/>
            <a:ext cx="9966960" cy="457200"/>
          </a:xfrm>
          <a:prstGeom prst="rect">
            <a:avLst/>
          </a:prstGeom>
          <a:noFill/>
        </p:spPr>
        <p:txBody>
          <a:bodyPr wrap="square" lIns="152400" tIns="101600" rIns="152400" bIns="101600" anchor="ctr">
            <a:spAutoFit/>
          </a:bodyPr>
          <a:lstStyle/>
          <a:p>
            <a:pPr algn="ctr">
              <a:defRPr sz="1500" b="0">
                <a:solidFill>
                  <a:srgbClr val="000000"/>
                </a:solidFill>
                <a:latin typeface="Arial"/>
              </a:defRPr>
            </a:pPr>
            <a:r>
              <a:t>The supplied data combines transaction-level features, labels, and graph connectivity required for GNN-based AML analysis.</a:t>
            </a:r>
          </a:p>
        </p:txBody>
      </p:sp>
      <p:sp>
        <p:nvSpPr>
          <p:cNvPr id="11" name="TextBox 10"/>
          <p:cNvSpPr txBox="1"/>
          <p:nvPr/>
        </p:nvSpPr>
        <p:spPr>
          <a:xfrm>
            <a:off x="365760" y="6016752"/>
            <a:ext cx="2468880" cy="137160"/>
          </a:xfrm>
          <a:prstGeom prst="rect">
            <a:avLst/>
          </a:prstGeom>
          <a:noFill/>
        </p:spPr>
        <p:txBody>
          <a:bodyPr wrap="square" lIns="73152" tIns="36576" rIns="73152" bIns="36576">
            <a:spAutoFit/>
          </a:bodyPr>
          <a:lstStyle/>
          <a:p>
            <a:pPr algn="l"/>
            <a:r>
              <a:rPr sz="700" b="0"/>
              <a:t>MACHINE LEARNING • COURSE CODE: 25SC2107E</a:t>
            </a:r>
          </a:p>
        </p:txBody>
      </p:sp>
      <p:sp>
        <p:nvSpPr>
          <p:cNvPr id="12" name="TextBox 11"/>
          <p:cNvSpPr txBox="1"/>
          <p:nvPr/>
        </p:nvSpPr>
        <p:spPr>
          <a:xfrm>
            <a:off x="10652760" y="6016752"/>
            <a:ext cx="182880" cy="137160"/>
          </a:xfrm>
          <a:prstGeom prst="rect">
            <a:avLst/>
          </a:prstGeom>
          <a:noFill/>
        </p:spPr>
        <p:txBody>
          <a:bodyPr wrap="square" lIns="73152" tIns="36576" rIns="73152" bIns="36576">
            <a:spAutoFit/>
          </a:bodyPr>
          <a:lstStyle/>
          <a:p>
            <a:pPr algn="r"/>
            <a:r>
              <a:rPr sz="700"/>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pPr marL="443865" algn="ctr">
              <a:lnSpc>
                <a:spcPct val="100000"/>
              </a:lnSpc>
              <a:spcBef>
                <a:spcPts val="105"/>
              </a:spcBef>
            </a:pPr>
            <a:r>
              <a:rPr sz="2400" b="1"/>
              <a:t>EDA • DATASET QUALITY</a:t>
            </a:r>
          </a:p>
        </p:txBody>
      </p:sp>
      <p:sp>
        <p:nvSpPr>
          <p:cNvPr id="3" name="object 3"/>
          <p:cNvSpPr txBox="1"/>
          <p:nvPr/>
        </p:nvSpPr>
        <p:spPr>
          <a:xfrm>
            <a:off x="4493514" y="933449"/>
            <a:ext cx="3202305" cy="201295"/>
          </a:xfrm>
          <a:prstGeom prst="rect">
            <a:avLst/>
          </a:prstGeom>
        </p:spPr>
        <p:txBody>
          <a:bodyPr vert="horz" wrap="square" lIns="0" tIns="12700" rIns="0" bIns="0" rtlCol="0">
            <a:spAutoFit/>
          </a:bodyPr>
          <a:lstStyle/>
          <a:p>
            <a:pPr marL="12700" algn="ctr">
              <a:lnSpc>
                <a:spcPct val="100000"/>
              </a:lnSpc>
              <a:spcBef>
                <a:spcPts val="100"/>
              </a:spcBef>
            </a:pPr>
            <a:r>
              <a:rPr sz="1200" b="0"/>
              <a:t>EDA of Elliptic transaction data</a:t>
            </a:r>
            <a:endParaRPr sz="1150">
              <a:latin typeface="Calibri"/>
              <a:cs typeface="Calibri"/>
            </a:endParaRPr>
          </a:p>
        </p:txBody>
      </p:sp>
      <p:grpSp>
        <p:nvGrpSpPr>
          <p:cNvPr id="4" name="object 4"/>
          <p:cNvGrpSpPr/>
          <p:nvPr/>
        </p:nvGrpSpPr>
        <p:grpSpPr>
          <a:xfrm>
            <a:off x="536448" y="1310601"/>
            <a:ext cx="2218690" cy="1167130"/>
            <a:chOff x="536448" y="1310601"/>
            <a:chExt cx="2218690" cy="1167130"/>
          </a:xfrm>
        </p:grpSpPr>
        <p:pic>
          <p:nvPicPr>
            <p:cNvPr id="5" name="object 5"/>
            <p:cNvPicPr/>
            <p:nvPr/>
          </p:nvPicPr>
          <p:blipFill>
            <a:blip r:embed="rId2" cstate="print"/>
            <a:stretch>
              <a:fillRect/>
            </a:stretch>
          </p:blipFill>
          <p:spPr>
            <a:xfrm>
              <a:off x="536448" y="1310601"/>
              <a:ext cx="2218563" cy="1167041"/>
            </a:xfrm>
            <a:prstGeom prst="rect">
              <a:avLst/>
            </a:prstGeom>
          </p:spPr>
        </p:pic>
        <p:sp>
          <p:nvSpPr>
            <p:cNvPr id="6" name="object 6"/>
            <p:cNvSpPr/>
            <p:nvPr/>
          </p:nvSpPr>
          <p:spPr>
            <a:xfrm>
              <a:off x="621792" y="1371599"/>
              <a:ext cx="2057400" cy="1005840"/>
            </a:xfrm>
            <a:custGeom>
              <a:avLst/>
              <a:gdLst/>
              <a:ahLst/>
              <a:cxnLst/>
              <a:rect l="l" t="t" r="r" b="b"/>
              <a:pathLst>
                <a:path w="2057400" h="1005839">
                  <a:moveTo>
                    <a:pt x="1984247" y="0"/>
                  </a:moveTo>
                  <a:lnTo>
                    <a:pt x="73151" y="0"/>
                  </a:lnTo>
                  <a:lnTo>
                    <a:pt x="44678" y="5750"/>
                  </a:lnTo>
                  <a:lnTo>
                    <a:pt x="21426" y="21431"/>
                  </a:lnTo>
                  <a:lnTo>
                    <a:pt x="5748" y="44684"/>
                  </a:lnTo>
                  <a:lnTo>
                    <a:pt x="0" y="73151"/>
                  </a:lnTo>
                  <a:lnTo>
                    <a:pt x="0" y="932688"/>
                  </a:lnTo>
                  <a:lnTo>
                    <a:pt x="5748" y="961155"/>
                  </a:lnTo>
                  <a:lnTo>
                    <a:pt x="21426" y="984408"/>
                  </a:lnTo>
                  <a:lnTo>
                    <a:pt x="44678" y="1000089"/>
                  </a:lnTo>
                  <a:lnTo>
                    <a:pt x="73151" y="1005839"/>
                  </a:lnTo>
                  <a:lnTo>
                    <a:pt x="1984247" y="1005839"/>
                  </a:lnTo>
                  <a:lnTo>
                    <a:pt x="2012715" y="1000089"/>
                  </a:lnTo>
                  <a:lnTo>
                    <a:pt x="2035968" y="984408"/>
                  </a:lnTo>
                  <a:lnTo>
                    <a:pt x="2051649" y="961155"/>
                  </a:lnTo>
                  <a:lnTo>
                    <a:pt x="2057400" y="932688"/>
                  </a:lnTo>
                  <a:lnTo>
                    <a:pt x="2057400" y="73151"/>
                  </a:lnTo>
                  <a:lnTo>
                    <a:pt x="2051649" y="44684"/>
                  </a:lnTo>
                  <a:lnTo>
                    <a:pt x="2035968" y="21431"/>
                  </a:lnTo>
                  <a:lnTo>
                    <a:pt x="2012715" y="5750"/>
                  </a:lnTo>
                  <a:lnTo>
                    <a:pt x="1984247" y="0"/>
                  </a:lnTo>
                  <a:close/>
                </a:path>
              </a:pathLst>
            </a:custGeom>
            <a:solidFill>
              <a:srgbClr val="FFFFFF"/>
            </a:solidFill>
          </p:spPr>
          <p:txBody>
            <a:bodyPr wrap="square" lIns="0" tIns="0" rIns="0" bIns="0" rtlCol="0"/>
            <a:lstStyle/>
            <a:p>
              <a:endParaRPr/>
            </a:p>
          </p:txBody>
        </p:sp>
        <p:sp>
          <p:nvSpPr>
            <p:cNvPr id="7" name="object 7"/>
            <p:cNvSpPr/>
            <p:nvPr/>
          </p:nvSpPr>
          <p:spPr>
            <a:xfrm>
              <a:off x="621792" y="1371599"/>
              <a:ext cx="2057400" cy="1005840"/>
            </a:xfrm>
            <a:custGeom>
              <a:avLst/>
              <a:gdLst/>
              <a:ahLst/>
              <a:cxnLst/>
              <a:rect l="l" t="t" r="r" b="b"/>
              <a:pathLst>
                <a:path w="2057400" h="1005839">
                  <a:moveTo>
                    <a:pt x="0" y="73151"/>
                  </a:moveTo>
                  <a:lnTo>
                    <a:pt x="5748" y="44684"/>
                  </a:lnTo>
                  <a:lnTo>
                    <a:pt x="21426" y="21431"/>
                  </a:lnTo>
                  <a:lnTo>
                    <a:pt x="44678" y="5750"/>
                  </a:lnTo>
                  <a:lnTo>
                    <a:pt x="73151" y="0"/>
                  </a:lnTo>
                  <a:lnTo>
                    <a:pt x="1984247" y="0"/>
                  </a:lnTo>
                  <a:lnTo>
                    <a:pt x="2012715" y="5750"/>
                  </a:lnTo>
                  <a:lnTo>
                    <a:pt x="2035968" y="21431"/>
                  </a:lnTo>
                  <a:lnTo>
                    <a:pt x="2051649" y="44684"/>
                  </a:lnTo>
                  <a:lnTo>
                    <a:pt x="2057400" y="73151"/>
                  </a:lnTo>
                  <a:lnTo>
                    <a:pt x="2057400" y="932688"/>
                  </a:lnTo>
                  <a:lnTo>
                    <a:pt x="2051649" y="961155"/>
                  </a:lnTo>
                  <a:lnTo>
                    <a:pt x="2035968" y="984408"/>
                  </a:lnTo>
                  <a:lnTo>
                    <a:pt x="2012715" y="1000089"/>
                  </a:lnTo>
                  <a:lnTo>
                    <a:pt x="1984247" y="1005839"/>
                  </a:lnTo>
                  <a:lnTo>
                    <a:pt x="73151" y="1005839"/>
                  </a:lnTo>
                  <a:lnTo>
                    <a:pt x="44678" y="1000089"/>
                  </a:lnTo>
                  <a:lnTo>
                    <a:pt x="21426" y="984408"/>
                  </a:lnTo>
                  <a:lnTo>
                    <a:pt x="5748" y="961155"/>
                  </a:lnTo>
                  <a:lnTo>
                    <a:pt x="0" y="932688"/>
                  </a:lnTo>
                  <a:lnTo>
                    <a:pt x="0" y="73151"/>
                  </a:lnTo>
                  <a:close/>
                </a:path>
              </a:pathLst>
            </a:custGeom>
            <a:ln w="12192">
              <a:solidFill>
                <a:srgbClr val="DDD2C4"/>
              </a:solidFill>
            </a:ln>
          </p:spPr>
          <p:txBody>
            <a:bodyPr wrap="square" lIns="0" tIns="0" rIns="0" bIns="0" rtlCol="0"/>
            <a:lstStyle/>
            <a:p>
              <a:endParaRPr/>
            </a:p>
          </p:txBody>
        </p:sp>
      </p:grpSp>
      <p:sp>
        <p:nvSpPr>
          <p:cNvPr id="8" name="object 8"/>
          <p:cNvSpPr txBox="1"/>
          <p:nvPr/>
        </p:nvSpPr>
        <p:spPr>
          <a:xfrm>
            <a:off x="1131824" y="1519809"/>
            <a:ext cx="1036955" cy="689610"/>
          </a:xfrm>
          <a:prstGeom prst="rect">
            <a:avLst/>
          </a:prstGeom>
        </p:spPr>
        <p:txBody>
          <a:bodyPr vert="horz" wrap="square" lIns="0" tIns="12700" rIns="0" bIns="0" rtlCol="0">
            <a:spAutoFit/>
          </a:bodyPr>
          <a:lstStyle/>
          <a:p>
            <a:pPr algn="ctr">
              <a:lnSpc>
                <a:spcPct val="100000"/>
              </a:lnSpc>
              <a:spcBef>
                <a:spcPts val="100"/>
              </a:spcBef>
            </a:pPr>
            <a:r>
              <a:t>44,950</a:t>
            </a:r>
            <a:br/>
            <a:r>
              <a:t>FEATURE ROWS</a:t>
            </a:r>
            <a:endParaRPr sz="2400" dirty="0">
              <a:latin typeface="Calibri"/>
              <a:cs typeface="Calibri"/>
            </a:endParaRPr>
          </a:p>
        </p:txBody>
      </p:sp>
      <p:grpSp>
        <p:nvGrpSpPr>
          <p:cNvPr id="9" name="object 9"/>
          <p:cNvGrpSpPr/>
          <p:nvPr/>
        </p:nvGrpSpPr>
        <p:grpSpPr>
          <a:xfrm>
            <a:off x="2758439" y="1310601"/>
            <a:ext cx="2218690" cy="1167130"/>
            <a:chOff x="2758439" y="1310601"/>
            <a:chExt cx="2218690" cy="1167130"/>
          </a:xfrm>
        </p:grpSpPr>
        <p:pic>
          <p:nvPicPr>
            <p:cNvPr id="10" name="object 10"/>
            <p:cNvPicPr/>
            <p:nvPr/>
          </p:nvPicPr>
          <p:blipFill>
            <a:blip r:embed="rId2" cstate="print"/>
            <a:stretch>
              <a:fillRect/>
            </a:stretch>
          </p:blipFill>
          <p:spPr>
            <a:xfrm>
              <a:off x="2758439" y="1310601"/>
              <a:ext cx="2218563" cy="1167041"/>
            </a:xfrm>
            <a:prstGeom prst="rect">
              <a:avLst/>
            </a:prstGeom>
          </p:spPr>
        </p:pic>
        <p:sp>
          <p:nvSpPr>
            <p:cNvPr id="11" name="object 11"/>
            <p:cNvSpPr/>
            <p:nvPr/>
          </p:nvSpPr>
          <p:spPr>
            <a:xfrm>
              <a:off x="2843783" y="1371599"/>
              <a:ext cx="2057400" cy="1005840"/>
            </a:xfrm>
            <a:custGeom>
              <a:avLst/>
              <a:gdLst/>
              <a:ahLst/>
              <a:cxnLst/>
              <a:rect l="l" t="t" r="r" b="b"/>
              <a:pathLst>
                <a:path w="2057400" h="1005839">
                  <a:moveTo>
                    <a:pt x="1984248" y="0"/>
                  </a:moveTo>
                  <a:lnTo>
                    <a:pt x="73152" y="0"/>
                  </a:lnTo>
                  <a:lnTo>
                    <a:pt x="44684" y="5750"/>
                  </a:lnTo>
                  <a:lnTo>
                    <a:pt x="21431" y="21431"/>
                  </a:lnTo>
                  <a:lnTo>
                    <a:pt x="5750" y="44684"/>
                  </a:lnTo>
                  <a:lnTo>
                    <a:pt x="0" y="73151"/>
                  </a:lnTo>
                  <a:lnTo>
                    <a:pt x="0" y="932688"/>
                  </a:lnTo>
                  <a:lnTo>
                    <a:pt x="5750" y="961155"/>
                  </a:lnTo>
                  <a:lnTo>
                    <a:pt x="21431" y="984408"/>
                  </a:lnTo>
                  <a:lnTo>
                    <a:pt x="44684" y="1000089"/>
                  </a:lnTo>
                  <a:lnTo>
                    <a:pt x="73152" y="1005839"/>
                  </a:lnTo>
                  <a:lnTo>
                    <a:pt x="1984248" y="1005839"/>
                  </a:lnTo>
                  <a:lnTo>
                    <a:pt x="2012715" y="1000089"/>
                  </a:lnTo>
                  <a:lnTo>
                    <a:pt x="2035968" y="984408"/>
                  </a:lnTo>
                  <a:lnTo>
                    <a:pt x="2051649" y="961155"/>
                  </a:lnTo>
                  <a:lnTo>
                    <a:pt x="2057400" y="932688"/>
                  </a:lnTo>
                  <a:lnTo>
                    <a:pt x="2057400" y="73151"/>
                  </a:lnTo>
                  <a:lnTo>
                    <a:pt x="2051649" y="44684"/>
                  </a:lnTo>
                  <a:lnTo>
                    <a:pt x="2035968" y="21431"/>
                  </a:lnTo>
                  <a:lnTo>
                    <a:pt x="2012715" y="5750"/>
                  </a:lnTo>
                  <a:lnTo>
                    <a:pt x="1984248" y="0"/>
                  </a:lnTo>
                  <a:close/>
                </a:path>
              </a:pathLst>
            </a:custGeom>
            <a:solidFill>
              <a:srgbClr val="FFFFFF"/>
            </a:solidFill>
          </p:spPr>
          <p:txBody>
            <a:bodyPr wrap="square" lIns="0" tIns="0" rIns="0" bIns="0" rtlCol="0"/>
            <a:lstStyle/>
            <a:p>
              <a:endParaRPr/>
            </a:p>
          </p:txBody>
        </p:sp>
        <p:sp>
          <p:nvSpPr>
            <p:cNvPr id="12" name="object 12"/>
            <p:cNvSpPr/>
            <p:nvPr/>
          </p:nvSpPr>
          <p:spPr>
            <a:xfrm>
              <a:off x="2843783" y="1371599"/>
              <a:ext cx="2057400" cy="1005840"/>
            </a:xfrm>
            <a:custGeom>
              <a:avLst/>
              <a:gdLst/>
              <a:ahLst/>
              <a:cxnLst/>
              <a:rect l="l" t="t" r="r" b="b"/>
              <a:pathLst>
                <a:path w="2057400" h="1005839">
                  <a:moveTo>
                    <a:pt x="0" y="73151"/>
                  </a:moveTo>
                  <a:lnTo>
                    <a:pt x="5750" y="44684"/>
                  </a:lnTo>
                  <a:lnTo>
                    <a:pt x="21431" y="21431"/>
                  </a:lnTo>
                  <a:lnTo>
                    <a:pt x="44684" y="5750"/>
                  </a:lnTo>
                  <a:lnTo>
                    <a:pt x="73152" y="0"/>
                  </a:lnTo>
                  <a:lnTo>
                    <a:pt x="1984248" y="0"/>
                  </a:lnTo>
                  <a:lnTo>
                    <a:pt x="2012715" y="5750"/>
                  </a:lnTo>
                  <a:lnTo>
                    <a:pt x="2035968" y="21431"/>
                  </a:lnTo>
                  <a:lnTo>
                    <a:pt x="2051649" y="44684"/>
                  </a:lnTo>
                  <a:lnTo>
                    <a:pt x="2057400" y="73151"/>
                  </a:lnTo>
                  <a:lnTo>
                    <a:pt x="2057400" y="932688"/>
                  </a:lnTo>
                  <a:lnTo>
                    <a:pt x="2051649" y="961155"/>
                  </a:lnTo>
                  <a:lnTo>
                    <a:pt x="2035968" y="984408"/>
                  </a:lnTo>
                  <a:lnTo>
                    <a:pt x="2012715" y="1000089"/>
                  </a:lnTo>
                  <a:lnTo>
                    <a:pt x="1984248" y="1005839"/>
                  </a:lnTo>
                  <a:lnTo>
                    <a:pt x="73152" y="1005839"/>
                  </a:lnTo>
                  <a:lnTo>
                    <a:pt x="44684" y="1000089"/>
                  </a:lnTo>
                  <a:lnTo>
                    <a:pt x="21431" y="984408"/>
                  </a:lnTo>
                  <a:lnTo>
                    <a:pt x="5750" y="961155"/>
                  </a:lnTo>
                  <a:lnTo>
                    <a:pt x="0" y="932688"/>
                  </a:lnTo>
                  <a:lnTo>
                    <a:pt x="0" y="73151"/>
                  </a:lnTo>
                  <a:close/>
                </a:path>
              </a:pathLst>
            </a:custGeom>
            <a:ln w="12192">
              <a:solidFill>
                <a:srgbClr val="DDD2C4"/>
              </a:solidFill>
            </a:ln>
          </p:spPr>
          <p:txBody>
            <a:bodyPr wrap="square" lIns="0" tIns="0" rIns="0" bIns="0" rtlCol="0"/>
            <a:lstStyle/>
            <a:p>
              <a:endParaRPr/>
            </a:p>
          </p:txBody>
        </p:sp>
      </p:grpSp>
      <p:sp>
        <p:nvSpPr>
          <p:cNvPr id="13" name="object 13"/>
          <p:cNvSpPr txBox="1"/>
          <p:nvPr/>
        </p:nvSpPr>
        <p:spPr>
          <a:xfrm>
            <a:off x="3323971" y="1519809"/>
            <a:ext cx="1095375" cy="689610"/>
          </a:xfrm>
          <a:prstGeom prst="rect">
            <a:avLst/>
          </a:prstGeom>
        </p:spPr>
        <p:txBody>
          <a:bodyPr vert="horz" wrap="square" lIns="0" tIns="12700" rIns="0" bIns="0" rtlCol="0">
            <a:spAutoFit/>
          </a:bodyPr>
          <a:lstStyle/>
          <a:p>
            <a:pPr marL="3810" algn="ctr">
              <a:lnSpc>
                <a:spcPct val="100000"/>
              </a:lnSpc>
              <a:spcBef>
                <a:spcPts val="100"/>
              </a:spcBef>
            </a:pPr>
            <a:r>
              <a:t>167</a:t>
            </a:r>
            <a:br/>
            <a:r>
              <a:t>FEATURE COLUMNS</a:t>
            </a:r>
            <a:endParaRPr sz="2400" dirty="0">
              <a:latin typeface="Calibri"/>
              <a:cs typeface="Calibri"/>
            </a:endParaRPr>
          </a:p>
        </p:txBody>
      </p:sp>
      <p:grpSp>
        <p:nvGrpSpPr>
          <p:cNvPr id="14" name="object 14"/>
          <p:cNvGrpSpPr/>
          <p:nvPr/>
        </p:nvGrpSpPr>
        <p:grpSpPr>
          <a:xfrm>
            <a:off x="4980432" y="1310601"/>
            <a:ext cx="2218690" cy="1167130"/>
            <a:chOff x="4980432" y="1310601"/>
            <a:chExt cx="2218690" cy="1167130"/>
          </a:xfrm>
        </p:grpSpPr>
        <p:pic>
          <p:nvPicPr>
            <p:cNvPr id="15" name="object 15"/>
            <p:cNvPicPr/>
            <p:nvPr/>
          </p:nvPicPr>
          <p:blipFill>
            <a:blip r:embed="rId2" cstate="print"/>
            <a:stretch>
              <a:fillRect/>
            </a:stretch>
          </p:blipFill>
          <p:spPr>
            <a:xfrm>
              <a:off x="4980432" y="1310601"/>
              <a:ext cx="2218563" cy="1167041"/>
            </a:xfrm>
            <a:prstGeom prst="rect">
              <a:avLst/>
            </a:prstGeom>
          </p:spPr>
        </p:pic>
        <p:sp>
          <p:nvSpPr>
            <p:cNvPr id="16" name="object 16"/>
            <p:cNvSpPr/>
            <p:nvPr/>
          </p:nvSpPr>
          <p:spPr>
            <a:xfrm>
              <a:off x="5065776" y="1371599"/>
              <a:ext cx="2057400" cy="1005840"/>
            </a:xfrm>
            <a:custGeom>
              <a:avLst/>
              <a:gdLst/>
              <a:ahLst/>
              <a:cxnLst/>
              <a:rect l="l" t="t" r="r" b="b"/>
              <a:pathLst>
                <a:path w="2057400" h="1005839">
                  <a:moveTo>
                    <a:pt x="1984248" y="0"/>
                  </a:moveTo>
                  <a:lnTo>
                    <a:pt x="73151" y="0"/>
                  </a:lnTo>
                  <a:lnTo>
                    <a:pt x="44684" y="5750"/>
                  </a:lnTo>
                  <a:lnTo>
                    <a:pt x="21431" y="21431"/>
                  </a:lnTo>
                  <a:lnTo>
                    <a:pt x="5750" y="44684"/>
                  </a:lnTo>
                  <a:lnTo>
                    <a:pt x="0" y="73151"/>
                  </a:lnTo>
                  <a:lnTo>
                    <a:pt x="0" y="932688"/>
                  </a:lnTo>
                  <a:lnTo>
                    <a:pt x="5750" y="961155"/>
                  </a:lnTo>
                  <a:lnTo>
                    <a:pt x="21431" y="984408"/>
                  </a:lnTo>
                  <a:lnTo>
                    <a:pt x="44684" y="1000089"/>
                  </a:lnTo>
                  <a:lnTo>
                    <a:pt x="73151" y="1005839"/>
                  </a:lnTo>
                  <a:lnTo>
                    <a:pt x="1984248" y="1005839"/>
                  </a:lnTo>
                  <a:lnTo>
                    <a:pt x="2012715" y="1000089"/>
                  </a:lnTo>
                  <a:lnTo>
                    <a:pt x="2035968" y="984408"/>
                  </a:lnTo>
                  <a:lnTo>
                    <a:pt x="2051649" y="961155"/>
                  </a:lnTo>
                  <a:lnTo>
                    <a:pt x="2057400" y="932688"/>
                  </a:lnTo>
                  <a:lnTo>
                    <a:pt x="2057400" y="73151"/>
                  </a:lnTo>
                  <a:lnTo>
                    <a:pt x="2051649" y="44684"/>
                  </a:lnTo>
                  <a:lnTo>
                    <a:pt x="2035968" y="21431"/>
                  </a:lnTo>
                  <a:lnTo>
                    <a:pt x="2012715" y="5750"/>
                  </a:lnTo>
                  <a:lnTo>
                    <a:pt x="1984248" y="0"/>
                  </a:lnTo>
                  <a:close/>
                </a:path>
              </a:pathLst>
            </a:custGeom>
            <a:solidFill>
              <a:srgbClr val="FFFFFF"/>
            </a:solidFill>
          </p:spPr>
          <p:txBody>
            <a:bodyPr wrap="square" lIns="0" tIns="0" rIns="0" bIns="0" rtlCol="0"/>
            <a:lstStyle/>
            <a:p>
              <a:endParaRPr/>
            </a:p>
          </p:txBody>
        </p:sp>
        <p:sp>
          <p:nvSpPr>
            <p:cNvPr id="17" name="object 17"/>
            <p:cNvSpPr/>
            <p:nvPr/>
          </p:nvSpPr>
          <p:spPr>
            <a:xfrm>
              <a:off x="5065776" y="1371599"/>
              <a:ext cx="2057400" cy="1005840"/>
            </a:xfrm>
            <a:custGeom>
              <a:avLst/>
              <a:gdLst/>
              <a:ahLst/>
              <a:cxnLst/>
              <a:rect l="l" t="t" r="r" b="b"/>
              <a:pathLst>
                <a:path w="2057400" h="1005839">
                  <a:moveTo>
                    <a:pt x="0" y="73151"/>
                  </a:moveTo>
                  <a:lnTo>
                    <a:pt x="5750" y="44684"/>
                  </a:lnTo>
                  <a:lnTo>
                    <a:pt x="21431" y="21431"/>
                  </a:lnTo>
                  <a:lnTo>
                    <a:pt x="44684" y="5750"/>
                  </a:lnTo>
                  <a:lnTo>
                    <a:pt x="73151" y="0"/>
                  </a:lnTo>
                  <a:lnTo>
                    <a:pt x="1984248" y="0"/>
                  </a:lnTo>
                  <a:lnTo>
                    <a:pt x="2012715" y="5750"/>
                  </a:lnTo>
                  <a:lnTo>
                    <a:pt x="2035968" y="21431"/>
                  </a:lnTo>
                  <a:lnTo>
                    <a:pt x="2051649" y="44684"/>
                  </a:lnTo>
                  <a:lnTo>
                    <a:pt x="2057400" y="73151"/>
                  </a:lnTo>
                  <a:lnTo>
                    <a:pt x="2057400" y="932688"/>
                  </a:lnTo>
                  <a:lnTo>
                    <a:pt x="2051649" y="961155"/>
                  </a:lnTo>
                  <a:lnTo>
                    <a:pt x="2035968" y="984408"/>
                  </a:lnTo>
                  <a:lnTo>
                    <a:pt x="2012715" y="1000089"/>
                  </a:lnTo>
                  <a:lnTo>
                    <a:pt x="1984248" y="1005839"/>
                  </a:lnTo>
                  <a:lnTo>
                    <a:pt x="73151" y="1005839"/>
                  </a:lnTo>
                  <a:lnTo>
                    <a:pt x="44684" y="1000089"/>
                  </a:lnTo>
                  <a:lnTo>
                    <a:pt x="21431" y="984408"/>
                  </a:lnTo>
                  <a:lnTo>
                    <a:pt x="5750" y="961155"/>
                  </a:lnTo>
                  <a:lnTo>
                    <a:pt x="0" y="932688"/>
                  </a:lnTo>
                  <a:lnTo>
                    <a:pt x="0" y="73151"/>
                  </a:lnTo>
                  <a:close/>
                </a:path>
              </a:pathLst>
            </a:custGeom>
            <a:ln w="12192">
              <a:solidFill>
                <a:srgbClr val="DDD2C4"/>
              </a:solidFill>
            </a:ln>
          </p:spPr>
          <p:txBody>
            <a:bodyPr wrap="square" lIns="0" tIns="0" rIns="0" bIns="0" rtlCol="0"/>
            <a:lstStyle/>
            <a:p>
              <a:endParaRPr/>
            </a:p>
          </p:txBody>
        </p:sp>
      </p:grpSp>
      <p:sp>
        <p:nvSpPr>
          <p:cNvPr id="18" name="object 18"/>
          <p:cNvSpPr txBox="1"/>
          <p:nvPr/>
        </p:nvSpPr>
        <p:spPr>
          <a:xfrm>
            <a:off x="5747765" y="1519809"/>
            <a:ext cx="693420" cy="689610"/>
          </a:xfrm>
          <a:prstGeom prst="rect">
            <a:avLst/>
          </a:prstGeom>
        </p:spPr>
        <p:txBody>
          <a:bodyPr vert="horz" wrap="square" lIns="0" tIns="12700" rIns="0" bIns="0" rtlCol="0">
            <a:spAutoFit/>
          </a:bodyPr>
          <a:lstStyle/>
          <a:p>
            <a:pPr marL="5080" algn="ctr">
              <a:lnSpc>
                <a:spcPct val="100000"/>
              </a:lnSpc>
              <a:spcBef>
                <a:spcPts val="100"/>
              </a:spcBef>
            </a:pPr>
            <a:r>
              <a:t>234,355</a:t>
            </a:r>
            <a:br/>
            <a:r>
              <a:t>EDGES</a:t>
            </a:r>
            <a:endParaRPr sz="2400" dirty="0">
              <a:latin typeface="Calibri"/>
              <a:cs typeface="Calibri"/>
            </a:endParaRPr>
          </a:p>
        </p:txBody>
      </p:sp>
      <p:grpSp>
        <p:nvGrpSpPr>
          <p:cNvPr id="19" name="object 19"/>
          <p:cNvGrpSpPr/>
          <p:nvPr/>
        </p:nvGrpSpPr>
        <p:grpSpPr>
          <a:xfrm>
            <a:off x="7202423" y="1310601"/>
            <a:ext cx="2218690" cy="1167130"/>
            <a:chOff x="7202423" y="1310601"/>
            <a:chExt cx="2218690" cy="1167130"/>
          </a:xfrm>
        </p:grpSpPr>
        <p:pic>
          <p:nvPicPr>
            <p:cNvPr id="20" name="object 20"/>
            <p:cNvPicPr/>
            <p:nvPr/>
          </p:nvPicPr>
          <p:blipFill>
            <a:blip r:embed="rId2" cstate="print"/>
            <a:stretch>
              <a:fillRect/>
            </a:stretch>
          </p:blipFill>
          <p:spPr>
            <a:xfrm>
              <a:off x="7202423" y="1310601"/>
              <a:ext cx="2218562" cy="1167041"/>
            </a:xfrm>
            <a:prstGeom prst="rect">
              <a:avLst/>
            </a:prstGeom>
          </p:spPr>
        </p:pic>
        <p:sp>
          <p:nvSpPr>
            <p:cNvPr id="21" name="object 21"/>
            <p:cNvSpPr/>
            <p:nvPr/>
          </p:nvSpPr>
          <p:spPr>
            <a:xfrm>
              <a:off x="7287767" y="1371599"/>
              <a:ext cx="2057400" cy="1005840"/>
            </a:xfrm>
            <a:custGeom>
              <a:avLst/>
              <a:gdLst/>
              <a:ahLst/>
              <a:cxnLst/>
              <a:rect l="l" t="t" r="r" b="b"/>
              <a:pathLst>
                <a:path w="2057400" h="1005839">
                  <a:moveTo>
                    <a:pt x="1984248" y="0"/>
                  </a:moveTo>
                  <a:lnTo>
                    <a:pt x="73151" y="0"/>
                  </a:lnTo>
                  <a:lnTo>
                    <a:pt x="44684" y="5750"/>
                  </a:lnTo>
                  <a:lnTo>
                    <a:pt x="21431" y="21431"/>
                  </a:lnTo>
                  <a:lnTo>
                    <a:pt x="5750" y="44684"/>
                  </a:lnTo>
                  <a:lnTo>
                    <a:pt x="0" y="73151"/>
                  </a:lnTo>
                  <a:lnTo>
                    <a:pt x="0" y="932688"/>
                  </a:lnTo>
                  <a:lnTo>
                    <a:pt x="5750" y="961155"/>
                  </a:lnTo>
                  <a:lnTo>
                    <a:pt x="21431" y="984408"/>
                  </a:lnTo>
                  <a:lnTo>
                    <a:pt x="44684" y="1000089"/>
                  </a:lnTo>
                  <a:lnTo>
                    <a:pt x="73151" y="1005839"/>
                  </a:lnTo>
                  <a:lnTo>
                    <a:pt x="1984248" y="1005839"/>
                  </a:lnTo>
                  <a:lnTo>
                    <a:pt x="2012715" y="1000089"/>
                  </a:lnTo>
                  <a:lnTo>
                    <a:pt x="2035968" y="984408"/>
                  </a:lnTo>
                  <a:lnTo>
                    <a:pt x="2051649" y="961155"/>
                  </a:lnTo>
                  <a:lnTo>
                    <a:pt x="2057400" y="932688"/>
                  </a:lnTo>
                  <a:lnTo>
                    <a:pt x="2057400" y="73151"/>
                  </a:lnTo>
                  <a:lnTo>
                    <a:pt x="2051649" y="44684"/>
                  </a:lnTo>
                  <a:lnTo>
                    <a:pt x="2035968" y="21431"/>
                  </a:lnTo>
                  <a:lnTo>
                    <a:pt x="2012715" y="5750"/>
                  </a:lnTo>
                  <a:lnTo>
                    <a:pt x="1984248" y="0"/>
                  </a:lnTo>
                  <a:close/>
                </a:path>
              </a:pathLst>
            </a:custGeom>
            <a:solidFill>
              <a:srgbClr val="FFFFFF"/>
            </a:solidFill>
          </p:spPr>
          <p:txBody>
            <a:bodyPr wrap="square" lIns="0" tIns="0" rIns="0" bIns="0" rtlCol="0"/>
            <a:lstStyle/>
            <a:p>
              <a:endParaRPr/>
            </a:p>
          </p:txBody>
        </p:sp>
        <p:sp>
          <p:nvSpPr>
            <p:cNvPr id="22" name="object 22"/>
            <p:cNvSpPr/>
            <p:nvPr/>
          </p:nvSpPr>
          <p:spPr>
            <a:xfrm>
              <a:off x="7287767" y="1371599"/>
              <a:ext cx="2057400" cy="1005840"/>
            </a:xfrm>
            <a:custGeom>
              <a:avLst/>
              <a:gdLst/>
              <a:ahLst/>
              <a:cxnLst/>
              <a:rect l="l" t="t" r="r" b="b"/>
              <a:pathLst>
                <a:path w="2057400" h="1005839">
                  <a:moveTo>
                    <a:pt x="0" y="73151"/>
                  </a:moveTo>
                  <a:lnTo>
                    <a:pt x="5750" y="44684"/>
                  </a:lnTo>
                  <a:lnTo>
                    <a:pt x="21431" y="21431"/>
                  </a:lnTo>
                  <a:lnTo>
                    <a:pt x="44684" y="5750"/>
                  </a:lnTo>
                  <a:lnTo>
                    <a:pt x="73151" y="0"/>
                  </a:lnTo>
                  <a:lnTo>
                    <a:pt x="1984248" y="0"/>
                  </a:lnTo>
                  <a:lnTo>
                    <a:pt x="2012715" y="5750"/>
                  </a:lnTo>
                  <a:lnTo>
                    <a:pt x="2035968" y="21431"/>
                  </a:lnTo>
                  <a:lnTo>
                    <a:pt x="2051649" y="44684"/>
                  </a:lnTo>
                  <a:lnTo>
                    <a:pt x="2057400" y="73151"/>
                  </a:lnTo>
                  <a:lnTo>
                    <a:pt x="2057400" y="932688"/>
                  </a:lnTo>
                  <a:lnTo>
                    <a:pt x="2051649" y="961155"/>
                  </a:lnTo>
                  <a:lnTo>
                    <a:pt x="2035968" y="984408"/>
                  </a:lnTo>
                  <a:lnTo>
                    <a:pt x="2012715" y="1000089"/>
                  </a:lnTo>
                  <a:lnTo>
                    <a:pt x="1984248" y="1005839"/>
                  </a:lnTo>
                  <a:lnTo>
                    <a:pt x="73151" y="1005839"/>
                  </a:lnTo>
                  <a:lnTo>
                    <a:pt x="44684" y="1000089"/>
                  </a:lnTo>
                  <a:lnTo>
                    <a:pt x="21431" y="984408"/>
                  </a:lnTo>
                  <a:lnTo>
                    <a:pt x="5750" y="961155"/>
                  </a:lnTo>
                  <a:lnTo>
                    <a:pt x="0" y="932688"/>
                  </a:lnTo>
                  <a:lnTo>
                    <a:pt x="0" y="73151"/>
                  </a:lnTo>
                  <a:close/>
                </a:path>
              </a:pathLst>
            </a:custGeom>
            <a:ln w="12192">
              <a:solidFill>
                <a:srgbClr val="DDD2C4"/>
              </a:solidFill>
            </a:ln>
          </p:spPr>
          <p:txBody>
            <a:bodyPr wrap="square" lIns="0" tIns="0" rIns="0" bIns="0" rtlCol="0"/>
            <a:lstStyle/>
            <a:p>
              <a:endParaRPr/>
            </a:p>
          </p:txBody>
        </p:sp>
      </p:grpSp>
      <p:sp>
        <p:nvSpPr>
          <p:cNvPr id="23" name="object 23"/>
          <p:cNvSpPr txBox="1"/>
          <p:nvPr/>
        </p:nvSpPr>
        <p:spPr>
          <a:xfrm>
            <a:off x="7897114" y="1519809"/>
            <a:ext cx="839469" cy="689610"/>
          </a:xfrm>
          <a:prstGeom prst="rect">
            <a:avLst/>
          </a:prstGeom>
        </p:spPr>
        <p:txBody>
          <a:bodyPr vert="horz" wrap="square" lIns="0" tIns="12700" rIns="0" bIns="0" rtlCol="0">
            <a:spAutoFit/>
          </a:bodyPr>
          <a:lstStyle/>
          <a:p>
            <a:pPr marL="5080" algn="ctr">
              <a:lnSpc>
                <a:spcPct val="100000"/>
              </a:lnSpc>
              <a:spcBef>
                <a:spcPts val="100"/>
              </a:spcBef>
            </a:pPr>
            <a:r>
              <a:t>15</a:t>
            </a:r>
            <a:br/>
            <a:r>
              <a:t>MISSING VALUES</a:t>
            </a:r>
            <a:endParaRPr sz="2400" dirty="0">
              <a:latin typeface="Calibri"/>
              <a:cs typeface="Calibri"/>
            </a:endParaRPr>
          </a:p>
        </p:txBody>
      </p:sp>
      <p:grpSp>
        <p:nvGrpSpPr>
          <p:cNvPr id="24" name="object 24"/>
          <p:cNvGrpSpPr/>
          <p:nvPr/>
        </p:nvGrpSpPr>
        <p:grpSpPr>
          <a:xfrm>
            <a:off x="9424416" y="1310601"/>
            <a:ext cx="2218690" cy="1167130"/>
            <a:chOff x="9424416" y="1310601"/>
            <a:chExt cx="2218690" cy="1167130"/>
          </a:xfrm>
        </p:grpSpPr>
        <p:pic>
          <p:nvPicPr>
            <p:cNvPr id="25" name="object 25"/>
            <p:cNvPicPr/>
            <p:nvPr/>
          </p:nvPicPr>
          <p:blipFill>
            <a:blip r:embed="rId2" cstate="print"/>
            <a:stretch>
              <a:fillRect/>
            </a:stretch>
          </p:blipFill>
          <p:spPr>
            <a:xfrm>
              <a:off x="9424416" y="1310601"/>
              <a:ext cx="2218562" cy="1167041"/>
            </a:xfrm>
            <a:prstGeom prst="rect">
              <a:avLst/>
            </a:prstGeom>
          </p:spPr>
        </p:pic>
        <p:sp>
          <p:nvSpPr>
            <p:cNvPr id="26" name="object 26"/>
            <p:cNvSpPr/>
            <p:nvPr/>
          </p:nvSpPr>
          <p:spPr>
            <a:xfrm>
              <a:off x="9509760" y="1371599"/>
              <a:ext cx="2057400" cy="1005840"/>
            </a:xfrm>
            <a:custGeom>
              <a:avLst/>
              <a:gdLst/>
              <a:ahLst/>
              <a:cxnLst/>
              <a:rect l="l" t="t" r="r" b="b"/>
              <a:pathLst>
                <a:path w="2057400" h="1005839">
                  <a:moveTo>
                    <a:pt x="1984248" y="0"/>
                  </a:moveTo>
                  <a:lnTo>
                    <a:pt x="73151" y="0"/>
                  </a:lnTo>
                  <a:lnTo>
                    <a:pt x="44684" y="5750"/>
                  </a:lnTo>
                  <a:lnTo>
                    <a:pt x="21431" y="21431"/>
                  </a:lnTo>
                  <a:lnTo>
                    <a:pt x="5750" y="44684"/>
                  </a:lnTo>
                  <a:lnTo>
                    <a:pt x="0" y="73151"/>
                  </a:lnTo>
                  <a:lnTo>
                    <a:pt x="0" y="932688"/>
                  </a:lnTo>
                  <a:lnTo>
                    <a:pt x="5750" y="961155"/>
                  </a:lnTo>
                  <a:lnTo>
                    <a:pt x="21431" y="984408"/>
                  </a:lnTo>
                  <a:lnTo>
                    <a:pt x="44684" y="1000089"/>
                  </a:lnTo>
                  <a:lnTo>
                    <a:pt x="73151" y="1005839"/>
                  </a:lnTo>
                  <a:lnTo>
                    <a:pt x="1984248" y="1005839"/>
                  </a:lnTo>
                  <a:lnTo>
                    <a:pt x="2012715" y="1000089"/>
                  </a:lnTo>
                  <a:lnTo>
                    <a:pt x="2035968" y="984408"/>
                  </a:lnTo>
                  <a:lnTo>
                    <a:pt x="2051649" y="961155"/>
                  </a:lnTo>
                  <a:lnTo>
                    <a:pt x="2057400" y="932688"/>
                  </a:lnTo>
                  <a:lnTo>
                    <a:pt x="2057400" y="73151"/>
                  </a:lnTo>
                  <a:lnTo>
                    <a:pt x="2051649" y="44684"/>
                  </a:lnTo>
                  <a:lnTo>
                    <a:pt x="2035968" y="21431"/>
                  </a:lnTo>
                  <a:lnTo>
                    <a:pt x="2012715" y="5750"/>
                  </a:lnTo>
                  <a:lnTo>
                    <a:pt x="1984248" y="0"/>
                  </a:lnTo>
                  <a:close/>
                </a:path>
              </a:pathLst>
            </a:custGeom>
            <a:solidFill>
              <a:srgbClr val="FFFFFF"/>
            </a:solidFill>
          </p:spPr>
          <p:txBody>
            <a:bodyPr wrap="square" lIns="0" tIns="0" rIns="0" bIns="0" rtlCol="0"/>
            <a:lstStyle/>
            <a:p>
              <a:endParaRPr/>
            </a:p>
          </p:txBody>
        </p:sp>
        <p:sp>
          <p:nvSpPr>
            <p:cNvPr id="27" name="object 27"/>
            <p:cNvSpPr/>
            <p:nvPr/>
          </p:nvSpPr>
          <p:spPr>
            <a:xfrm>
              <a:off x="9509760" y="1371599"/>
              <a:ext cx="2057400" cy="1005840"/>
            </a:xfrm>
            <a:custGeom>
              <a:avLst/>
              <a:gdLst/>
              <a:ahLst/>
              <a:cxnLst/>
              <a:rect l="l" t="t" r="r" b="b"/>
              <a:pathLst>
                <a:path w="2057400" h="1005839">
                  <a:moveTo>
                    <a:pt x="0" y="73151"/>
                  </a:moveTo>
                  <a:lnTo>
                    <a:pt x="5750" y="44684"/>
                  </a:lnTo>
                  <a:lnTo>
                    <a:pt x="21431" y="21431"/>
                  </a:lnTo>
                  <a:lnTo>
                    <a:pt x="44684" y="5750"/>
                  </a:lnTo>
                  <a:lnTo>
                    <a:pt x="73151" y="0"/>
                  </a:lnTo>
                  <a:lnTo>
                    <a:pt x="1984248" y="0"/>
                  </a:lnTo>
                  <a:lnTo>
                    <a:pt x="2012715" y="5750"/>
                  </a:lnTo>
                  <a:lnTo>
                    <a:pt x="2035968" y="21431"/>
                  </a:lnTo>
                  <a:lnTo>
                    <a:pt x="2051649" y="44684"/>
                  </a:lnTo>
                  <a:lnTo>
                    <a:pt x="2057400" y="73151"/>
                  </a:lnTo>
                  <a:lnTo>
                    <a:pt x="2057400" y="932688"/>
                  </a:lnTo>
                  <a:lnTo>
                    <a:pt x="2051649" y="961155"/>
                  </a:lnTo>
                  <a:lnTo>
                    <a:pt x="2035968" y="984408"/>
                  </a:lnTo>
                  <a:lnTo>
                    <a:pt x="2012715" y="1000089"/>
                  </a:lnTo>
                  <a:lnTo>
                    <a:pt x="1984248" y="1005839"/>
                  </a:lnTo>
                  <a:lnTo>
                    <a:pt x="73151" y="1005839"/>
                  </a:lnTo>
                  <a:lnTo>
                    <a:pt x="44684" y="1000089"/>
                  </a:lnTo>
                  <a:lnTo>
                    <a:pt x="21431" y="984408"/>
                  </a:lnTo>
                  <a:lnTo>
                    <a:pt x="5750" y="961155"/>
                  </a:lnTo>
                  <a:lnTo>
                    <a:pt x="0" y="932688"/>
                  </a:lnTo>
                  <a:lnTo>
                    <a:pt x="0" y="73151"/>
                  </a:lnTo>
                  <a:close/>
                </a:path>
              </a:pathLst>
            </a:custGeom>
            <a:ln w="12192">
              <a:solidFill>
                <a:srgbClr val="DDD2C4"/>
              </a:solidFill>
            </a:ln>
          </p:spPr>
          <p:txBody>
            <a:bodyPr wrap="square" lIns="0" tIns="0" rIns="0" bIns="0" rtlCol="0"/>
            <a:lstStyle/>
            <a:p>
              <a:endParaRPr/>
            </a:p>
          </p:txBody>
        </p:sp>
      </p:grpSp>
      <p:sp>
        <p:nvSpPr>
          <p:cNvPr id="28" name="object 28"/>
          <p:cNvSpPr txBox="1"/>
          <p:nvPr/>
        </p:nvSpPr>
        <p:spPr>
          <a:xfrm>
            <a:off x="10051668" y="1527181"/>
            <a:ext cx="974980" cy="682238"/>
          </a:xfrm>
          <a:prstGeom prst="rect">
            <a:avLst/>
          </a:prstGeom>
        </p:spPr>
        <p:txBody>
          <a:bodyPr vert="horz" wrap="square" lIns="0" tIns="12700" rIns="0" bIns="0" rtlCol="0">
            <a:spAutoFit/>
          </a:bodyPr>
          <a:lstStyle/>
          <a:p>
            <a:pPr marL="4445" algn="ctr">
              <a:lnSpc>
                <a:spcPct val="100000"/>
              </a:lnSpc>
              <a:spcBef>
                <a:spcPts val="100"/>
              </a:spcBef>
            </a:pPr>
            <a:r>
              <a:t>203,769</a:t>
            </a:r>
            <a:br/>
            <a:r>
              <a:t>CLASS LABELS</a:t>
            </a:r>
            <a:endParaRPr sz="2400" dirty="0">
              <a:latin typeface="Calibri"/>
              <a:cs typeface="Calibri"/>
            </a:endParaRPr>
          </a:p>
        </p:txBody>
      </p:sp>
      <p:grpSp>
        <p:nvGrpSpPr>
          <p:cNvPr id="29" name="object 29"/>
          <p:cNvGrpSpPr/>
          <p:nvPr/>
        </p:nvGrpSpPr>
        <p:grpSpPr>
          <a:xfrm>
            <a:off x="554736" y="2636507"/>
            <a:ext cx="11069955" cy="3041650"/>
            <a:chOff x="554736" y="2636507"/>
            <a:chExt cx="11069955" cy="3041650"/>
          </a:xfrm>
        </p:grpSpPr>
        <p:pic>
          <p:nvPicPr>
            <p:cNvPr id="30" name="object 30"/>
            <p:cNvPicPr/>
            <p:nvPr/>
          </p:nvPicPr>
          <p:blipFill>
            <a:blip r:embed="rId3" cstate="print"/>
            <a:stretch>
              <a:fillRect/>
            </a:stretch>
          </p:blipFill>
          <p:spPr>
            <a:xfrm>
              <a:off x="554736" y="2636507"/>
              <a:ext cx="11069955" cy="3041523"/>
            </a:xfrm>
            <a:prstGeom prst="rect">
              <a:avLst/>
            </a:prstGeom>
          </p:spPr>
        </p:pic>
        <p:sp>
          <p:nvSpPr>
            <p:cNvPr id="31" name="object 31"/>
            <p:cNvSpPr/>
            <p:nvPr/>
          </p:nvSpPr>
          <p:spPr>
            <a:xfrm>
              <a:off x="640080" y="2697479"/>
              <a:ext cx="10909300" cy="2880360"/>
            </a:xfrm>
            <a:custGeom>
              <a:avLst/>
              <a:gdLst/>
              <a:ahLst/>
              <a:cxnLst/>
              <a:rect l="l" t="t" r="r" b="b"/>
              <a:pathLst>
                <a:path w="10909300" h="2880360">
                  <a:moveTo>
                    <a:pt x="10835640" y="0"/>
                  </a:moveTo>
                  <a:lnTo>
                    <a:pt x="73164" y="0"/>
                  </a:lnTo>
                  <a:lnTo>
                    <a:pt x="44684" y="5750"/>
                  </a:lnTo>
                  <a:lnTo>
                    <a:pt x="21428" y="21431"/>
                  </a:lnTo>
                  <a:lnTo>
                    <a:pt x="5749" y="44684"/>
                  </a:lnTo>
                  <a:lnTo>
                    <a:pt x="0" y="73152"/>
                  </a:lnTo>
                  <a:lnTo>
                    <a:pt x="0" y="2807208"/>
                  </a:lnTo>
                  <a:lnTo>
                    <a:pt x="5749" y="2835675"/>
                  </a:lnTo>
                  <a:lnTo>
                    <a:pt x="21428" y="2858928"/>
                  </a:lnTo>
                  <a:lnTo>
                    <a:pt x="44684" y="2874609"/>
                  </a:lnTo>
                  <a:lnTo>
                    <a:pt x="73164" y="2880360"/>
                  </a:lnTo>
                  <a:lnTo>
                    <a:pt x="10835640" y="2880360"/>
                  </a:lnTo>
                  <a:lnTo>
                    <a:pt x="10864107" y="2874609"/>
                  </a:lnTo>
                  <a:lnTo>
                    <a:pt x="10887360" y="2858928"/>
                  </a:lnTo>
                  <a:lnTo>
                    <a:pt x="10903041" y="2835675"/>
                  </a:lnTo>
                  <a:lnTo>
                    <a:pt x="10908792" y="2807208"/>
                  </a:lnTo>
                  <a:lnTo>
                    <a:pt x="10908792" y="73152"/>
                  </a:lnTo>
                  <a:lnTo>
                    <a:pt x="10903041" y="44684"/>
                  </a:lnTo>
                  <a:lnTo>
                    <a:pt x="10887360" y="21431"/>
                  </a:lnTo>
                  <a:lnTo>
                    <a:pt x="10864107" y="5750"/>
                  </a:lnTo>
                  <a:lnTo>
                    <a:pt x="10835640" y="0"/>
                  </a:lnTo>
                  <a:close/>
                </a:path>
              </a:pathLst>
            </a:custGeom>
            <a:solidFill>
              <a:srgbClr val="FFFFFF"/>
            </a:solidFill>
          </p:spPr>
          <p:txBody>
            <a:bodyPr wrap="square" lIns="0" tIns="0" rIns="0" bIns="0" rtlCol="0"/>
            <a:lstStyle/>
            <a:p>
              <a:endParaRPr/>
            </a:p>
          </p:txBody>
        </p:sp>
        <p:sp>
          <p:nvSpPr>
            <p:cNvPr id="32" name="object 32"/>
            <p:cNvSpPr/>
            <p:nvPr/>
          </p:nvSpPr>
          <p:spPr>
            <a:xfrm>
              <a:off x="640080" y="2697479"/>
              <a:ext cx="10909300" cy="2880360"/>
            </a:xfrm>
            <a:custGeom>
              <a:avLst/>
              <a:gdLst/>
              <a:ahLst/>
              <a:cxnLst/>
              <a:rect l="l" t="t" r="r" b="b"/>
              <a:pathLst>
                <a:path w="10909300" h="2880360">
                  <a:moveTo>
                    <a:pt x="0" y="73152"/>
                  </a:moveTo>
                  <a:lnTo>
                    <a:pt x="5749" y="44684"/>
                  </a:lnTo>
                  <a:lnTo>
                    <a:pt x="21428" y="21431"/>
                  </a:lnTo>
                  <a:lnTo>
                    <a:pt x="44684" y="5750"/>
                  </a:lnTo>
                  <a:lnTo>
                    <a:pt x="73164" y="0"/>
                  </a:lnTo>
                  <a:lnTo>
                    <a:pt x="10835640" y="0"/>
                  </a:lnTo>
                  <a:lnTo>
                    <a:pt x="10864107" y="5750"/>
                  </a:lnTo>
                  <a:lnTo>
                    <a:pt x="10887360" y="21431"/>
                  </a:lnTo>
                  <a:lnTo>
                    <a:pt x="10903041" y="44684"/>
                  </a:lnTo>
                  <a:lnTo>
                    <a:pt x="10908792" y="73152"/>
                  </a:lnTo>
                  <a:lnTo>
                    <a:pt x="10908792" y="2807208"/>
                  </a:lnTo>
                  <a:lnTo>
                    <a:pt x="10903041" y="2835675"/>
                  </a:lnTo>
                  <a:lnTo>
                    <a:pt x="10887360" y="2858928"/>
                  </a:lnTo>
                  <a:lnTo>
                    <a:pt x="10864107" y="2874609"/>
                  </a:lnTo>
                  <a:lnTo>
                    <a:pt x="10835640" y="2880360"/>
                  </a:lnTo>
                  <a:lnTo>
                    <a:pt x="73164" y="2880360"/>
                  </a:lnTo>
                  <a:lnTo>
                    <a:pt x="44684" y="2874609"/>
                  </a:lnTo>
                  <a:lnTo>
                    <a:pt x="21428" y="2858928"/>
                  </a:lnTo>
                  <a:lnTo>
                    <a:pt x="5749" y="2835675"/>
                  </a:lnTo>
                  <a:lnTo>
                    <a:pt x="0" y="2807208"/>
                  </a:lnTo>
                  <a:lnTo>
                    <a:pt x="0" y="73152"/>
                  </a:lnTo>
                  <a:close/>
                </a:path>
              </a:pathLst>
            </a:custGeom>
            <a:ln w="12192">
              <a:solidFill>
                <a:srgbClr val="DDD2C4"/>
              </a:solidFill>
            </a:ln>
          </p:spPr>
          <p:txBody>
            <a:bodyPr wrap="square" lIns="0" tIns="0" rIns="0" bIns="0" rtlCol="0"/>
            <a:lstStyle/>
            <a:p>
              <a:endParaRPr/>
            </a:p>
          </p:txBody>
        </p:sp>
      </p:grpSp>
      <p:sp>
        <p:nvSpPr>
          <p:cNvPr id="33" name="object 33"/>
          <p:cNvSpPr txBox="1">
            <a:spLocks noGrp="1"/>
          </p:cNvSpPr>
          <p:nvPr>
            <p:ph type="body" idx="1"/>
          </p:nvPr>
        </p:nvSpPr>
        <p:spPr>
          <a:xfrm>
            <a:off x="947724" y="2981960"/>
            <a:ext cx="6196330" cy="2532745"/>
          </a:xfrm>
          <a:prstGeom prst="rect">
            <a:avLst/>
          </a:prstGeom>
        </p:spPr>
        <p:txBody>
          <a:bodyPr vert="horz" wrap="square" lIns="0" tIns="11430" rIns="0" bIns="0" rtlCol="0">
            <a:spAutoFit/>
          </a:bodyPr>
          <a:lstStyle/>
          <a:p>
            <a:pPr marL="12700">
              <a:lnSpc>
                <a:spcPct val="100000"/>
              </a:lnSpc>
              <a:spcBef>
                <a:spcPts val="90"/>
              </a:spcBef>
            </a:pPr>
            <a:r>
              <a:rPr sz="1400" b="0"/>
              <a:t>EDA PROCESS</a:t>
            </a:r>
            <a:br/>
            <a:br/>
            <a:r>
              <a:rPr sz="1400" b="0"/>
              <a:t>• Loaded class labels, transaction edges and feature data</a:t>
            </a:r>
            <a:br/>
            <a:r>
              <a:rPr sz="1400" b="0"/>
              <a:t>• Checked dimensions, columns and data types</a:t>
            </a:r>
            <a:br/>
            <a:r>
              <a:rPr sz="1400" b="0"/>
              <a:t>• Counted missing values in the feature dataset</a:t>
            </a:r>
            <a:br/>
            <a:r>
              <a:rPr sz="1400" b="0"/>
              <a:t>• Examined licit, illicit and unknown classes</a:t>
            </a:r>
            <a:br/>
            <a:r>
              <a:rPr sz="1400" b="0"/>
              <a:t>• Analyzed feature distributions and correlations</a:t>
            </a:r>
            <a:br/>
            <a:r>
              <a:rPr sz="1400" b="0"/>
              <a:t>• Studied transaction connectivity</a:t>
            </a:r>
            <a:endParaRPr lang="en-IN" spc="-10" dirty="0"/>
          </a:p>
        </p:txBody>
      </p:sp>
      <p:sp>
        <p:nvSpPr>
          <p:cNvPr id="34" name="object 34"/>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35" name="object 35"/>
          <p:cNvSpPr txBox="1">
            <a:spLocks noGrp="1"/>
          </p:cNvSpPr>
          <p:nvPr>
            <p:ph type="sldNum" sz="quarter" idx="7"/>
          </p:nvPr>
        </p:nvSpPr>
        <p:spPr>
          <a:prstGeom prst="rect">
            <a:avLst/>
          </a:prstGeom>
        </p:spPr>
        <p:txBody>
          <a:bodyPr vert="horz" wrap="square" lIns="0" tIns="0" rIns="0" bIns="0" rtlCol="0">
            <a:spAutoFit/>
          </a:bodyPr>
          <a:lstStyle/>
          <a:p>
            <a:r>
              <a:rPr sz="700"/>
              <a:t>14</a:t>
            </a:r>
          </a:p>
        </p:txBody>
      </p:sp>
      <p:pic>
        <p:nvPicPr>
          <p:cNvPr id="36" name="Picture 35" descr="eda_cell16.png"/>
          <p:cNvPicPr>
            <a:picLocks noChangeAspect="1"/>
          </p:cNvPicPr>
          <p:nvPr/>
        </p:nvPicPr>
        <p:blipFill>
          <a:blip r:embed="rId4"/>
          <a:stretch>
            <a:fillRect/>
          </a:stretch>
        </p:blipFill>
        <p:spPr>
          <a:xfrm>
            <a:off x="7300000" y="2750000"/>
            <a:ext cx="4200000" cy="3000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pPr marL="269875" algn="ctr">
              <a:lnSpc>
                <a:spcPct val="100000"/>
              </a:lnSpc>
              <a:spcBef>
                <a:spcPts val="105"/>
              </a:spcBef>
            </a:pPr>
            <a:r>
              <a:rPr sz="2400" b="1"/>
              <a:t>EDA • CLASS LABELS</a:t>
            </a:r>
          </a:p>
        </p:txBody>
      </p:sp>
      <p:sp>
        <p:nvSpPr>
          <p:cNvPr id="3" name="object 3"/>
          <p:cNvSpPr txBox="1"/>
          <p:nvPr/>
        </p:nvSpPr>
        <p:spPr>
          <a:xfrm>
            <a:off x="4935473" y="933449"/>
            <a:ext cx="2315210" cy="201295"/>
          </a:xfrm>
          <a:prstGeom prst="rect">
            <a:avLst/>
          </a:prstGeom>
        </p:spPr>
        <p:txBody>
          <a:bodyPr vert="horz" wrap="square" lIns="0" tIns="12700" rIns="0" bIns="0" rtlCol="0">
            <a:spAutoFit/>
          </a:bodyPr>
          <a:lstStyle/>
          <a:p>
            <a:pPr marL="12700" algn="ctr">
              <a:lnSpc>
                <a:spcPct val="100000"/>
              </a:lnSpc>
              <a:spcBef>
                <a:spcPts val="100"/>
              </a:spcBef>
            </a:pPr>
            <a:r>
              <a:rPr sz="1200" b="0"/>
              <a:t>Licit, illicit and unknown transaction labels</a:t>
            </a:r>
            <a:endParaRPr sz="1150">
              <a:latin typeface="Calibri"/>
              <a:cs typeface="Calibri"/>
            </a:endParaRPr>
          </a:p>
        </p:txBody>
      </p:sp>
      <p:grpSp>
        <p:nvGrpSpPr>
          <p:cNvPr id="9" name="object 9"/>
          <p:cNvGrpSpPr/>
          <p:nvPr/>
        </p:nvGrpSpPr>
        <p:grpSpPr>
          <a:xfrm>
            <a:off x="7229856" y="1310665"/>
            <a:ext cx="4394835" cy="4321810"/>
            <a:chOff x="7229856" y="1310665"/>
            <a:chExt cx="4394835" cy="4321810"/>
          </a:xfrm>
        </p:grpSpPr>
        <p:pic>
          <p:nvPicPr>
            <p:cNvPr id="10" name="object 10"/>
            <p:cNvPicPr/>
            <p:nvPr/>
          </p:nvPicPr>
          <p:blipFill>
            <a:blip r:embed="rId2" cstate="print"/>
            <a:stretch>
              <a:fillRect/>
            </a:stretch>
          </p:blipFill>
          <p:spPr>
            <a:xfrm>
              <a:off x="7229856" y="1310665"/>
              <a:ext cx="4394834" cy="4321683"/>
            </a:xfrm>
            <a:prstGeom prst="rect">
              <a:avLst/>
            </a:prstGeom>
          </p:spPr>
        </p:pic>
        <p:sp>
          <p:nvSpPr>
            <p:cNvPr id="11" name="object 11"/>
            <p:cNvSpPr/>
            <p:nvPr/>
          </p:nvSpPr>
          <p:spPr>
            <a:xfrm>
              <a:off x="7315200" y="1371600"/>
              <a:ext cx="4234180" cy="4160520"/>
            </a:xfrm>
            <a:custGeom>
              <a:avLst/>
              <a:gdLst/>
              <a:ahLst/>
              <a:cxnLst/>
              <a:rect l="l" t="t" r="r" b="b"/>
              <a:pathLst>
                <a:path w="4234180" h="4160520">
                  <a:moveTo>
                    <a:pt x="4160520" y="0"/>
                  </a:moveTo>
                  <a:lnTo>
                    <a:pt x="73151" y="0"/>
                  </a:lnTo>
                  <a:lnTo>
                    <a:pt x="44684" y="5750"/>
                  </a:lnTo>
                  <a:lnTo>
                    <a:pt x="21431" y="21431"/>
                  </a:lnTo>
                  <a:lnTo>
                    <a:pt x="5750" y="44684"/>
                  </a:lnTo>
                  <a:lnTo>
                    <a:pt x="0" y="73151"/>
                  </a:lnTo>
                  <a:lnTo>
                    <a:pt x="0" y="4087368"/>
                  </a:lnTo>
                  <a:lnTo>
                    <a:pt x="5750" y="4115835"/>
                  </a:lnTo>
                  <a:lnTo>
                    <a:pt x="21431" y="4139088"/>
                  </a:lnTo>
                  <a:lnTo>
                    <a:pt x="44684" y="4154769"/>
                  </a:lnTo>
                  <a:lnTo>
                    <a:pt x="73151" y="4160520"/>
                  </a:lnTo>
                  <a:lnTo>
                    <a:pt x="4160520" y="4160520"/>
                  </a:lnTo>
                  <a:lnTo>
                    <a:pt x="4188987" y="4154769"/>
                  </a:lnTo>
                  <a:lnTo>
                    <a:pt x="4212240" y="4139088"/>
                  </a:lnTo>
                  <a:lnTo>
                    <a:pt x="4227921" y="4115835"/>
                  </a:lnTo>
                  <a:lnTo>
                    <a:pt x="4233672" y="4087368"/>
                  </a:lnTo>
                  <a:lnTo>
                    <a:pt x="4233672" y="73151"/>
                  </a:lnTo>
                  <a:lnTo>
                    <a:pt x="4227921" y="44684"/>
                  </a:lnTo>
                  <a:lnTo>
                    <a:pt x="4212240" y="21431"/>
                  </a:lnTo>
                  <a:lnTo>
                    <a:pt x="4188987" y="5750"/>
                  </a:lnTo>
                  <a:lnTo>
                    <a:pt x="4160520" y="0"/>
                  </a:lnTo>
                  <a:close/>
                </a:path>
              </a:pathLst>
            </a:custGeom>
            <a:solidFill>
              <a:srgbClr val="FFFFFF"/>
            </a:solidFill>
          </p:spPr>
          <p:txBody>
            <a:bodyPr wrap="square" lIns="0" tIns="0" rIns="0" bIns="0" rtlCol="0"/>
            <a:lstStyle/>
            <a:p>
              <a:endParaRPr/>
            </a:p>
          </p:txBody>
        </p:sp>
        <p:sp>
          <p:nvSpPr>
            <p:cNvPr id="12" name="object 12"/>
            <p:cNvSpPr/>
            <p:nvPr/>
          </p:nvSpPr>
          <p:spPr>
            <a:xfrm>
              <a:off x="7315200" y="1371600"/>
              <a:ext cx="4234180" cy="4160520"/>
            </a:xfrm>
            <a:custGeom>
              <a:avLst/>
              <a:gdLst/>
              <a:ahLst/>
              <a:cxnLst/>
              <a:rect l="l" t="t" r="r" b="b"/>
              <a:pathLst>
                <a:path w="4234180" h="4160520">
                  <a:moveTo>
                    <a:pt x="0" y="73151"/>
                  </a:moveTo>
                  <a:lnTo>
                    <a:pt x="5750" y="44684"/>
                  </a:lnTo>
                  <a:lnTo>
                    <a:pt x="21431" y="21431"/>
                  </a:lnTo>
                  <a:lnTo>
                    <a:pt x="44684" y="5750"/>
                  </a:lnTo>
                  <a:lnTo>
                    <a:pt x="73151" y="0"/>
                  </a:lnTo>
                  <a:lnTo>
                    <a:pt x="4160520" y="0"/>
                  </a:lnTo>
                  <a:lnTo>
                    <a:pt x="4188987" y="5750"/>
                  </a:lnTo>
                  <a:lnTo>
                    <a:pt x="4212240" y="21431"/>
                  </a:lnTo>
                  <a:lnTo>
                    <a:pt x="4227921" y="44684"/>
                  </a:lnTo>
                  <a:lnTo>
                    <a:pt x="4233672" y="73151"/>
                  </a:lnTo>
                  <a:lnTo>
                    <a:pt x="4233672" y="4087368"/>
                  </a:lnTo>
                  <a:lnTo>
                    <a:pt x="4227921" y="4115835"/>
                  </a:lnTo>
                  <a:lnTo>
                    <a:pt x="4212240" y="4139088"/>
                  </a:lnTo>
                  <a:lnTo>
                    <a:pt x="4188987" y="4154769"/>
                  </a:lnTo>
                  <a:lnTo>
                    <a:pt x="4160520" y="4160520"/>
                  </a:lnTo>
                  <a:lnTo>
                    <a:pt x="73151" y="4160520"/>
                  </a:lnTo>
                  <a:lnTo>
                    <a:pt x="44684" y="4154769"/>
                  </a:lnTo>
                  <a:lnTo>
                    <a:pt x="21431" y="4139088"/>
                  </a:lnTo>
                  <a:lnTo>
                    <a:pt x="5750" y="4115835"/>
                  </a:lnTo>
                  <a:lnTo>
                    <a:pt x="0" y="4087368"/>
                  </a:lnTo>
                  <a:lnTo>
                    <a:pt x="0" y="73151"/>
                  </a:lnTo>
                  <a:close/>
                </a:path>
                <a:path w="4234180" h="4160520">
                  <a:moveTo>
                    <a:pt x="457200" y="1874520"/>
                  </a:moveTo>
                  <a:lnTo>
                    <a:pt x="3776472" y="1874520"/>
                  </a:lnTo>
                </a:path>
              </a:pathLst>
            </a:custGeom>
            <a:ln w="12192">
              <a:solidFill>
                <a:srgbClr val="DDD2C4"/>
              </a:solidFill>
            </a:ln>
          </p:spPr>
          <p:txBody>
            <a:bodyPr wrap="square" lIns="0" tIns="0" rIns="0" bIns="0" rtlCol="0"/>
            <a:lstStyle/>
            <a:p>
              <a:endParaRPr/>
            </a:p>
          </p:txBody>
        </p:sp>
      </p:grpSp>
      <p:sp>
        <p:nvSpPr>
          <p:cNvPr id="13" name="object 13"/>
          <p:cNvSpPr txBox="1"/>
          <p:nvPr/>
        </p:nvSpPr>
        <p:spPr>
          <a:xfrm>
            <a:off x="7703946" y="1651184"/>
            <a:ext cx="3452495" cy="3329757"/>
          </a:xfrm>
          <a:prstGeom prst="rect">
            <a:avLst/>
          </a:prstGeom>
        </p:spPr>
        <p:txBody>
          <a:bodyPr vert="horz" wrap="square" lIns="0" tIns="107314" rIns="0" bIns="0" rtlCol="0">
            <a:spAutoFit/>
          </a:bodyPr>
          <a:lstStyle/>
          <a:p>
            <a:pPr marL="8255" algn="l">
              <a:lnSpc>
                <a:spcPct val="100000"/>
              </a:lnSpc>
              <a:spcBef>
                <a:spcPts val="844"/>
              </a:spcBef>
            </a:pPr>
            <a:r>
              <a:rPr sz="1400" b="0"/>
              <a:t>CLASS LABEL SUMMARY</a:t>
            </a:r>
            <a:br/>
            <a:br/>
            <a:r>
              <a:rPr sz="1400" b="0"/>
              <a:t>203,769 total labels</a:t>
            </a:r>
            <a:br/>
            <a:br/>
            <a:r>
              <a:rPr sz="1400" b="0"/>
              <a:t>157,205  •  UNKNOWN</a:t>
            </a:r>
            <a:br/>
            <a:r>
              <a:rPr sz="1400" b="0"/>
              <a:t>42,019   •  LICIT</a:t>
            </a:r>
            <a:br/>
            <a:r>
              <a:rPr sz="1400" b="0"/>
              <a:t>4,545    •  ILLICIT</a:t>
            </a:r>
            <a:br/>
            <a:br/>
            <a:r>
              <a:rPr sz="1400" b="0"/>
              <a:t>Illicit transactions form a small portion of the labelled data, making class imbalance an important consideration for AML model training and evaluation.</a:t>
            </a:r>
            <a:endParaRPr sz="1400" dirty="0">
              <a:latin typeface="Calibri"/>
              <a:cs typeface="Calibri"/>
            </a:endParaRPr>
          </a:p>
        </p:txBody>
      </p:sp>
      <p:sp>
        <p:nvSpPr>
          <p:cNvPr id="14" name="object 14"/>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r>
              <a:rPr sz="700"/>
              <a:t>15</a:t>
            </a:r>
          </a:p>
        </p:txBody>
      </p:sp>
      <p:pic>
        <p:nvPicPr>
          <p:cNvPr id="16" name="Picture 15" descr="eda_cell19.png"/>
          <p:cNvPicPr>
            <a:picLocks noChangeAspect="1"/>
          </p:cNvPicPr>
          <p:nvPr/>
        </p:nvPicPr>
        <p:blipFill>
          <a:blip r:embed="rId3"/>
          <a:stretch>
            <a:fillRect/>
          </a:stretch>
        </p:blipFill>
        <p:spPr>
          <a:xfrm>
            <a:off x="567309" y="1365121"/>
            <a:ext cx="6755883" cy="418221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pPr marL="489584" algn="ctr">
              <a:lnSpc>
                <a:spcPct val="100000"/>
              </a:lnSpc>
              <a:spcBef>
                <a:spcPts val="105"/>
              </a:spcBef>
            </a:pPr>
            <a:r>
              <a:rPr sz="2400" b="1"/>
              <a:t>EDA • FEATURE DATA</a:t>
            </a:r>
          </a:p>
        </p:txBody>
      </p:sp>
      <p:sp>
        <p:nvSpPr>
          <p:cNvPr id="3" name="object 3"/>
          <p:cNvSpPr txBox="1"/>
          <p:nvPr/>
        </p:nvSpPr>
        <p:spPr>
          <a:xfrm>
            <a:off x="4328921" y="933449"/>
            <a:ext cx="3529965" cy="201295"/>
          </a:xfrm>
          <a:prstGeom prst="rect">
            <a:avLst/>
          </a:prstGeom>
        </p:spPr>
        <p:txBody>
          <a:bodyPr vert="horz" wrap="square" lIns="0" tIns="12700" rIns="0" bIns="0" rtlCol="0">
            <a:spAutoFit/>
          </a:bodyPr>
          <a:lstStyle/>
          <a:p>
            <a:pPr marL="12700" algn="ctr">
              <a:lnSpc>
                <a:spcPct val="100000"/>
              </a:lnSpc>
              <a:spcBef>
                <a:spcPts val="100"/>
              </a:spcBef>
            </a:pPr>
            <a:r>
              <a:rPr sz="1200" b="0"/>
              <a:t>Selected transaction feature distributions</a:t>
            </a:r>
            <a:endParaRPr sz="1150">
              <a:latin typeface="Calibri"/>
              <a:cs typeface="Calibri"/>
            </a:endParaRPr>
          </a:p>
        </p:txBody>
      </p:sp>
      <p:grpSp>
        <p:nvGrpSpPr>
          <p:cNvPr id="9" name="object 9"/>
          <p:cNvGrpSpPr/>
          <p:nvPr/>
        </p:nvGrpSpPr>
        <p:grpSpPr>
          <a:xfrm>
            <a:off x="7595616" y="1310665"/>
            <a:ext cx="4029075" cy="4321810"/>
            <a:chOff x="7595616" y="1310665"/>
            <a:chExt cx="4029075" cy="4321810"/>
          </a:xfrm>
        </p:grpSpPr>
        <p:pic>
          <p:nvPicPr>
            <p:cNvPr id="10" name="object 10"/>
            <p:cNvPicPr/>
            <p:nvPr/>
          </p:nvPicPr>
          <p:blipFill>
            <a:blip r:embed="rId2" cstate="print"/>
            <a:stretch>
              <a:fillRect/>
            </a:stretch>
          </p:blipFill>
          <p:spPr>
            <a:xfrm>
              <a:off x="7595616" y="1310665"/>
              <a:ext cx="4029075" cy="4321683"/>
            </a:xfrm>
            <a:prstGeom prst="rect">
              <a:avLst/>
            </a:prstGeom>
          </p:spPr>
        </p:pic>
        <p:sp>
          <p:nvSpPr>
            <p:cNvPr id="11" name="object 11"/>
            <p:cNvSpPr/>
            <p:nvPr/>
          </p:nvSpPr>
          <p:spPr>
            <a:xfrm>
              <a:off x="7680960" y="1371600"/>
              <a:ext cx="3868420" cy="4160520"/>
            </a:xfrm>
            <a:custGeom>
              <a:avLst/>
              <a:gdLst/>
              <a:ahLst/>
              <a:cxnLst/>
              <a:rect l="l" t="t" r="r" b="b"/>
              <a:pathLst>
                <a:path w="3868420" h="4160520">
                  <a:moveTo>
                    <a:pt x="3794760" y="0"/>
                  </a:moveTo>
                  <a:lnTo>
                    <a:pt x="73151" y="0"/>
                  </a:lnTo>
                  <a:lnTo>
                    <a:pt x="44684" y="5750"/>
                  </a:lnTo>
                  <a:lnTo>
                    <a:pt x="21431" y="21431"/>
                  </a:lnTo>
                  <a:lnTo>
                    <a:pt x="5750" y="44684"/>
                  </a:lnTo>
                  <a:lnTo>
                    <a:pt x="0" y="73151"/>
                  </a:lnTo>
                  <a:lnTo>
                    <a:pt x="0" y="4087368"/>
                  </a:lnTo>
                  <a:lnTo>
                    <a:pt x="5750" y="4115835"/>
                  </a:lnTo>
                  <a:lnTo>
                    <a:pt x="21431" y="4139088"/>
                  </a:lnTo>
                  <a:lnTo>
                    <a:pt x="44684" y="4154769"/>
                  </a:lnTo>
                  <a:lnTo>
                    <a:pt x="73151" y="4160520"/>
                  </a:lnTo>
                  <a:lnTo>
                    <a:pt x="3794760" y="4160520"/>
                  </a:lnTo>
                  <a:lnTo>
                    <a:pt x="3823227" y="4154769"/>
                  </a:lnTo>
                  <a:lnTo>
                    <a:pt x="3846480" y="4139088"/>
                  </a:lnTo>
                  <a:lnTo>
                    <a:pt x="3862161" y="4115835"/>
                  </a:lnTo>
                  <a:lnTo>
                    <a:pt x="3867912" y="4087368"/>
                  </a:lnTo>
                  <a:lnTo>
                    <a:pt x="3867912" y="73151"/>
                  </a:lnTo>
                  <a:lnTo>
                    <a:pt x="3862161" y="44684"/>
                  </a:lnTo>
                  <a:lnTo>
                    <a:pt x="3846480" y="21431"/>
                  </a:lnTo>
                  <a:lnTo>
                    <a:pt x="3823227" y="5750"/>
                  </a:lnTo>
                  <a:lnTo>
                    <a:pt x="3794760" y="0"/>
                  </a:lnTo>
                  <a:close/>
                </a:path>
              </a:pathLst>
            </a:custGeom>
            <a:solidFill>
              <a:srgbClr val="FFFFFF"/>
            </a:solidFill>
          </p:spPr>
          <p:txBody>
            <a:bodyPr wrap="square" lIns="0" tIns="0" rIns="0" bIns="0" rtlCol="0"/>
            <a:lstStyle/>
            <a:p>
              <a:endParaRPr/>
            </a:p>
          </p:txBody>
        </p:sp>
        <p:sp>
          <p:nvSpPr>
            <p:cNvPr id="12" name="object 12"/>
            <p:cNvSpPr/>
            <p:nvPr/>
          </p:nvSpPr>
          <p:spPr>
            <a:xfrm>
              <a:off x="7680960" y="1371600"/>
              <a:ext cx="3868420" cy="4160520"/>
            </a:xfrm>
            <a:custGeom>
              <a:avLst/>
              <a:gdLst/>
              <a:ahLst/>
              <a:cxnLst/>
              <a:rect l="l" t="t" r="r" b="b"/>
              <a:pathLst>
                <a:path w="3868420" h="4160520">
                  <a:moveTo>
                    <a:pt x="0" y="73151"/>
                  </a:moveTo>
                  <a:lnTo>
                    <a:pt x="5750" y="44684"/>
                  </a:lnTo>
                  <a:lnTo>
                    <a:pt x="21431" y="21431"/>
                  </a:lnTo>
                  <a:lnTo>
                    <a:pt x="44684" y="5750"/>
                  </a:lnTo>
                  <a:lnTo>
                    <a:pt x="73151" y="0"/>
                  </a:lnTo>
                  <a:lnTo>
                    <a:pt x="3794760" y="0"/>
                  </a:lnTo>
                  <a:lnTo>
                    <a:pt x="3823227" y="5750"/>
                  </a:lnTo>
                  <a:lnTo>
                    <a:pt x="3846480" y="21431"/>
                  </a:lnTo>
                  <a:lnTo>
                    <a:pt x="3862161" y="44684"/>
                  </a:lnTo>
                  <a:lnTo>
                    <a:pt x="3867912" y="73151"/>
                  </a:lnTo>
                  <a:lnTo>
                    <a:pt x="3867912" y="4087368"/>
                  </a:lnTo>
                  <a:lnTo>
                    <a:pt x="3862161" y="4115835"/>
                  </a:lnTo>
                  <a:lnTo>
                    <a:pt x="3846480" y="4139088"/>
                  </a:lnTo>
                  <a:lnTo>
                    <a:pt x="3823227" y="4154769"/>
                  </a:lnTo>
                  <a:lnTo>
                    <a:pt x="3794760" y="4160520"/>
                  </a:lnTo>
                  <a:lnTo>
                    <a:pt x="73151" y="4160520"/>
                  </a:lnTo>
                  <a:lnTo>
                    <a:pt x="44684" y="4154769"/>
                  </a:lnTo>
                  <a:lnTo>
                    <a:pt x="21431" y="4139088"/>
                  </a:lnTo>
                  <a:lnTo>
                    <a:pt x="5750" y="4115835"/>
                  </a:lnTo>
                  <a:lnTo>
                    <a:pt x="0" y="4087368"/>
                  </a:lnTo>
                  <a:lnTo>
                    <a:pt x="0" y="73151"/>
                  </a:lnTo>
                  <a:close/>
                </a:path>
              </a:pathLst>
            </a:custGeom>
            <a:ln w="12192">
              <a:solidFill>
                <a:srgbClr val="DDD2C4"/>
              </a:solidFill>
            </a:ln>
          </p:spPr>
          <p:txBody>
            <a:bodyPr wrap="square" lIns="0" tIns="0" rIns="0" bIns="0" rtlCol="0"/>
            <a:lstStyle/>
            <a:p>
              <a:endParaRPr/>
            </a:p>
          </p:txBody>
        </p:sp>
      </p:grpSp>
      <p:sp>
        <p:nvSpPr>
          <p:cNvPr id="13" name="object 13"/>
          <p:cNvSpPr txBox="1"/>
          <p:nvPr/>
        </p:nvSpPr>
        <p:spPr>
          <a:xfrm>
            <a:off x="7944357" y="1701164"/>
            <a:ext cx="1453515" cy="238125"/>
          </a:xfrm>
          <a:prstGeom prst="rect">
            <a:avLst/>
          </a:prstGeom>
        </p:spPr>
        <p:txBody>
          <a:bodyPr vert="horz" wrap="square" lIns="0" tIns="11430" rIns="0" bIns="0" rtlCol="0">
            <a:spAutoFit/>
          </a:bodyPr>
          <a:lstStyle/>
          <a:p>
            <a:pPr marL="12700">
              <a:lnSpc>
                <a:spcPct val="100000"/>
              </a:lnSpc>
              <a:spcBef>
                <a:spcPts val="90"/>
              </a:spcBef>
            </a:pPr>
            <a:r>
              <a:rPr sz="1400" b="1" spc="-20" dirty="0">
                <a:solidFill>
                  <a:srgbClr val="C00000"/>
                </a:solidFill>
                <a:latin typeface="Calibri"/>
                <a:cs typeface="Calibri"/>
              </a:rPr>
              <a:t>WHAT</a:t>
            </a:r>
            <a:r>
              <a:rPr sz="1400" b="1" spc="-30" dirty="0">
                <a:solidFill>
                  <a:srgbClr val="C00000"/>
                </a:solidFill>
                <a:latin typeface="Calibri"/>
                <a:cs typeface="Calibri"/>
              </a:rPr>
              <a:t> </a:t>
            </a:r>
            <a:r>
              <a:rPr sz="1400" b="1" dirty="0">
                <a:solidFill>
                  <a:srgbClr val="C00000"/>
                </a:solidFill>
                <a:latin typeface="Calibri"/>
                <a:cs typeface="Calibri"/>
              </a:rPr>
              <a:t>THIS</a:t>
            </a:r>
            <a:r>
              <a:rPr sz="1400" b="1" spc="-40" dirty="0">
                <a:solidFill>
                  <a:srgbClr val="C00000"/>
                </a:solidFill>
                <a:latin typeface="Calibri"/>
                <a:cs typeface="Calibri"/>
              </a:rPr>
              <a:t> </a:t>
            </a:r>
            <a:r>
              <a:rPr sz="1400" b="1" spc="-20" dirty="0">
                <a:solidFill>
                  <a:srgbClr val="C00000"/>
                </a:solidFill>
                <a:latin typeface="Calibri"/>
                <a:cs typeface="Calibri"/>
              </a:rPr>
              <a:t>SHOWS</a:t>
            </a:r>
            <a:endParaRPr sz="1400">
              <a:latin typeface="Calibri"/>
              <a:cs typeface="Calibri"/>
            </a:endParaRPr>
          </a:p>
        </p:txBody>
      </p:sp>
      <p:sp>
        <p:nvSpPr>
          <p:cNvPr id="17" name="object 17"/>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18" name="object 18"/>
          <p:cNvSpPr txBox="1">
            <a:spLocks noGrp="1"/>
          </p:cNvSpPr>
          <p:nvPr>
            <p:ph type="sldNum" sz="quarter" idx="7"/>
          </p:nvPr>
        </p:nvSpPr>
        <p:spPr>
          <a:prstGeom prst="rect">
            <a:avLst/>
          </a:prstGeom>
        </p:spPr>
        <p:txBody>
          <a:bodyPr vert="horz" wrap="square" lIns="0" tIns="0" rIns="0" bIns="0" rtlCol="0">
            <a:spAutoFit/>
          </a:bodyPr>
          <a:lstStyle/>
          <a:p>
            <a:r>
              <a:rPr sz="700"/>
              <a:t>16</a:t>
            </a:r>
          </a:p>
        </p:txBody>
      </p:sp>
      <p:sp>
        <p:nvSpPr>
          <p:cNvPr id="14" name="object 14"/>
          <p:cNvSpPr txBox="1"/>
          <p:nvPr/>
        </p:nvSpPr>
        <p:spPr>
          <a:xfrm>
            <a:off x="7858886" y="2000224"/>
            <a:ext cx="3255010" cy="2813591"/>
          </a:xfrm>
          <a:prstGeom prst="rect">
            <a:avLst/>
          </a:prstGeom>
        </p:spPr>
        <p:txBody>
          <a:bodyPr vert="horz" wrap="square" lIns="0" tIns="12700" rIns="0" bIns="0" rtlCol="0">
            <a:spAutoFit/>
          </a:bodyPr>
          <a:lstStyle/>
          <a:p>
            <a:pPr marL="285750" lvl="0" indent="-285750" algn="l">
              <a:buFont typeface="Arial" panose="020B0604020202020204" pitchFamily="34" charset="0"/>
              <a:buChar char="•"/>
            </a:pPr>
            <a:r>
              <a:rPr sz="1300" b="0"/>
              <a:t>Selected numerical features show different distributions.</a:t>
            </a:r>
            <a:br/>
            <a:br/>
            <a:r>
              <a:rPr sz="1300" b="0"/>
              <a:t>The plots reveal skewness, spread and unusual values.</a:t>
            </a:r>
            <a:br/>
            <a:br/>
            <a:r>
              <a:rPr sz="1300" b="0"/>
              <a:t>These observations support preprocessing and feature preparation.</a:t>
            </a:r>
            <a:br/>
            <a:br/>
            <a:r>
              <a:rPr sz="1300" b="0"/>
              <a:t>Plots use a 100,000-row sample of selected features.</a:t>
            </a:r>
          </a:p>
        </p:txBody>
      </p:sp>
      <p:pic>
        <p:nvPicPr>
          <p:cNvPr id="19" name="Picture 18" descr="eda_cell21.png"/>
          <p:cNvPicPr>
            <a:picLocks noChangeAspect="1"/>
          </p:cNvPicPr>
          <p:nvPr/>
        </p:nvPicPr>
        <p:blipFill>
          <a:blip r:embed="rId3"/>
          <a:stretch>
            <a:fillRect/>
          </a:stretch>
        </p:blipFill>
        <p:spPr>
          <a:xfrm>
            <a:off x="1524000" y="1310665"/>
            <a:ext cx="4450526" cy="4746803"/>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630672" y="341122"/>
            <a:ext cx="4056127" cy="352019"/>
          </a:xfrm>
          <a:prstGeom prst="rect">
            <a:avLst/>
          </a:prstGeom>
        </p:spPr>
        <p:txBody>
          <a:bodyPr vert="horz" wrap="square" lIns="0" tIns="13335" rIns="0" bIns="0" rtlCol="0">
            <a:spAutoFit/>
          </a:bodyPr>
          <a:lstStyle/>
          <a:p>
            <a:pPr marL="12700" algn="ctr">
              <a:lnSpc>
                <a:spcPct val="100000"/>
              </a:lnSpc>
              <a:spcBef>
                <a:spcPts val="105"/>
              </a:spcBef>
            </a:pPr>
            <a:r>
              <a:rPr sz="2200" b="1"/>
              <a:t>EDA • CORRELATION &amp; OUTLIERS</a:t>
            </a:r>
            <a:endParaRPr spc="-10" dirty="0"/>
          </a:p>
        </p:txBody>
      </p:sp>
      <p:sp>
        <p:nvSpPr>
          <p:cNvPr id="3" name="object 3"/>
          <p:cNvSpPr txBox="1"/>
          <p:nvPr/>
        </p:nvSpPr>
        <p:spPr>
          <a:xfrm>
            <a:off x="4618482" y="933449"/>
            <a:ext cx="3458718" cy="197490"/>
          </a:xfrm>
          <a:prstGeom prst="rect">
            <a:avLst/>
          </a:prstGeom>
        </p:spPr>
        <p:txBody>
          <a:bodyPr vert="horz" wrap="square" lIns="0" tIns="12700" rIns="0" bIns="0" rtlCol="0">
            <a:spAutoFit/>
          </a:bodyPr>
          <a:lstStyle/>
          <a:p>
            <a:pPr marL="12700" algn="ctr">
              <a:lnSpc>
                <a:spcPct val="100000"/>
              </a:lnSpc>
              <a:spcBef>
                <a:spcPts val="100"/>
              </a:spcBef>
            </a:pPr>
            <a:r>
              <a:rPr sz="1200" b="0"/>
              <a:t>Feature relationships and extreme values</a:t>
            </a:r>
            <a:endParaRPr sz="1150" i="1" dirty="0">
              <a:latin typeface="Calibri"/>
              <a:cs typeface="Calibri"/>
            </a:endParaRPr>
          </a:p>
        </p:txBody>
      </p:sp>
      <p:sp>
        <p:nvSpPr>
          <p:cNvPr id="9" name="object 9"/>
          <p:cNvSpPr txBox="1"/>
          <p:nvPr/>
        </p:nvSpPr>
        <p:spPr>
          <a:xfrm>
            <a:off x="2393442" y="5284089"/>
            <a:ext cx="2378710" cy="197490"/>
          </a:xfrm>
          <a:prstGeom prst="rect">
            <a:avLst/>
          </a:prstGeom>
        </p:spPr>
        <p:txBody>
          <a:bodyPr vert="horz" wrap="square" lIns="0" tIns="12700" rIns="0" bIns="0" rtlCol="0">
            <a:spAutoFit/>
          </a:bodyPr>
          <a:lstStyle/>
          <a:p>
            <a:pPr marL="12700">
              <a:lnSpc>
                <a:spcPct val="100000"/>
              </a:lnSpc>
              <a:spcBef>
                <a:spcPts val="100"/>
              </a:spcBef>
            </a:pPr>
            <a:r>
              <a:t>SELECTED FEATURE BOXPLOT</a:t>
            </a:r>
            <a:endParaRPr sz="1200" b="1" dirty="0">
              <a:solidFill>
                <a:srgbClr val="C00000"/>
              </a:solidFill>
              <a:latin typeface="Calibri"/>
              <a:cs typeface="Calibri"/>
            </a:endParaRPr>
          </a:p>
        </p:txBody>
      </p:sp>
      <p:sp>
        <p:nvSpPr>
          <p:cNvPr id="15" name="object 15"/>
          <p:cNvSpPr txBox="1"/>
          <p:nvPr/>
        </p:nvSpPr>
        <p:spPr>
          <a:xfrm>
            <a:off x="7579182" y="5284089"/>
            <a:ext cx="2741295" cy="197490"/>
          </a:xfrm>
          <a:prstGeom prst="rect">
            <a:avLst/>
          </a:prstGeom>
        </p:spPr>
        <p:txBody>
          <a:bodyPr vert="horz" wrap="square" lIns="0" tIns="12700" rIns="0" bIns="0" rtlCol="0">
            <a:spAutoFit/>
          </a:bodyPr>
          <a:lstStyle/>
          <a:p>
            <a:pPr marL="12700">
              <a:lnSpc>
                <a:spcPct val="100000"/>
              </a:lnSpc>
              <a:spcBef>
                <a:spcPts val="100"/>
              </a:spcBef>
            </a:pPr>
            <a:r>
              <a:t>CORRELATION HEATMAP</a:t>
            </a:r>
            <a:endParaRPr sz="1200" b="1" dirty="0">
              <a:solidFill>
                <a:srgbClr val="C00000"/>
              </a:solidFill>
              <a:latin typeface="Calibri"/>
              <a:cs typeface="Calibri"/>
            </a:endParaRPr>
          </a:p>
        </p:txBody>
      </p:sp>
      <p:sp>
        <p:nvSpPr>
          <p:cNvPr id="16" name="object 16"/>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17" name="object 17"/>
          <p:cNvSpPr txBox="1">
            <a:spLocks noGrp="1"/>
          </p:cNvSpPr>
          <p:nvPr>
            <p:ph type="sldNum" sz="quarter" idx="7"/>
          </p:nvPr>
        </p:nvSpPr>
        <p:spPr>
          <a:prstGeom prst="rect">
            <a:avLst/>
          </a:prstGeom>
        </p:spPr>
        <p:txBody>
          <a:bodyPr vert="horz" wrap="square" lIns="0" tIns="0" rIns="0" bIns="0" rtlCol="0">
            <a:spAutoFit/>
          </a:bodyPr>
          <a:lstStyle/>
          <a:p>
            <a:r>
              <a:rPr sz="700"/>
              <a:t>17</a:t>
            </a:r>
          </a:p>
        </p:txBody>
      </p:sp>
      <p:pic>
        <p:nvPicPr>
          <p:cNvPr id="18" name="Picture 17" descr="eda_cell22.png"/>
          <p:cNvPicPr>
            <a:picLocks noChangeAspect="1"/>
          </p:cNvPicPr>
          <p:nvPr/>
        </p:nvPicPr>
        <p:blipFill>
          <a:blip r:embed="rId2"/>
          <a:stretch>
            <a:fillRect/>
          </a:stretch>
        </p:blipFill>
        <p:spPr>
          <a:xfrm>
            <a:off x="802132" y="1295400"/>
            <a:ext cx="4876800" cy="3857749"/>
          </a:xfrm>
          <a:prstGeom prst="rect">
            <a:avLst/>
          </a:prstGeom>
        </p:spPr>
      </p:pic>
      <p:pic>
        <p:nvPicPr>
          <p:cNvPr id="19" name="Picture 18" descr="eda_cell24.png"/>
          <p:cNvPicPr>
            <a:picLocks noChangeAspect="1"/>
          </p:cNvPicPr>
          <p:nvPr/>
        </p:nvPicPr>
        <p:blipFill>
          <a:blip r:embed="rId3"/>
          <a:stretch>
            <a:fillRect/>
          </a:stretch>
        </p:blipFill>
        <p:spPr>
          <a:xfrm>
            <a:off x="6124936" y="1295399"/>
            <a:ext cx="5264931" cy="3857749"/>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pPr marL="544830" algn="ctr">
              <a:lnSpc>
                <a:spcPct val="100000"/>
              </a:lnSpc>
              <a:spcBef>
                <a:spcPts val="105"/>
              </a:spcBef>
            </a:pPr>
            <a:r>
              <a:rPr sz="2400" b="1"/>
              <a:t>EDA • GRAPH STRUCTURE</a:t>
            </a:r>
          </a:p>
        </p:txBody>
      </p:sp>
      <p:sp>
        <p:nvSpPr>
          <p:cNvPr id="3" name="object 3"/>
          <p:cNvSpPr txBox="1"/>
          <p:nvPr/>
        </p:nvSpPr>
        <p:spPr>
          <a:xfrm>
            <a:off x="4166572" y="960120"/>
            <a:ext cx="3867276" cy="197490"/>
          </a:xfrm>
          <a:prstGeom prst="rect">
            <a:avLst/>
          </a:prstGeom>
        </p:spPr>
        <p:txBody>
          <a:bodyPr vert="horz" wrap="square" lIns="0" tIns="12700" rIns="0" bIns="0" rtlCol="0">
            <a:spAutoFit/>
          </a:bodyPr>
          <a:lstStyle/>
          <a:p>
            <a:pPr marL="12700" algn="ctr">
              <a:lnSpc>
                <a:spcPct val="100000"/>
              </a:lnSpc>
              <a:spcBef>
                <a:spcPts val="100"/>
              </a:spcBef>
            </a:pPr>
            <a:r>
              <a:rPr sz="1200" b="0"/>
              <a:t>Structure derived from the transaction edge list</a:t>
            </a:r>
            <a:endParaRPr sz="1150" i="1" dirty="0">
              <a:latin typeface="Calibri"/>
              <a:cs typeface="Calibri"/>
            </a:endParaRPr>
          </a:p>
        </p:txBody>
      </p:sp>
      <p:sp>
        <p:nvSpPr>
          <p:cNvPr id="8" name="object 8"/>
          <p:cNvSpPr txBox="1"/>
          <p:nvPr/>
        </p:nvSpPr>
        <p:spPr>
          <a:xfrm>
            <a:off x="810564" y="1640204"/>
            <a:ext cx="1311275" cy="212238"/>
          </a:xfrm>
          <a:prstGeom prst="rect">
            <a:avLst/>
          </a:prstGeom>
        </p:spPr>
        <p:txBody>
          <a:bodyPr vert="horz" wrap="square" lIns="0" tIns="12065" rIns="0" bIns="0" rtlCol="0">
            <a:spAutoFit/>
          </a:bodyPr>
          <a:lstStyle/>
          <a:p>
            <a:pPr marL="12700">
              <a:lnSpc>
                <a:spcPct val="100000"/>
              </a:lnSpc>
              <a:spcBef>
                <a:spcPts val="95"/>
              </a:spcBef>
            </a:pPr>
            <a:r>
              <a:t>GRAPH DATA</a:t>
            </a:r>
            <a:endParaRPr sz="1300" dirty="0">
              <a:latin typeface="Calibri"/>
              <a:cs typeface="Calibri"/>
            </a:endParaRPr>
          </a:p>
        </p:txBody>
      </p:sp>
      <p:sp>
        <p:nvSpPr>
          <p:cNvPr id="9" name="object 9"/>
          <p:cNvSpPr txBox="1"/>
          <p:nvPr/>
        </p:nvSpPr>
        <p:spPr>
          <a:xfrm>
            <a:off x="810564" y="2069668"/>
            <a:ext cx="3654425" cy="227626"/>
          </a:xfrm>
          <a:prstGeom prst="rect">
            <a:avLst/>
          </a:prstGeom>
        </p:spPr>
        <p:txBody>
          <a:bodyPr vert="horz" wrap="square" lIns="0" tIns="12065" rIns="0" bIns="0" rtlCol="0">
            <a:spAutoFit/>
          </a:bodyPr>
          <a:lstStyle/>
          <a:p>
            <a:pPr marL="12700">
              <a:lnSpc>
                <a:spcPct val="100000"/>
              </a:lnSpc>
              <a:spcBef>
                <a:spcPts val="95"/>
              </a:spcBef>
            </a:pPr>
            <a:r>
              <a:t>Elliptic transaction network</a:t>
            </a:r>
            <a:endParaRPr sz="1300" b="1" dirty="0">
              <a:latin typeface="Calibri"/>
              <a:cs typeface="Calibri"/>
            </a:endParaRPr>
          </a:p>
        </p:txBody>
      </p:sp>
      <p:sp>
        <p:nvSpPr>
          <p:cNvPr id="10" name="object 10"/>
          <p:cNvSpPr txBox="1"/>
          <p:nvPr/>
        </p:nvSpPr>
        <p:spPr>
          <a:xfrm>
            <a:off x="810564" y="2585465"/>
            <a:ext cx="633730" cy="172085"/>
          </a:xfrm>
          <a:prstGeom prst="rect">
            <a:avLst/>
          </a:prstGeom>
        </p:spPr>
        <p:txBody>
          <a:bodyPr vert="horz" wrap="square" lIns="0" tIns="13970" rIns="0" bIns="0" rtlCol="0">
            <a:spAutoFit/>
          </a:bodyPr>
          <a:lstStyle/>
          <a:p>
            <a:pPr marL="12700">
              <a:lnSpc>
                <a:spcPct val="100000"/>
              </a:lnSpc>
              <a:spcBef>
                <a:spcPts val="110"/>
              </a:spcBef>
            </a:pPr>
            <a:r>
              <a:t>TRANSACTION EDGES</a:t>
            </a:r>
            <a:endParaRPr sz="950">
              <a:latin typeface="Calibri"/>
              <a:cs typeface="Calibri"/>
            </a:endParaRPr>
          </a:p>
        </p:txBody>
      </p:sp>
      <p:sp>
        <p:nvSpPr>
          <p:cNvPr id="11" name="object 11"/>
          <p:cNvSpPr txBox="1"/>
          <p:nvPr/>
        </p:nvSpPr>
        <p:spPr>
          <a:xfrm>
            <a:off x="2685414" y="2585466"/>
            <a:ext cx="2038986" cy="197490"/>
          </a:xfrm>
          <a:prstGeom prst="rect">
            <a:avLst/>
          </a:prstGeom>
        </p:spPr>
        <p:txBody>
          <a:bodyPr vert="horz" wrap="square" lIns="0" tIns="12700" rIns="0" bIns="0" rtlCol="0">
            <a:spAutoFit/>
          </a:bodyPr>
          <a:lstStyle/>
          <a:p>
            <a:pPr marL="12700">
              <a:lnSpc>
                <a:spcPct val="100000"/>
              </a:lnSpc>
              <a:spcBef>
                <a:spcPts val="100"/>
              </a:spcBef>
            </a:pPr>
            <a:r>
              <a:t>234,355</a:t>
            </a:r>
            <a:endParaRPr sz="1150" dirty="0">
              <a:latin typeface="Calibri"/>
              <a:cs typeface="Calibri"/>
            </a:endParaRPr>
          </a:p>
        </p:txBody>
      </p:sp>
      <p:sp>
        <p:nvSpPr>
          <p:cNvPr id="12" name="object 12"/>
          <p:cNvSpPr txBox="1"/>
          <p:nvPr/>
        </p:nvSpPr>
        <p:spPr>
          <a:xfrm>
            <a:off x="810564" y="3088639"/>
            <a:ext cx="427355" cy="172085"/>
          </a:xfrm>
          <a:prstGeom prst="rect">
            <a:avLst/>
          </a:prstGeom>
        </p:spPr>
        <p:txBody>
          <a:bodyPr vert="horz" wrap="square" lIns="0" tIns="13970" rIns="0" bIns="0" rtlCol="0">
            <a:spAutoFit/>
          </a:bodyPr>
          <a:lstStyle/>
          <a:p>
            <a:pPr marL="12700">
              <a:lnSpc>
                <a:spcPct val="100000"/>
              </a:lnSpc>
              <a:spcBef>
                <a:spcPts val="110"/>
              </a:spcBef>
            </a:pPr>
            <a:r>
              <a:t>UNIQUE SOURCES</a:t>
            </a:r>
            <a:endParaRPr sz="950">
              <a:latin typeface="Calibri"/>
              <a:cs typeface="Calibri"/>
            </a:endParaRPr>
          </a:p>
        </p:txBody>
      </p:sp>
      <p:sp>
        <p:nvSpPr>
          <p:cNvPr id="13" name="object 13"/>
          <p:cNvSpPr txBox="1"/>
          <p:nvPr/>
        </p:nvSpPr>
        <p:spPr>
          <a:xfrm>
            <a:off x="2685414" y="3088639"/>
            <a:ext cx="1454150" cy="197490"/>
          </a:xfrm>
          <a:prstGeom prst="rect">
            <a:avLst/>
          </a:prstGeom>
        </p:spPr>
        <p:txBody>
          <a:bodyPr vert="horz" wrap="square" lIns="0" tIns="12700" rIns="0" bIns="0" rtlCol="0">
            <a:spAutoFit/>
          </a:bodyPr>
          <a:lstStyle/>
          <a:p>
            <a:pPr marL="12700">
              <a:lnSpc>
                <a:spcPct val="100000"/>
              </a:lnSpc>
              <a:spcBef>
                <a:spcPts val="100"/>
              </a:spcBef>
            </a:pPr>
            <a:r>
              <a:t>166,345</a:t>
            </a:r>
            <a:endParaRPr sz="1150" dirty="0">
              <a:latin typeface="Calibri"/>
              <a:cs typeface="Calibri"/>
            </a:endParaRPr>
          </a:p>
        </p:txBody>
      </p:sp>
      <p:sp>
        <p:nvSpPr>
          <p:cNvPr id="14" name="object 14"/>
          <p:cNvSpPr txBox="1"/>
          <p:nvPr/>
        </p:nvSpPr>
        <p:spPr>
          <a:xfrm>
            <a:off x="810564" y="3591814"/>
            <a:ext cx="832485" cy="172085"/>
          </a:xfrm>
          <a:prstGeom prst="rect">
            <a:avLst/>
          </a:prstGeom>
        </p:spPr>
        <p:txBody>
          <a:bodyPr vert="horz" wrap="square" lIns="0" tIns="13970" rIns="0" bIns="0" rtlCol="0">
            <a:spAutoFit/>
          </a:bodyPr>
          <a:lstStyle/>
          <a:p>
            <a:pPr marL="12700">
              <a:lnSpc>
                <a:spcPct val="100000"/>
              </a:lnSpc>
              <a:spcBef>
                <a:spcPts val="110"/>
              </a:spcBef>
            </a:pPr>
            <a:r>
              <a:t>UNIQUE DESTINATIONS</a:t>
            </a:r>
            <a:endParaRPr sz="950">
              <a:latin typeface="Calibri"/>
              <a:cs typeface="Calibri"/>
            </a:endParaRPr>
          </a:p>
        </p:txBody>
      </p:sp>
      <p:sp>
        <p:nvSpPr>
          <p:cNvPr id="15" name="object 15"/>
          <p:cNvSpPr txBox="1"/>
          <p:nvPr/>
        </p:nvSpPr>
        <p:spPr>
          <a:xfrm>
            <a:off x="2685414" y="3591814"/>
            <a:ext cx="2172335" cy="197490"/>
          </a:xfrm>
          <a:prstGeom prst="rect">
            <a:avLst/>
          </a:prstGeom>
        </p:spPr>
        <p:txBody>
          <a:bodyPr vert="horz" wrap="square" lIns="0" tIns="12700" rIns="0" bIns="0" rtlCol="0">
            <a:spAutoFit/>
          </a:bodyPr>
          <a:lstStyle/>
          <a:p>
            <a:pPr marL="12700">
              <a:lnSpc>
                <a:spcPct val="100000"/>
              </a:lnSpc>
              <a:spcBef>
                <a:spcPts val="100"/>
              </a:spcBef>
            </a:pPr>
            <a:r>
              <a:t>148,447</a:t>
            </a:r>
            <a:endParaRPr sz="1150" dirty="0">
              <a:latin typeface="Calibri"/>
              <a:cs typeface="Calibri"/>
            </a:endParaRPr>
          </a:p>
        </p:txBody>
      </p:sp>
      <p:sp>
        <p:nvSpPr>
          <p:cNvPr id="16" name="object 16"/>
          <p:cNvSpPr txBox="1"/>
          <p:nvPr/>
        </p:nvSpPr>
        <p:spPr>
          <a:xfrm>
            <a:off x="810564" y="4094429"/>
            <a:ext cx="775970" cy="172085"/>
          </a:xfrm>
          <a:prstGeom prst="rect">
            <a:avLst/>
          </a:prstGeom>
        </p:spPr>
        <p:txBody>
          <a:bodyPr vert="horz" wrap="square" lIns="0" tIns="13970" rIns="0" bIns="0" rtlCol="0">
            <a:spAutoFit/>
          </a:bodyPr>
          <a:lstStyle/>
          <a:p>
            <a:pPr marL="12700">
              <a:lnSpc>
                <a:spcPct val="100000"/>
              </a:lnSpc>
              <a:spcBef>
                <a:spcPts val="110"/>
              </a:spcBef>
            </a:pPr>
            <a:r>
              <a:t>AVG. OUTGOING</a:t>
            </a:r>
            <a:endParaRPr sz="950">
              <a:latin typeface="Calibri"/>
              <a:cs typeface="Calibri"/>
            </a:endParaRPr>
          </a:p>
        </p:txBody>
      </p:sp>
      <p:sp>
        <p:nvSpPr>
          <p:cNvPr id="17" name="object 17"/>
          <p:cNvSpPr txBox="1"/>
          <p:nvPr/>
        </p:nvSpPr>
        <p:spPr>
          <a:xfrm>
            <a:off x="2685414" y="4094429"/>
            <a:ext cx="1800225" cy="198131"/>
          </a:xfrm>
          <a:prstGeom prst="rect">
            <a:avLst/>
          </a:prstGeom>
        </p:spPr>
        <p:txBody>
          <a:bodyPr vert="horz" wrap="square" lIns="0" tIns="13335" rIns="0" bIns="0" rtlCol="0">
            <a:spAutoFit/>
          </a:bodyPr>
          <a:lstStyle/>
          <a:p>
            <a:pPr marL="12700">
              <a:lnSpc>
                <a:spcPct val="100000"/>
              </a:lnSpc>
              <a:spcBef>
                <a:spcPts val="105"/>
              </a:spcBef>
            </a:pPr>
            <a:r>
              <a:t>1.41</a:t>
            </a:r>
            <a:endParaRPr sz="1150" dirty="0">
              <a:latin typeface="Calibri"/>
              <a:cs typeface="Calibri"/>
            </a:endParaRPr>
          </a:p>
        </p:txBody>
      </p:sp>
      <p:sp>
        <p:nvSpPr>
          <p:cNvPr id="18" name="object 18"/>
          <p:cNvSpPr txBox="1"/>
          <p:nvPr/>
        </p:nvSpPr>
        <p:spPr>
          <a:xfrm>
            <a:off x="810564" y="4598034"/>
            <a:ext cx="814069" cy="172085"/>
          </a:xfrm>
          <a:prstGeom prst="rect">
            <a:avLst/>
          </a:prstGeom>
        </p:spPr>
        <p:txBody>
          <a:bodyPr vert="horz" wrap="square" lIns="0" tIns="13970" rIns="0" bIns="0" rtlCol="0">
            <a:spAutoFit/>
          </a:bodyPr>
          <a:lstStyle/>
          <a:p>
            <a:pPr marL="12700">
              <a:lnSpc>
                <a:spcPct val="100000"/>
              </a:lnSpc>
              <a:spcBef>
                <a:spcPts val="110"/>
              </a:spcBef>
            </a:pPr>
            <a:r>
              <a:t>AVG. INCOMING</a:t>
            </a:r>
            <a:endParaRPr sz="950">
              <a:latin typeface="Calibri"/>
              <a:cs typeface="Calibri"/>
            </a:endParaRPr>
          </a:p>
        </p:txBody>
      </p:sp>
      <p:sp>
        <p:nvSpPr>
          <p:cNvPr id="19" name="object 19"/>
          <p:cNvSpPr txBox="1"/>
          <p:nvPr/>
        </p:nvSpPr>
        <p:spPr>
          <a:xfrm>
            <a:off x="2685414" y="4598035"/>
            <a:ext cx="2894330" cy="566822"/>
          </a:xfrm>
          <a:prstGeom prst="rect">
            <a:avLst/>
          </a:prstGeom>
        </p:spPr>
        <p:txBody>
          <a:bodyPr vert="horz" wrap="square" lIns="0" tIns="12700" rIns="0" bIns="0" rtlCol="0">
            <a:spAutoFit/>
          </a:bodyPr>
          <a:lstStyle/>
          <a:p>
            <a:pPr marL="12700">
              <a:lnSpc>
                <a:spcPct val="100000"/>
              </a:lnSpc>
              <a:spcBef>
                <a:spcPts val="100"/>
              </a:spcBef>
            </a:pPr>
            <a:r>
              <a:t>1.58</a:t>
            </a:r>
            <a:endParaRPr sz="1150" dirty="0">
              <a:latin typeface="Calibri"/>
              <a:cs typeface="Calibri"/>
            </a:endParaRPr>
          </a:p>
        </p:txBody>
      </p:sp>
      <p:sp>
        <p:nvSpPr>
          <p:cNvPr id="24" name="object 24"/>
          <p:cNvSpPr txBox="1"/>
          <p:nvPr/>
        </p:nvSpPr>
        <p:spPr>
          <a:xfrm>
            <a:off x="7487817" y="1654605"/>
            <a:ext cx="2965423" cy="227626"/>
          </a:xfrm>
          <a:prstGeom prst="rect">
            <a:avLst/>
          </a:prstGeom>
        </p:spPr>
        <p:txBody>
          <a:bodyPr vert="horz" wrap="square" lIns="0" tIns="12065" rIns="0" bIns="0" rtlCol="0">
            <a:spAutoFit/>
          </a:bodyPr>
          <a:lstStyle/>
          <a:p>
            <a:pPr marL="12700">
              <a:lnSpc>
                <a:spcPct val="100000"/>
              </a:lnSpc>
              <a:spcBef>
                <a:spcPts val="95"/>
              </a:spcBef>
            </a:pPr>
            <a:r>
              <a:t>NETWORK OVERVIEW</a:t>
            </a:r>
            <a:endParaRPr sz="1300" b="1" dirty="0">
              <a:solidFill>
                <a:srgbClr val="C00000"/>
              </a:solidFill>
              <a:latin typeface="Calibri"/>
              <a:cs typeface="Calibri"/>
            </a:endParaRPr>
          </a:p>
        </p:txBody>
      </p:sp>
      <p:sp>
        <p:nvSpPr>
          <p:cNvPr id="25" name="object 25"/>
          <p:cNvSpPr txBox="1"/>
          <p:nvPr/>
        </p:nvSpPr>
        <p:spPr>
          <a:xfrm>
            <a:off x="6673977" y="2111197"/>
            <a:ext cx="4548505" cy="1520929"/>
          </a:xfrm>
          <a:prstGeom prst="rect">
            <a:avLst/>
          </a:prstGeom>
        </p:spPr>
        <p:txBody>
          <a:bodyPr vert="horz" wrap="square" lIns="0" tIns="12700" rIns="0" bIns="0" rtlCol="0">
            <a:spAutoFit/>
          </a:bodyPr>
          <a:lstStyle/>
          <a:p>
            <a:pPr algn="ctr"/>
            <a:r>
              <a:t>The edge list represents transaction-to-transaction connections using txId1 and txId2. These relationships are important for constructing the financial transaction graph used by GNN models.</a:t>
            </a:r>
          </a:p>
        </p:txBody>
      </p:sp>
      <p:sp>
        <p:nvSpPr>
          <p:cNvPr id="26" name="object 26"/>
          <p:cNvSpPr/>
          <p:nvPr/>
        </p:nvSpPr>
        <p:spPr>
          <a:xfrm>
            <a:off x="7485888" y="4663440"/>
            <a:ext cx="2926080" cy="457200"/>
          </a:xfrm>
          <a:custGeom>
            <a:avLst/>
            <a:gdLst/>
            <a:ahLst/>
            <a:cxnLst/>
            <a:rect l="l" t="t" r="r" b="b"/>
            <a:pathLst>
              <a:path w="2926079" h="457200">
                <a:moveTo>
                  <a:pt x="2697479" y="0"/>
                </a:moveTo>
                <a:lnTo>
                  <a:pt x="228600" y="0"/>
                </a:lnTo>
                <a:lnTo>
                  <a:pt x="182533" y="4644"/>
                </a:lnTo>
                <a:lnTo>
                  <a:pt x="139624" y="17966"/>
                </a:lnTo>
                <a:lnTo>
                  <a:pt x="100793" y="39045"/>
                </a:lnTo>
                <a:lnTo>
                  <a:pt x="66960" y="66960"/>
                </a:lnTo>
                <a:lnTo>
                  <a:pt x="39045" y="100793"/>
                </a:lnTo>
                <a:lnTo>
                  <a:pt x="17966" y="139624"/>
                </a:lnTo>
                <a:lnTo>
                  <a:pt x="4644" y="182533"/>
                </a:lnTo>
                <a:lnTo>
                  <a:pt x="0" y="228600"/>
                </a:lnTo>
                <a:lnTo>
                  <a:pt x="4644" y="274666"/>
                </a:lnTo>
                <a:lnTo>
                  <a:pt x="17966" y="317575"/>
                </a:lnTo>
                <a:lnTo>
                  <a:pt x="39045" y="356406"/>
                </a:lnTo>
                <a:lnTo>
                  <a:pt x="66960" y="390239"/>
                </a:lnTo>
                <a:lnTo>
                  <a:pt x="100793" y="418154"/>
                </a:lnTo>
                <a:lnTo>
                  <a:pt x="139624" y="439233"/>
                </a:lnTo>
                <a:lnTo>
                  <a:pt x="182533" y="452555"/>
                </a:lnTo>
                <a:lnTo>
                  <a:pt x="228600" y="457200"/>
                </a:lnTo>
                <a:lnTo>
                  <a:pt x="2697479" y="457200"/>
                </a:lnTo>
                <a:lnTo>
                  <a:pt x="2743546" y="452555"/>
                </a:lnTo>
                <a:lnTo>
                  <a:pt x="2786455" y="439233"/>
                </a:lnTo>
                <a:lnTo>
                  <a:pt x="2825286" y="418154"/>
                </a:lnTo>
                <a:lnTo>
                  <a:pt x="2859119" y="390239"/>
                </a:lnTo>
                <a:lnTo>
                  <a:pt x="2887034" y="356406"/>
                </a:lnTo>
                <a:lnTo>
                  <a:pt x="2908113" y="317575"/>
                </a:lnTo>
                <a:lnTo>
                  <a:pt x="2921435" y="274666"/>
                </a:lnTo>
                <a:lnTo>
                  <a:pt x="2926079" y="228600"/>
                </a:lnTo>
                <a:lnTo>
                  <a:pt x="2921435" y="182533"/>
                </a:lnTo>
                <a:lnTo>
                  <a:pt x="2908113" y="139624"/>
                </a:lnTo>
                <a:lnTo>
                  <a:pt x="2887034" y="100793"/>
                </a:lnTo>
                <a:lnTo>
                  <a:pt x="2859119" y="66960"/>
                </a:lnTo>
                <a:lnTo>
                  <a:pt x="2825286" y="39045"/>
                </a:lnTo>
                <a:lnTo>
                  <a:pt x="2786455" y="17966"/>
                </a:lnTo>
                <a:lnTo>
                  <a:pt x="2743546" y="4644"/>
                </a:lnTo>
                <a:lnTo>
                  <a:pt x="2697479" y="0"/>
                </a:lnTo>
                <a:close/>
              </a:path>
            </a:pathLst>
          </a:custGeom>
          <a:solidFill>
            <a:srgbClr val="006FC0"/>
          </a:solidFill>
        </p:spPr>
        <p:txBody>
          <a:bodyPr wrap="square" lIns="0" tIns="0" rIns="0" bIns="0" rtlCol="0"/>
          <a:lstStyle/>
          <a:p>
            <a:endParaRPr/>
          </a:p>
        </p:txBody>
      </p:sp>
      <p:sp>
        <p:nvSpPr>
          <p:cNvPr id="27" name="object 27"/>
          <p:cNvSpPr txBox="1"/>
          <p:nvPr/>
        </p:nvSpPr>
        <p:spPr>
          <a:xfrm>
            <a:off x="7941436" y="4793295"/>
            <a:ext cx="2002410" cy="197490"/>
          </a:xfrm>
          <a:prstGeom prst="rect">
            <a:avLst/>
          </a:prstGeom>
        </p:spPr>
        <p:txBody>
          <a:bodyPr vert="horz" wrap="square" lIns="0" tIns="12700" rIns="0" bIns="0" rtlCol="0">
            <a:spAutoFit/>
          </a:bodyPr>
          <a:lstStyle/>
          <a:p>
            <a:pPr marL="12700">
              <a:lnSpc>
                <a:spcPct val="100000"/>
              </a:lnSpc>
              <a:spcBef>
                <a:spcPts val="100"/>
              </a:spcBef>
            </a:pPr>
            <a:r>
              <a:t>TRANSACTION GRAPH</a:t>
            </a:r>
            <a:endParaRPr sz="1200" dirty="0">
              <a:solidFill>
                <a:schemeClr val="bg1"/>
              </a:solidFill>
              <a:latin typeface="Calibri"/>
              <a:cs typeface="Calibri"/>
            </a:endParaRPr>
          </a:p>
        </p:txBody>
      </p:sp>
      <p:sp>
        <p:nvSpPr>
          <p:cNvPr id="28" name="object 28"/>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29" name="object 29"/>
          <p:cNvSpPr txBox="1">
            <a:spLocks noGrp="1"/>
          </p:cNvSpPr>
          <p:nvPr>
            <p:ph type="sldNum" sz="quarter" idx="7"/>
          </p:nvPr>
        </p:nvSpPr>
        <p:spPr>
          <a:prstGeom prst="rect">
            <a:avLst/>
          </a:prstGeom>
        </p:spPr>
        <p:txBody>
          <a:bodyPr vert="horz" wrap="square" lIns="0" tIns="0" rIns="0" bIns="0" rtlCol="0">
            <a:spAutoFit/>
          </a:bodyPr>
          <a:lstStyle/>
          <a:p>
            <a:r>
              <a:rPr sz="700"/>
              <a:t>18</a:t>
            </a:r>
          </a:p>
        </p:txBody>
      </p:sp>
      <p:sp>
        <p:nvSpPr>
          <p:cNvPr id="30" name="Rounded Rectangle 29"/>
          <p:cNvSpPr/>
          <p:nvPr/>
        </p:nvSpPr>
        <p:spPr>
          <a:xfrm>
            <a:off x="431574" y="1319459"/>
            <a:ext cx="5547360" cy="4321810"/>
          </a:xfrm>
          <a:prstGeom prst="roundRect">
            <a:avLst/>
          </a:prstGeom>
          <a:solidFill>
            <a:srgbClr val="FFFFFF"/>
          </a:solidFill>
          <a:ln w="1270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6169152" y="1310665"/>
            <a:ext cx="5547360" cy="4321810"/>
          </a:xfrm>
          <a:prstGeom prst="roundRect">
            <a:avLst/>
          </a:prstGeom>
          <a:solidFill>
            <a:srgbClr val="FFFFFF"/>
          </a:solidFill>
          <a:ln w="1270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50000" y="1550000"/>
            <a:ext cx="5000000" cy="3900000"/>
          </a:xfrm>
          <a:prstGeom prst="rect">
            <a:avLst/>
          </a:prstGeom>
          <a:noFill/>
        </p:spPr>
        <p:txBody>
          <a:bodyPr wrap="square">
            <a:spAutoFit/>
          </a:bodyPr>
          <a:lstStyle/>
          <a:p>
            <a:pPr algn="l"/>
            <a:r>
              <a:rPr sz="1600" b="0"/>
              <a:t>GRAPH DATA</a:t>
            </a:r>
            <a:br/>
            <a:br/>
            <a:r>
              <a:rPr sz="1600" b="0"/>
              <a:t>Elliptic transaction network</a:t>
            </a:r>
            <a:br/>
            <a:br/>
            <a:r>
              <a:rPr sz="1600" b="0"/>
              <a:t>TRANSACTION EDGES        234,355</a:t>
            </a:r>
            <a:br/>
            <a:r>
              <a:rPr sz="1600" b="0"/>
              <a:t>UNIQUE SOURCES           166,345</a:t>
            </a:r>
            <a:br/>
            <a:r>
              <a:rPr sz="1600" b="0"/>
              <a:t>UNIQUE DESTINATIONS      148,447</a:t>
            </a:r>
            <a:br/>
            <a:r>
              <a:rPr sz="1600" b="0"/>
              <a:t>AVG. OUTGOING CONNECTIONS   1.41</a:t>
            </a:r>
            <a:br/>
            <a:r>
              <a:rPr sz="1600" b="0"/>
              <a:t>AVG. INCOMING CONNECTIONS   1.58</a:t>
            </a:r>
          </a:p>
        </p:txBody>
      </p:sp>
      <p:sp>
        <p:nvSpPr>
          <p:cNvPr id="33" name="TextBox 32"/>
          <p:cNvSpPr txBox="1"/>
          <p:nvPr/>
        </p:nvSpPr>
        <p:spPr>
          <a:xfrm>
            <a:off x="6650000" y="1500000"/>
            <a:ext cx="4500000" cy="1100000"/>
          </a:xfrm>
          <a:prstGeom prst="rect">
            <a:avLst/>
          </a:prstGeom>
          <a:noFill/>
        </p:spPr>
        <p:txBody>
          <a:bodyPr wrap="square">
            <a:spAutoFit/>
          </a:bodyPr>
          <a:lstStyle/>
          <a:p>
            <a:pPr algn="ctr"/>
            <a:r>
              <a:rPr sz="1300" b="0"/>
              <a:t>NETWORK OVERVIEW</a:t>
            </a:r>
            <a:br/>
            <a:br/>
            <a:r>
              <a:rPr sz="1300" b="0"/>
              <a:t>The edge list stores transaction-to-transaction connections using txId1 and txId2. These relationships form the graph structure used for GNN-based AML analysis.</a:t>
            </a:r>
          </a:p>
        </p:txBody>
      </p:sp>
      <p:pic>
        <p:nvPicPr>
          <p:cNvPr id="34" name="Picture 33" descr="image.png"/>
          <p:cNvPicPr>
            <a:picLocks noChangeAspect="1"/>
          </p:cNvPicPr>
          <p:nvPr/>
        </p:nvPicPr>
        <p:blipFill>
          <a:blip r:embed="rId2"/>
          <a:stretch>
            <a:fillRect/>
          </a:stretch>
        </p:blipFill>
        <p:spPr>
          <a:xfrm>
            <a:off x="6650000" y="2900000"/>
            <a:ext cx="4500000" cy="2450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86200" y="228600"/>
            <a:ext cx="3657600" cy="320040"/>
          </a:xfrm>
          <a:prstGeom prst="rect">
            <a:avLst/>
          </a:prstGeom>
          <a:noFill/>
        </p:spPr>
        <p:txBody>
          <a:bodyPr wrap="square" lIns="73152" tIns="36576" rIns="73152" bIns="36576">
            <a:spAutoFit/>
          </a:bodyPr>
          <a:lstStyle/>
          <a:p>
            <a:pPr algn="ctr"/>
            <a:r>
              <a:rPr sz="2000" b="1"/>
              <a:t>METHODOLOGY</a:t>
            </a:r>
          </a:p>
        </p:txBody>
      </p:sp>
      <p:sp>
        <p:nvSpPr>
          <p:cNvPr id="3" name="TextBox 2"/>
          <p:cNvSpPr txBox="1"/>
          <p:nvPr/>
        </p:nvSpPr>
        <p:spPr>
          <a:xfrm>
            <a:off x="4297680" y="594360"/>
            <a:ext cx="3017520" cy="256032"/>
          </a:xfrm>
          <a:prstGeom prst="rect">
            <a:avLst/>
          </a:prstGeom>
          <a:noFill/>
        </p:spPr>
        <p:txBody>
          <a:bodyPr wrap="square" lIns="73152" tIns="36576" rIns="73152" bIns="36576">
            <a:spAutoFit/>
          </a:bodyPr>
          <a:lstStyle/>
          <a:p>
            <a:pPr algn="ctr"/>
            <a:r>
              <a:rPr sz="1000" b="0"/>
              <a:t>End-to-end pipeline for AML detection</a:t>
            </a:r>
          </a:p>
        </p:txBody>
      </p:sp>
      <p:sp>
        <p:nvSpPr>
          <p:cNvPr id="4" name="Rectangle 3"/>
          <p:cNvSpPr/>
          <p:nvPr/>
        </p:nvSpPr>
        <p:spPr>
          <a:xfrm>
            <a:off x="685800" y="1097280"/>
            <a:ext cx="4983480" cy="1051560"/>
          </a:xfrm>
          <a:prstGeom prst="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wrap="square" lIns="152400" tIns="101600" rIns="152400" bIns="101600" rtlCol="0" anchor="ctr"/>
          <a:lstStyle/>
          <a:p>
            <a:pPr algn="l">
              <a:defRPr sz="1400" b="0">
                <a:solidFill>
                  <a:srgbClr val="000000"/>
                </a:solidFill>
                <a:latin typeface="Arial"/>
              </a:defRPr>
            </a:pPr>
            <a:r>
              <a:t>1. DATA PREPARATION</a:t>
            </a:r>
            <a:br/>
            <a:r>
              <a:t>Load feature, label and edge files and inspect dimensions and data types.</a:t>
            </a:r>
          </a:p>
        </p:txBody>
      </p:sp>
      <p:sp>
        <p:nvSpPr>
          <p:cNvPr id="5" name="Rectangle 4"/>
          <p:cNvSpPr/>
          <p:nvPr/>
        </p:nvSpPr>
        <p:spPr>
          <a:xfrm>
            <a:off x="5989320" y="1097280"/>
            <a:ext cx="4983480" cy="1051560"/>
          </a:xfrm>
          <a:prstGeom prst="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wrap="square" lIns="152400" tIns="101600" rIns="152400" bIns="101600" rtlCol="0" anchor="ctr"/>
          <a:lstStyle/>
          <a:p>
            <a:pPr algn="l">
              <a:defRPr sz="1400" b="0">
                <a:solidFill>
                  <a:srgbClr val="000000"/>
                </a:solidFill>
                <a:latin typeface="Arial"/>
              </a:defRPr>
            </a:pPr>
            <a:r>
              <a:t>2. PREPROCESSING</a:t>
            </a:r>
            <a:br/>
            <a:r>
              <a:t>Check missing values, prepare class labels, and normalize or encode features as required.</a:t>
            </a:r>
          </a:p>
        </p:txBody>
      </p:sp>
      <p:sp>
        <p:nvSpPr>
          <p:cNvPr id="6" name="Rectangle 5"/>
          <p:cNvSpPr/>
          <p:nvPr/>
        </p:nvSpPr>
        <p:spPr>
          <a:xfrm>
            <a:off x="685800" y="2468880"/>
            <a:ext cx="4983480" cy="1051560"/>
          </a:xfrm>
          <a:prstGeom prst="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wrap="square" lIns="152400" tIns="101600" rIns="152400" bIns="101600" rtlCol="0" anchor="ctr"/>
          <a:lstStyle/>
          <a:p>
            <a:pPr algn="l">
              <a:defRPr sz="1400" b="0">
                <a:solidFill>
                  <a:srgbClr val="000000"/>
                </a:solidFill>
                <a:latin typeface="Arial"/>
              </a:defRPr>
            </a:pPr>
            <a:r>
              <a:t>3. GRAPH CONSTRUCTION</a:t>
            </a:r>
            <a:br/>
            <a:r>
              <a:t>Represent transactions as graph nodes and txId1–txId2 relationships as edges.</a:t>
            </a:r>
          </a:p>
        </p:txBody>
      </p:sp>
      <p:sp>
        <p:nvSpPr>
          <p:cNvPr id="7" name="Rectangle 6"/>
          <p:cNvSpPr/>
          <p:nvPr/>
        </p:nvSpPr>
        <p:spPr>
          <a:xfrm>
            <a:off x="5989320" y="2468880"/>
            <a:ext cx="4983480" cy="1051560"/>
          </a:xfrm>
          <a:prstGeom prst="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wrap="square" lIns="152400" tIns="101600" rIns="152400" bIns="101600" rtlCol="0" anchor="ctr"/>
          <a:lstStyle/>
          <a:p>
            <a:pPr algn="l">
              <a:defRPr sz="1400" b="0">
                <a:solidFill>
                  <a:srgbClr val="000000"/>
                </a:solidFill>
                <a:latin typeface="Arial"/>
              </a:defRPr>
            </a:pPr>
            <a:r>
              <a:t>4. GNN TRAINING</a:t>
            </a:r>
            <a:br/>
            <a:r>
              <a:t>Learn transaction representations from node features and neighboring transaction information.</a:t>
            </a:r>
          </a:p>
        </p:txBody>
      </p:sp>
      <p:sp>
        <p:nvSpPr>
          <p:cNvPr id="8" name="Rectangle 7"/>
          <p:cNvSpPr/>
          <p:nvPr/>
        </p:nvSpPr>
        <p:spPr>
          <a:xfrm>
            <a:off x="685800" y="3840480"/>
            <a:ext cx="4983480" cy="1051560"/>
          </a:xfrm>
          <a:prstGeom prst="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wrap="square" lIns="152400" tIns="101600" rIns="152400" bIns="101600" rtlCol="0" anchor="ctr"/>
          <a:lstStyle/>
          <a:p>
            <a:pPr algn="l">
              <a:defRPr sz="1400" b="0">
                <a:solidFill>
                  <a:srgbClr val="000000"/>
                </a:solidFill>
                <a:latin typeface="Arial"/>
              </a:defRPr>
            </a:pPr>
            <a:r>
              <a:t>5. VALIDATION</a:t>
            </a:r>
            <a:br/>
            <a:r>
              <a:t>Evaluate predictions using Accuracy, Precision, Recall and F1-Score with an appropriate held-out setup.</a:t>
            </a:r>
          </a:p>
        </p:txBody>
      </p:sp>
      <p:sp>
        <p:nvSpPr>
          <p:cNvPr id="9" name="Rectangle 8"/>
          <p:cNvSpPr/>
          <p:nvPr/>
        </p:nvSpPr>
        <p:spPr>
          <a:xfrm>
            <a:off x="5989320" y="3840480"/>
            <a:ext cx="4983480" cy="1051560"/>
          </a:xfrm>
          <a:prstGeom prst="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wrap="square" lIns="152400" tIns="101600" rIns="152400" bIns="101600" rtlCol="0" anchor="ctr"/>
          <a:lstStyle/>
          <a:p>
            <a:pPr algn="l">
              <a:defRPr sz="1400" b="0">
                <a:solidFill>
                  <a:srgbClr val="000000"/>
                </a:solidFill>
                <a:latin typeface="Arial"/>
              </a:defRPr>
            </a:pPr>
            <a:r>
              <a:t>6. AML PREDICTION</a:t>
            </a:r>
            <a:br/>
            <a:r>
              <a:t>Use the trained GNN to identify potentially illicit transaction patterns and support AML analysis.</a:t>
            </a:r>
          </a:p>
        </p:txBody>
      </p:sp>
      <p:sp>
        <p:nvSpPr>
          <p:cNvPr id="10" name="TextBox 9"/>
          <p:cNvSpPr txBox="1"/>
          <p:nvPr/>
        </p:nvSpPr>
        <p:spPr>
          <a:xfrm>
            <a:off x="365760" y="6016752"/>
            <a:ext cx="2468880" cy="137160"/>
          </a:xfrm>
          <a:prstGeom prst="rect">
            <a:avLst/>
          </a:prstGeom>
          <a:noFill/>
        </p:spPr>
        <p:txBody>
          <a:bodyPr wrap="square" lIns="73152" tIns="36576" rIns="73152" bIns="36576">
            <a:spAutoFit/>
          </a:bodyPr>
          <a:lstStyle/>
          <a:p>
            <a:pPr algn="l"/>
            <a:r>
              <a:rPr sz="700" b="0"/>
              <a:t>MACHINE LEARNING • COURSE CODE: 25SC2107E</a:t>
            </a:r>
          </a:p>
        </p:txBody>
      </p:sp>
      <p:sp>
        <p:nvSpPr>
          <p:cNvPr id="11" name="TextBox 10"/>
          <p:cNvSpPr txBox="1"/>
          <p:nvPr/>
        </p:nvSpPr>
        <p:spPr>
          <a:xfrm>
            <a:off x="10652760" y="6016752"/>
            <a:ext cx="182880" cy="137160"/>
          </a:xfrm>
          <a:prstGeom prst="rect">
            <a:avLst/>
          </a:prstGeom>
          <a:noFill/>
        </p:spPr>
        <p:txBody>
          <a:bodyPr wrap="square" lIns="73152" tIns="36576" rIns="73152" bIns="36576">
            <a:spAutoFit/>
          </a:bodyPr>
          <a:lstStyle/>
          <a:p>
            <a:pPr algn="r"/>
            <a:r>
              <a:rPr sz="700"/>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86200" y="228600"/>
            <a:ext cx="3657600" cy="320040"/>
          </a:xfrm>
          <a:prstGeom prst="rect">
            <a:avLst/>
          </a:prstGeom>
          <a:noFill/>
        </p:spPr>
        <p:txBody>
          <a:bodyPr wrap="square" lIns="73152" tIns="36576" rIns="73152" bIns="36576">
            <a:spAutoFit/>
          </a:bodyPr>
          <a:lstStyle/>
          <a:p>
            <a:pPr algn="ctr"/>
            <a:r>
              <a:rPr sz="2000" b="1"/>
              <a:t>RESULTS AND DISCUSSION</a:t>
            </a:r>
          </a:p>
        </p:txBody>
      </p:sp>
      <p:sp>
        <p:nvSpPr>
          <p:cNvPr id="3" name="TextBox 2"/>
          <p:cNvSpPr txBox="1"/>
          <p:nvPr/>
        </p:nvSpPr>
        <p:spPr>
          <a:xfrm>
            <a:off x="4297680" y="594360"/>
            <a:ext cx="3017520" cy="256032"/>
          </a:xfrm>
          <a:prstGeom prst="rect">
            <a:avLst/>
          </a:prstGeom>
          <a:noFill/>
        </p:spPr>
        <p:txBody>
          <a:bodyPr wrap="square" lIns="73152" tIns="36576" rIns="73152" bIns="36576">
            <a:spAutoFit/>
          </a:bodyPr>
          <a:lstStyle/>
          <a:p>
            <a:pPr algn="ctr"/>
            <a:r>
              <a:rPr sz="1000" b="0"/>
              <a:t>Findings from the completed EDA stage</a:t>
            </a:r>
          </a:p>
        </p:txBody>
      </p:sp>
      <p:sp>
        <p:nvSpPr>
          <p:cNvPr id="4" name="Rectangle 3"/>
          <p:cNvSpPr/>
          <p:nvPr/>
        </p:nvSpPr>
        <p:spPr>
          <a:xfrm>
            <a:off x="731520" y="1097280"/>
            <a:ext cx="5074920" cy="1234440"/>
          </a:xfrm>
          <a:prstGeom prst="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wrap="square" lIns="152400" tIns="101600" rIns="152400" bIns="101600" rtlCol="0" anchor="ctr"/>
          <a:lstStyle/>
          <a:p>
            <a:pPr algn="l">
              <a:defRPr sz="1400" b="0">
                <a:solidFill>
                  <a:srgbClr val="000000"/>
                </a:solidFill>
                <a:latin typeface="Arial"/>
              </a:defRPr>
            </a:pPr>
            <a:r>
              <a:t>DATASET SCALE</a:t>
            </a:r>
            <a:br/>
            <a:r>
              <a:t>EDA identified 44,950 feature rows, 167 feature columns, 234,355 transaction edges and 203,769 class labels.</a:t>
            </a:r>
          </a:p>
        </p:txBody>
      </p:sp>
      <p:sp>
        <p:nvSpPr>
          <p:cNvPr id="5" name="Rectangle 4"/>
          <p:cNvSpPr/>
          <p:nvPr/>
        </p:nvSpPr>
        <p:spPr>
          <a:xfrm>
            <a:off x="6080760" y="1097280"/>
            <a:ext cx="5074920" cy="1234440"/>
          </a:xfrm>
          <a:prstGeom prst="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wrap="square" lIns="152400" tIns="101600" rIns="152400" bIns="101600" rtlCol="0" anchor="ctr"/>
          <a:lstStyle/>
          <a:p>
            <a:pPr algn="l">
              <a:defRPr sz="1400" b="0">
                <a:solidFill>
                  <a:srgbClr val="000000"/>
                </a:solidFill>
                <a:latin typeface="Arial"/>
              </a:defRPr>
            </a:pPr>
            <a:r>
              <a:t>CLASS DISTRIBUTION</a:t>
            </a:r>
            <a:br/>
            <a:r>
              <a:t>There are 4,545 illicit labels compared with 42,019 licit labels and 157,205 unknown labels. The illicit class is therefore much smaller.</a:t>
            </a:r>
          </a:p>
        </p:txBody>
      </p:sp>
      <p:sp>
        <p:nvSpPr>
          <p:cNvPr id="6" name="Rectangle 5"/>
          <p:cNvSpPr/>
          <p:nvPr/>
        </p:nvSpPr>
        <p:spPr>
          <a:xfrm>
            <a:off x="731520" y="2697480"/>
            <a:ext cx="5074920" cy="1234440"/>
          </a:xfrm>
          <a:prstGeom prst="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wrap="square" lIns="152400" tIns="101600" rIns="152400" bIns="101600" rtlCol="0" anchor="ctr"/>
          <a:lstStyle/>
          <a:p>
            <a:pPr algn="l">
              <a:defRPr sz="1400" b="0">
                <a:solidFill>
                  <a:srgbClr val="000000"/>
                </a:solidFill>
                <a:latin typeface="Arial"/>
              </a:defRPr>
            </a:pPr>
            <a:r>
              <a:t>FEATURE BEHAVIOUR</a:t>
            </a:r>
            <a:br/>
            <a:r>
              <a:t>Selected feature distributions show different spreads, skewness and unusual values. These observations support preprocessing before GNN training.</a:t>
            </a:r>
          </a:p>
        </p:txBody>
      </p:sp>
      <p:sp>
        <p:nvSpPr>
          <p:cNvPr id="7" name="Rectangle 6"/>
          <p:cNvSpPr/>
          <p:nvPr/>
        </p:nvSpPr>
        <p:spPr>
          <a:xfrm>
            <a:off x="6080760" y="2697480"/>
            <a:ext cx="5074920" cy="1234440"/>
          </a:xfrm>
          <a:prstGeom prst="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wrap="square" lIns="152400" tIns="101600" rIns="152400" bIns="101600" rtlCol="0" anchor="ctr"/>
          <a:lstStyle/>
          <a:p>
            <a:pPr algn="l">
              <a:defRPr sz="1400" b="0">
                <a:solidFill>
                  <a:srgbClr val="000000"/>
                </a:solidFill>
                <a:latin typeface="Arial"/>
              </a:defRPr>
            </a:pPr>
            <a:r>
              <a:t>GRAPH STRUCTURE</a:t>
            </a:r>
            <a:br/>
            <a:r>
              <a:t>The edge list contains 234,355 connections, with 166,345 unique sources and 148,447 unique destinations. The graph provides relational information for GNN learning.</a:t>
            </a:r>
          </a:p>
        </p:txBody>
      </p:sp>
      <p:sp>
        <p:nvSpPr>
          <p:cNvPr id="8" name="Rectangle 7"/>
          <p:cNvSpPr/>
          <p:nvPr/>
        </p:nvSpPr>
        <p:spPr>
          <a:xfrm>
            <a:off x="731520" y="4297680"/>
            <a:ext cx="10424160" cy="960120"/>
          </a:xfrm>
          <a:prstGeom prst="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wrap="square" lIns="152400" tIns="101600" rIns="152400" bIns="101600" rtlCol="0" anchor="ctr"/>
          <a:lstStyle/>
          <a:p>
            <a:pPr algn="l">
              <a:defRPr sz="1300" b="0">
                <a:solidFill>
                  <a:srgbClr val="000000"/>
                </a:solidFill>
                <a:latin typeface="Arial"/>
              </a:defRPr>
            </a:pPr>
            <a:r>
              <a:t>DISCUSSION</a:t>
            </a:r>
            <a:br/>
            <a:r>
              <a:t>The EDA indicates that AML detection should consider both feature information and transaction connectivity. Because the illicit class is small and many labels are unknown, evaluation should emphasize class-sensitive metrics such as Precision, Recall and F1-Score. No trained-model performance values were supplied yet.</a:t>
            </a:r>
          </a:p>
        </p:txBody>
      </p:sp>
      <p:sp>
        <p:nvSpPr>
          <p:cNvPr id="9" name="TextBox 8"/>
          <p:cNvSpPr txBox="1"/>
          <p:nvPr/>
        </p:nvSpPr>
        <p:spPr>
          <a:xfrm>
            <a:off x="365760" y="6016752"/>
            <a:ext cx="2468880" cy="137160"/>
          </a:xfrm>
          <a:prstGeom prst="rect">
            <a:avLst/>
          </a:prstGeom>
          <a:noFill/>
        </p:spPr>
        <p:txBody>
          <a:bodyPr wrap="square" lIns="73152" tIns="36576" rIns="73152" bIns="36576">
            <a:spAutoFit/>
          </a:bodyPr>
          <a:lstStyle/>
          <a:p>
            <a:pPr algn="l"/>
            <a:r>
              <a:rPr sz="700" b="0"/>
              <a:t>MACHINE LEARNING • COURSE CODE: 25SC2107E</a:t>
            </a:r>
          </a:p>
        </p:txBody>
      </p:sp>
      <p:sp>
        <p:nvSpPr>
          <p:cNvPr id="10" name="TextBox 9"/>
          <p:cNvSpPr txBox="1"/>
          <p:nvPr/>
        </p:nvSpPr>
        <p:spPr>
          <a:xfrm>
            <a:off x="10652760" y="6016752"/>
            <a:ext cx="182880" cy="137160"/>
          </a:xfrm>
          <a:prstGeom prst="rect">
            <a:avLst/>
          </a:prstGeom>
          <a:noFill/>
        </p:spPr>
        <p:txBody>
          <a:bodyPr wrap="square" lIns="73152" tIns="36576" rIns="73152" bIns="36576">
            <a:spAutoFit/>
          </a:bodyPr>
          <a:lstStyle/>
          <a:p>
            <a:pPr algn="r"/>
            <a:r>
              <a:rPr sz="700"/>
              <a:t>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pPr marL="17145">
              <a:lnSpc>
                <a:spcPct val="100000"/>
              </a:lnSpc>
              <a:spcBef>
                <a:spcPts val="105"/>
              </a:spcBef>
            </a:pPr>
            <a:r>
              <a:rPr dirty="0"/>
              <a:t>PROPOSED</a:t>
            </a:r>
            <a:r>
              <a:rPr spc="-55" dirty="0"/>
              <a:t> </a:t>
            </a:r>
            <a:r>
              <a:rPr dirty="0"/>
              <a:t>MODEL</a:t>
            </a:r>
            <a:r>
              <a:rPr spc="-50" dirty="0"/>
              <a:t> </a:t>
            </a:r>
            <a:r>
              <a:rPr spc="-10" dirty="0"/>
              <a:t>WORKFLOW</a:t>
            </a:r>
          </a:p>
        </p:txBody>
      </p:sp>
      <p:grpSp>
        <p:nvGrpSpPr>
          <p:cNvPr id="3" name="object 3"/>
          <p:cNvGrpSpPr/>
          <p:nvPr/>
        </p:nvGrpSpPr>
        <p:grpSpPr>
          <a:xfrm>
            <a:off x="463295" y="1331785"/>
            <a:ext cx="1874520" cy="3569335"/>
            <a:chOff x="463295" y="1331785"/>
            <a:chExt cx="1874520" cy="3569335"/>
          </a:xfrm>
        </p:grpSpPr>
        <p:pic>
          <p:nvPicPr>
            <p:cNvPr id="4" name="object 4"/>
            <p:cNvPicPr/>
            <p:nvPr/>
          </p:nvPicPr>
          <p:blipFill>
            <a:blip r:embed="rId2" cstate="print"/>
            <a:stretch>
              <a:fillRect/>
            </a:stretch>
          </p:blipFill>
          <p:spPr>
            <a:xfrm>
              <a:off x="463295" y="1539239"/>
              <a:ext cx="1874139" cy="3361563"/>
            </a:xfrm>
            <a:prstGeom prst="rect">
              <a:avLst/>
            </a:prstGeom>
          </p:spPr>
        </p:pic>
        <p:sp>
          <p:nvSpPr>
            <p:cNvPr id="5" name="object 5"/>
            <p:cNvSpPr/>
            <p:nvPr/>
          </p:nvSpPr>
          <p:spPr>
            <a:xfrm>
              <a:off x="548639" y="1600199"/>
              <a:ext cx="1713230" cy="3200400"/>
            </a:xfrm>
            <a:custGeom>
              <a:avLst/>
              <a:gdLst/>
              <a:ahLst/>
              <a:cxnLst/>
              <a:rect l="l" t="t" r="r" b="b"/>
              <a:pathLst>
                <a:path w="1713230" h="3200400">
                  <a:moveTo>
                    <a:pt x="1639824" y="0"/>
                  </a:moveTo>
                  <a:lnTo>
                    <a:pt x="73215" y="0"/>
                  </a:lnTo>
                  <a:lnTo>
                    <a:pt x="44716" y="5750"/>
                  </a:lnTo>
                  <a:lnTo>
                    <a:pt x="21443" y="21431"/>
                  </a:lnTo>
                  <a:lnTo>
                    <a:pt x="5753" y="44684"/>
                  </a:lnTo>
                  <a:lnTo>
                    <a:pt x="0" y="73151"/>
                  </a:lnTo>
                  <a:lnTo>
                    <a:pt x="0" y="3127248"/>
                  </a:lnTo>
                  <a:lnTo>
                    <a:pt x="5753" y="3155715"/>
                  </a:lnTo>
                  <a:lnTo>
                    <a:pt x="21443" y="3178968"/>
                  </a:lnTo>
                  <a:lnTo>
                    <a:pt x="44716" y="3194649"/>
                  </a:lnTo>
                  <a:lnTo>
                    <a:pt x="73215" y="3200400"/>
                  </a:lnTo>
                  <a:lnTo>
                    <a:pt x="1639824" y="3200400"/>
                  </a:lnTo>
                  <a:lnTo>
                    <a:pt x="1668291" y="3194649"/>
                  </a:lnTo>
                  <a:lnTo>
                    <a:pt x="1691544" y="3178968"/>
                  </a:lnTo>
                  <a:lnTo>
                    <a:pt x="1707225" y="3155715"/>
                  </a:lnTo>
                  <a:lnTo>
                    <a:pt x="1712976" y="3127248"/>
                  </a:lnTo>
                  <a:lnTo>
                    <a:pt x="1712976" y="73151"/>
                  </a:lnTo>
                  <a:lnTo>
                    <a:pt x="1707225" y="44684"/>
                  </a:lnTo>
                  <a:lnTo>
                    <a:pt x="1691544" y="21431"/>
                  </a:lnTo>
                  <a:lnTo>
                    <a:pt x="1668291" y="5750"/>
                  </a:lnTo>
                  <a:lnTo>
                    <a:pt x="1639824" y="0"/>
                  </a:lnTo>
                  <a:close/>
                </a:path>
              </a:pathLst>
            </a:custGeom>
            <a:solidFill>
              <a:srgbClr val="FFFFFF"/>
            </a:solidFill>
          </p:spPr>
          <p:txBody>
            <a:bodyPr wrap="square" lIns="0" tIns="0" rIns="0" bIns="0" rtlCol="0"/>
            <a:lstStyle/>
            <a:p>
              <a:endParaRPr/>
            </a:p>
          </p:txBody>
        </p:sp>
        <p:sp>
          <p:nvSpPr>
            <p:cNvPr id="6" name="object 6"/>
            <p:cNvSpPr/>
            <p:nvPr/>
          </p:nvSpPr>
          <p:spPr>
            <a:xfrm>
              <a:off x="548639" y="1600199"/>
              <a:ext cx="1713230" cy="3200400"/>
            </a:xfrm>
            <a:custGeom>
              <a:avLst/>
              <a:gdLst/>
              <a:ahLst/>
              <a:cxnLst/>
              <a:rect l="l" t="t" r="r" b="b"/>
              <a:pathLst>
                <a:path w="1713230" h="3200400">
                  <a:moveTo>
                    <a:pt x="0" y="73151"/>
                  </a:moveTo>
                  <a:lnTo>
                    <a:pt x="5753" y="44684"/>
                  </a:lnTo>
                  <a:lnTo>
                    <a:pt x="21443" y="21431"/>
                  </a:lnTo>
                  <a:lnTo>
                    <a:pt x="44716" y="5750"/>
                  </a:lnTo>
                  <a:lnTo>
                    <a:pt x="73215" y="0"/>
                  </a:lnTo>
                  <a:lnTo>
                    <a:pt x="1639824" y="0"/>
                  </a:lnTo>
                  <a:lnTo>
                    <a:pt x="1668291" y="5750"/>
                  </a:lnTo>
                  <a:lnTo>
                    <a:pt x="1691544" y="21431"/>
                  </a:lnTo>
                  <a:lnTo>
                    <a:pt x="1707225" y="44684"/>
                  </a:lnTo>
                  <a:lnTo>
                    <a:pt x="1712976" y="73151"/>
                  </a:lnTo>
                  <a:lnTo>
                    <a:pt x="1712976" y="3127248"/>
                  </a:lnTo>
                  <a:lnTo>
                    <a:pt x="1707225" y="3155715"/>
                  </a:lnTo>
                  <a:lnTo>
                    <a:pt x="1691544" y="3178968"/>
                  </a:lnTo>
                  <a:lnTo>
                    <a:pt x="1668291" y="3194649"/>
                  </a:lnTo>
                  <a:lnTo>
                    <a:pt x="1639824" y="3200400"/>
                  </a:lnTo>
                  <a:lnTo>
                    <a:pt x="73215" y="3200400"/>
                  </a:lnTo>
                  <a:lnTo>
                    <a:pt x="44716" y="3194649"/>
                  </a:lnTo>
                  <a:lnTo>
                    <a:pt x="21443" y="3178968"/>
                  </a:lnTo>
                  <a:lnTo>
                    <a:pt x="5753" y="3155715"/>
                  </a:lnTo>
                  <a:lnTo>
                    <a:pt x="0" y="3127248"/>
                  </a:lnTo>
                  <a:lnTo>
                    <a:pt x="0" y="73151"/>
                  </a:lnTo>
                  <a:close/>
                </a:path>
              </a:pathLst>
            </a:custGeom>
            <a:ln w="12192">
              <a:solidFill>
                <a:srgbClr val="DDD2C4"/>
              </a:solidFill>
            </a:ln>
          </p:spPr>
          <p:txBody>
            <a:bodyPr wrap="square" lIns="0" tIns="0" rIns="0" bIns="0" rtlCol="0"/>
            <a:lstStyle/>
            <a:p>
              <a:endParaRPr/>
            </a:p>
          </p:txBody>
        </p:sp>
        <p:sp>
          <p:nvSpPr>
            <p:cNvPr id="7" name="object 7"/>
            <p:cNvSpPr/>
            <p:nvPr/>
          </p:nvSpPr>
          <p:spPr>
            <a:xfrm>
              <a:off x="1149095" y="1344167"/>
              <a:ext cx="512445" cy="512445"/>
            </a:xfrm>
            <a:custGeom>
              <a:avLst/>
              <a:gdLst/>
              <a:ahLst/>
              <a:cxnLst/>
              <a:rect l="l" t="t" r="r" b="b"/>
              <a:pathLst>
                <a:path w="512444" h="512444">
                  <a:moveTo>
                    <a:pt x="256031" y="0"/>
                  </a:moveTo>
                  <a:lnTo>
                    <a:pt x="210010" y="4126"/>
                  </a:lnTo>
                  <a:lnTo>
                    <a:pt x="166694" y="16023"/>
                  </a:lnTo>
                  <a:lnTo>
                    <a:pt x="126808" y="34967"/>
                  </a:lnTo>
                  <a:lnTo>
                    <a:pt x="91074" y="60232"/>
                  </a:lnTo>
                  <a:lnTo>
                    <a:pt x="60215" y="91095"/>
                  </a:lnTo>
                  <a:lnTo>
                    <a:pt x="34956" y="126830"/>
                  </a:lnTo>
                  <a:lnTo>
                    <a:pt x="16018" y="166714"/>
                  </a:lnTo>
                  <a:lnTo>
                    <a:pt x="4125" y="210023"/>
                  </a:lnTo>
                  <a:lnTo>
                    <a:pt x="0" y="256032"/>
                  </a:lnTo>
                  <a:lnTo>
                    <a:pt x="4125" y="302040"/>
                  </a:lnTo>
                  <a:lnTo>
                    <a:pt x="16018" y="345349"/>
                  </a:lnTo>
                  <a:lnTo>
                    <a:pt x="34956" y="385233"/>
                  </a:lnTo>
                  <a:lnTo>
                    <a:pt x="60215" y="420968"/>
                  </a:lnTo>
                  <a:lnTo>
                    <a:pt x="91074" y="451831"/>
                  </a:lnTo>
                  <a:lnTo>
                    <a:pt x="126808" y="477096"/>
                  </a:lnTo>
                  <a:lnTo>
                    <a:pt x="166694" y="496040"/>
                  </a:lnTo>
                  <a:lnTo>
                    <a:pt x="210010" y="507937"/>
                  </a:lnTo>
                  <a:lnTo>
                    <a:pt x="256031" y="512064"/>
                  </a:lnTo>
                  <a:lnTo>
                    <a:pt x="302040" y="507937"/>
                  </a:lnTo>
                  <a:lnTo>
                    <a:pt x="345349" y="496040"/>
                  </a:lnTo>
                  <a:lnTo>
                    <a:pt x="385233" y="477096"/>
                  </a:lnTo>
                  <a:lnTo>
                    <a:pt x="420968" y="451831"/>
                  </a:lnTo>
                  <a:lnTo>
                    <a:pt x="451831" y="420968"/>
                  </a:lnTo>
                  <a:lnTo>
                    <a:pt x="477096" y="385233"/>
                  </a:lnTo>
                  <a:lnTo>
                    <a:pt x="496040" y="345349"/>
                  </a:lnTo>
                  <a:lnTo>
                    <a:pt x="507937" y="302040"/>
                  </a:lnTo>
                  <a:lnTo>
                    <a:pt x="512064" y="256032"/>
                  </a:lnTo>
                  <a:lnTo>
                    <a:pt x="507937" y="210023"/>
                  </a:lnTo>
                  <a:lnTo>
                    <a:pt x="496040" y="166714"/>
                  </a:lnTo>
                  <a:lnTo>
                    <a:pt x="477096" y="126830"/>
                  </a:lnTo>
                  <a:lnTo>
                    <a:pt x="451831" y="91095"/>
                  </a:lnTo>
                  <a:lnTo>
                    <a:pt x="420968" y="60232"/>
                  </a:lnTo>
                  <a:lnTo>
                    <a:pt x="385233" y="34967"/>
                  </a:lnTo>
                  <a:lnTo>
                    <a:pt x="345349" y="16023"/>
                  </a:lnTo>
                  <a:lnTo>
                    <a:pt x="302040" y="4126"/>
                  </a:lnTo>
                  <a:lnTo>
                    <a:pt x="256031" y="0"/>
                  </a:lnTo>
                  <a:close/>
                </a:path>
              </a:pathLst>
            </a:custGeom>
            <a:solidFill>
              <a:srgbClr val="C00000"/>
            </a:solidFill>
          </p:spPr>
          <p:txBody>
            <a:bodyPr wrap="square" lIns="0" tIns="0" rIns="0" bIns="0" rtlCol="0"/>
            <a:lstStyle/>
            <a:p>
              <a:endParaRPr/>
            </a:p>
          </p:txBody>
        </p:sp>
        <p:sp>
          <p:nvSpPr>
            <p:cNvPr id="8" name="object 8"/>
            <p:cNvSpPr/>
            <p:nvPr/>
          </p:nvSpPr>
          <p:spPr>
            <a:xfrm>
              <a:off x="1149095" y="1344167"/>
              <a:ext cx="512445" cy="512445"/>
            </a:xfrm>
            <a:custGeom>
              <a:avLst/>
              <a:gdLst/>
              <a:ahLst/>
              <a:cxnLst/>
              <a:rect l="l" t="t" r="r" b="b"/>
              <a:pathLst>
                <a:path w="512444" h="512444">
                  <a:moveTo>
                    <a:pt x="0" y="256032"/>
                  </a:moveTo>
                  <a:lnTo>
                    <a:pt x="4125" y="210023"/>
                  </a:lnTo>
                  <a:lnTo>
                    <a:pt x="16018" y="166714"/>
                  </a:lnTo>
                  <a:lnTo>
                    <a:pt x="34956" y="126830"/>
                  </a:lnTo>
                  <a:lnTo>
                    <a:pt x="60215" y="91095"/>
                  </a:lnTo>
                  <a:lnTo>
                    <a:pt x="91074" y="60232"/>
                  </a:lnTo>
                  <a:lnTo>
                    <a:pt x="126808" y="34967"/>
                  </a:lnTo>
                  <a:lnTo>
                    <a:pt x="166694" y="16023"/>
                  </a:lnTo>
                  <a:lnTo>
                    <a:pt x="210010" y="4126"/>
                  </a:lnTo>
                  <a:lnTo>
                    <a:pt x="256031" y="0"/>
                  </a:lnTo>
                  <a:lnTo>
                    <a:pt x="302040" y="4126"/>
                  </a:lnTo>
                  <a:lnTo>
                    <a:pt x="345349" y="16023"/>
                  </a:lnTo>
                  <a:lnTo>
                    <a:pt x="385233" y="34967"/>
                  </a:lnTo>
                  <a:lnTo>
                    <a:pt x="420968" y="60232"/>
                  </a:lnTo>
                  <a:lnTo>
                    <a:pt x="451831" y="91095"/>
                  </a:lnTo>
                  <a:lnTo>
                    <a:pt x="477096" y="126830"/>
                  </a:lnTo>
                  <a:lnTo>
                    <a:pt x="496040" y="166714"/>
                  </a:lnTo>
                  <a:lnTo>
                    <a:pt x="507937" y="210023"/>
                  </a:lnTo>
                  <a:lnTo>
                    <a:pt x="512064" y="256032"/>
                  </a:lnTo>
                  <a:lnTo>
                    <a:pt x="507937" y="302040"/>
                  </a:lnTo>
                  <a:lnTo>
                    <a:pt x="496040" y="345349"/>
                  </a:lnTo>
                  <a:lnTo>
                    <a:pt x="477096" y="385233"/>
                  </a:lnTo>
                  <a:lnTo>
                    <a:pt x="451831" y="420968"/>
                  </a:lnTo>
                  <a:lnTo>
                    <a:pt x="420968" y="451831"/>
                  </a:lnTo>
                  <a:lnTo>
                    <a:pt x="385233" y="477096"/>
                  </a:lnTo>
                  <a:lnTo>
                    <a:pt x="345349" y="496040"/>
                  </a:lnTo>
                  <a:lnTo>
                    <a:pt x="302040" y="507937"/>
                  </a:lnTo>
                  <a:lnTo>
                    <a:pt x="256031" y="512064"/>
                  </a:lnTo>
                  <a:lnTo>
                    <a:pt x="210010" y="507937"/>
                  </a:lnTo>
                  <a:lnTo>
                    <a:pt x="166694" y="496040"/>
                  </a:lnTo>
                  <a:lnTo>
                    <a:pt x="126808" y="477096"/>
                  </a:lnTo>
                  <a:lnTo>
                    <a:pt x="91074" y="451831"/>
                  </a:lnTo>
                  <a:lnTo>
                    <a:pt x="60215" y="420968"/>
                  </a:lnTo>
                  <a:lnTo>
                    <a:pt x="34956" y="385233"/>
                  </a:lnTo>
                  <a:lnTo>
                    <a:pt x="16018" y="345349"/>
                  </a:lnTo>
                  <a:lnTo>
                    <a:pt x="4125" y="302040"/>
                  </a:lnTo>
                  <a:lnTo>
                    <a:pt x="0" y="256032"/>
                  </a:lnTo>
                  <a:close/>
                </a:path>
              </a:pathLst>
            </a:custGeom>
            <a:ln w="24383">
              <a:solidFill>
                <a:srgbClr val="FFFFFF"/>
              </a:solidFill>
            </a:ln>
          </p:spPr>
          <p:txBody>
            <a:bodyPr wrap="square" lIns="0" tIns="0" rIns="0" bIns="0" rtlCol="0"/>
            <a:lstStyle/>
            <a:p>
              <a:endParaRPr/>
            </a:p>
          </p:txBody>
        </p:sp>
      </p:grpSp>
      <p:sp>
        <p:nvSpPr>
          <p:cNvPr id="9" name="object 9"/>
          <p:cNvSpPr txBox="1"/>
          <p:nvPr/>
        </p:nvSpPr>
        <p:spPr>
          <a:xfrm>
            <a:off x="1340611" y="1451229"/>
            <a:ext cx="128905" cy="270510"/>
          </a:xfrm>
          <a:prstGeom prst="rect">
            <a:avLst/>
          </a:prstGeom>
        </p:spPr>
        <p:txBody>
          <a:bodyPr vert="horz" wrap="square" lIns="0" tIns="13335" rIns="0" bIns="0" rtlCol="0">
            <a:spAutoFit/>
          </a:bodyPr>
          <a:lstStyle/>
          <a:p>
            <a:pPr marL="12700">
              <a:lnSpc>
                <a:spcPct val="100000"/>
              </a:lnSpc>
              <a:spcBef>
                <a:spcPts val="105"/>
              </a:spcBef>
            </a:pPr>
            <a:r>
              <a:t>1</a:t>
            </a:r>
            <a:endParaRPr sz="1600">
              <a:latin typeface="Calibri"/>
              <a:cs typeface="Calibri"/>
            </a:endParaRPr>
          </a:p>
        </p:txBody>
      </p:sp>
      <p:sp>
        <p:nvSpPr>
          <p:cNvPr id="10" name="object 10"/>
          <p:cNvSpPr txBox="1"/>
          <p:nvPr/>
        </p:nvSpPr>
        <p:spPr>
          <a:xfrm>
            <a:off x="1102233" y="1988546"/>
            <a:ext cx="608521" cy="190437"/>
          </a:xfrm>
          <a:prstGeom prst="rect">
            <a:avLst/>
          </a:prstGeom>
        </p:spPr>
        <p:txBody>
          <a:bodyPr vert="horz" wrap="square" lIns="0" tIns="13335" rIns="0" bIns="0" rtlCol="0">
            <a:spAutoFit/>
          </a:bodyPr>
          <a:lstStyle/>
          <a:p>
            <a:pPr marL="12700">
              <a:lnSpc>
                <a:spcPct val="100000"/>
              </a:lnSpc>
              <a:spcBef>
                <a:spcPts val="105"/>
              </a:spcBef>
            </a:pPr>
            <a:r>
              <a:rPr lang="en-IN" sz="1150" b="1" dirty="0">
                <a:solidFill>
                  <a:srgbClr val="C00000"/>
                </a:solidFill>
                <a:latin typeface="Calibri"/>
                <a:cs typeface="Calibri"/>
              </a:rPr>
              <a:t>DATASET</a:t>
            </a:r>
            <a:endParaRPr sz="1150" b="1" dirty="0">
              <a:solidFill>
                <a:srgbClr val="C00000"/>
              </a:solidFill>
              <a:latin typeface="Calibri"/>
              <a:cs typeface="Calibri"/>
            </a:endParaRPr>
          </a:p>
        </p:txBody>
      </p:sp>
      <p:sp>
        <p:nvSpPr>
          <p:cNvPr id="11" name="object 11"/>
          <p:cNvSpPr txBox="1"/>
          <p:nvPr/>
        </p:nvSpPr>
        <p:spPr>
          <a:xfrm>
            <a:off x="685800" y="2633577"/>
            <a:ext cx="1381506" cy="1674817"/>
          </a:xfrm>
          <a:prstGeom prst="rect">
            <a:avLst/>
          </a:prstGeom>
        </p:spPr>
        <p:txBody>
          <a:bodyPr vert="horz" wrap="square" lIns="0" tIns="12700" rIns="0" bIns="0" rtlCol="0">
            <a:spAutoFit/>
          </a:bodyPr>
          <a:lstStyle/>
          <a:p>
            <a:pPr marL="341630" marR="5080" lvl="6" indent="-329565" algn="ctr">
              <a:spcBef>
                <a:spcPts val="100"/>
              </a:spcBef>
            </a:pPr>
            <a:r>
              <a:rPr lang="en-US" sz="1200" dirty="0"/>
              <a:t>Load the Elliptic transaction dataset containing transaction features and transaction-to-transaction relationships</a:t>
            </a:r>
            <a:endParaRPr sz="1200" dirty="0">
              <a:latin typeface="Calibri"/>
              <a:cs typeface="Calibri"/>
            </a:endParaRPr>
          </a:p>
        </p:txBody>
      </p:sp>
      <p:grpSp>
        <p:nvGrpSpPr>
          <p:cNvPr id="12" name="object 12"/>
          <p:cNvGrpSpPr/>
          <p:nvPr/>
        </p:nvGrpSpPr>
        <p:grpSpPr>
          <a:xfrm>
            <a:off x="2340864" y="1331785"/>
            <a:ext cx="1871345" cy="3569335"/>
            <a:chOff x="2340864" y="1331785"/>
            <a:chExt cx="1871345" cy="3569335"/>
          </a:xfrm>
        </p:grpSpPr>
        <p:pic>
          <p:nvPicPr>
            <p:cNvPr id="13" name="object 13"/>
            <p:cNvPicPr/>
            <p:nvPr/>
          </p:nvPicPr>
          <p:blipFill>
            <a:blip r:embed="rId3" cstate="print"/>
            <a:stretch>
              <a:fillRect/>
            </a:stretch>
          </p:blipFill>
          <p:spPr>
            <a:xfrm>
              <a:off x="2340864" y="1539239"/>
              <a:ext cx="1871090" cy="3361563"/>
            </a:xfrm>
            <a:prstGeom prst="rect">
              <a:avLst/>
            </a:prstGeom>
          </p:spPr>
        </p:pic>
        <p:sp>
          <p:nvSpPr>
            <p:cNvPr id="14" name="object 14"/>
            <p:cNvSpPr/>
            <p:nvPr/>
          </p:nvSpPr>
          <p:spPr>
            <a:xfrm>
              <a:off x="2426208" y="1600199"/>
              <a:ext cx="1710055" cy="3200400"/>
            </a:xfrm>
            <a:custGeom>
              <a:avLst/>
              <a:gdLst/>
              <a:ahLst/>
              <a:cxnLst/>
              <a:rect l="l" t="t" r="r" b="b"/>
              <a:pathLst>
                <a:path w="1710054" h="3200400">
                  <a:moveTo>
                    <a:pt x="1636903" y="0"/>
                  </a:moveTo>
                  <a:lnTo>
                    <a:pt x="73025" y="0"/>
                  </a:lnTo>
                  <a:lnTo>
                    <a:pt x="44630" y="5748"/>
                  </a:lnTo>
                  <a:lnTo>
                    <a:pt x="21415" y="21415"/>
                  </a:lnTo>
                  <a:lnTo>
                    <a:pt x="5748" y="44630"/>
                  </a:lnTo>
                  <a:lnTo>
                    <a:pt x="0" y="73025"/>
                  </a:lnTo>
                  <a:lnTo>
                    <a:pt x="0" y="3127375"/>
                  </a:lnTo>
                  <a:lnTo>
                    <a:pt x="5748" y="3155769"/>
                  </a:lnTo>
                  <a:lnTo>
                    <a:pt x="21415" y="3178984"/>
                  </a:lnTo>
                  <a:lnTo>
                    <a:pt x="44630" y="3194651"/>
                  </a:lnTo>
                  <a:lnTo>
                    <a:pt x="73025" y="3200400"/>
                  </a:lnTo>
                  <a:lnTo>
                    <a:pt x="1636903" y="3200400"/>
                  </a:lnTo>
                  <a:lnTo>
                    <a:pt x="1665297" y="3194651"/>
                  </a:lnTo>
                  <a:lnTo>
                    <a:pt x="1688512" y="3178984"/>
                  </a:lnTo>
                  <a:lnTo>
                    <a:pt x="1704179" y="3155769"/>
                  </a:lnTo>
                  <a:lnTo>
                    <a:pt x="1709928" y="3127375"/>
                  </a:lnTo>
                  <a:lnTo>
                    <a:pt x="1709928" y="73025"/>
                  </a:lnTo>
                  <a:lnTo>
                    <a:pt x="1704179" y="44630"/>
                  </a:lnTo>
                  <a:lnTo>
                    <a:pt x="1688512" y="21415"/>
                  </a:lnTo>
                  <a:lnTo>
                    <a:pt x="1665297" y="5748"/>
                  </a:lnTo>
                  <a:lnTo>
                    <a:pt x="1636903" y="0"/>
                  </a:lnTo>
                  <a:close/>
                </a:path>
              </a:pathLst>
            </a:custGeom>
            <a:solidFill>
              <a:srgbClr val="FFFFFF"/>
            </a:solidFill>
          </p:spPr>
          <p:txBody>
            <a:bodyPr wrap="square" lIns="0" tIns="0" rIns="0" bIns="0" rtlCol="0"/>
            <a:lstStyle/>
            <a:p>
              <a:endParaRPr dirty="0"/>
            </a:p>
          </p:txBody>
        </p:sp>
        <p:sp>
          <p:nvSpPr>
            <p:cNvPr id="15" name="object 15"/>
            <p:cNvSpPr/>
            <p:nvPr/>
          </p:nvSpPr>
          <p:spPr>
            <a:xfrm>
              <a:off x="2426208" y="1600199"/>
              <a:ext cx="1710055" cy="3200400"/>
            </a:xfrm>
            <a:custGeom>
              <a:avLst/>
              <a:gdLst/>
              <a:ahLst/>
              <a:cxnLst/>
              <a:rect l="l" t="t" r="r" b="b"/>
              <a:pathLst>
                <a:path w="1710054" h="3200400">
                  <a:moveTo>
                    <a:pt x="0" y="73025"/>
                  </a:moveTo>
                  <a:lnTo>
                    <a:pt x="5748" y="44630"/>
                  </a:lnTo>
                  <a:lnTo>
                    <a:pt x="21415" y="21415"/>
                  </a:lnTo>
                  <a:lnTo>
                    <a:pt x="44630" y="5748"/>
                  </a:lnTo>
                  <a:lnTo>
                    <a:pt x="73025" y="0"/>
                  </a:lnTo>
                  <a:lnTo>
                    <a:pt x="1636903" y="0"/>
                  </a:lnTo>
                  <a:lnTo>
                    <a:pt x="1665297" y="5748"/>
                  </a:lnTo>
                  <a:lnTo>
                    <a:pt x="1688512" y="21415"/>
                  </a:lnTo>
                  <a:lnTo>
                    <a:pt x="1704179" y="44630"/>
                  </a:lnTo>
                  <a:lnTo>
                    <a:pt x="1709928" y="73025"/>
                  </a:lnTo>
                  <a:lnTo>
                    <a:pt x="1709928" y="3127375"/>
                  </a:lnTo>
                  <a:lnTo>
                    <a:pt x="1704179" y="3155769"/>
                  </a:lnTo>
                  <a:lnTo>
                    <a:pt x="1688512" y="3178984"/>
                  </a:lnTo>
                  <a:lnTo>
                    <a:pt x="1665297" y="3194651"/>
                  </a:lnTo>
                  <a:lnTo>
                    <a:pt x="1636903" y="3200400"/>
                  </a:lnTo>
                  <a:lnTo>
                    <a:pt x="73025" y="3200400"/>
                  </a:lnTo>
                  <a:lnTo>
                    <a:pt x="44630" y="3194651"/>
                  </a:lnTo>
                  <a:lnTo>
                    <a:pt x="21415" y="3178984"/>
                  </a:lnTo>
                  <a:lnTo>
                    <a:pt x="5748" y="3155769"/>
                  </a:lnTo>
                  <a:lnTo>
                    <a:pt x="0" y="3127375"/>
                  </a:lnTo>
                  <a:lnTo>
                    <a:pt x="0" y="73025"/>
                  </a:lnTo>
                  <a:close/>
                </a:path>
              </a:pathLst>
            </a:custGeom>
            <a:ln w="12192">
              <a:solidFill>
                <a:srgbClr val="DDD2C4"/>
              </a:solidFill>
            </a:ln>
          </p:spPr>
          <p:txBody>
            <a:bodyPr wrap="square" lIns="0" tIns="0" rIns="0" bIns="0" rtlCol="0"/>
            <a:lstStyle/>
            <a:p>
              <a:endParaRPr/>
            </a:p>
          </p:txBody>
        </p:sp>
        <p:sp>
          <p:nvSpPr>
            <p:cNvPr id="16" name="object 16"/>
            <p:cNvSpPr/>
            <p:nvPr/>
          </p:nvSpPr>
          <p:spPr>
            <a:xfrm>
              <a:off x="3023616" y="1344167"/>
              <a:ext cx="512445" cy="512445"/>
            </a:xfrm>
            <a:custGeom>
              <a:avLst/>
              <a:gdLst/>
              <a:ahLst/>
              <a:cxnLst/>
              <a:rect l="l" t="t" r="r" b="b"/>
              <a:pathLst>
                <a:path w="512445" h="512444">
                  <a:moveTo>
                    <a:pt x="256031" y="0"/>
                  </a:moveTo>
                  <a:lnTo>
                    <a:pt x="210023" y="4126"/>
                  </a:lnTo>
                  <a:lnTo>
                    <a:pt x="166714" y="16023"/>
                  </a:lnTo>
                  <a:lnTo>
                    <a:pt x="126830" y="34967"/>
                  </a:lnTo>
                  <a:lnTo>
                    <a:pt x="91095" y="60232"/>
                  </a:lnTo>
                  <a:lnTo>
                    <a:pt x="60232" y="91095"/>
                  </a:lnTo>
                  <a:lnTo>
                    <a:pt x="34967" y="126830"/>
                  </a:lnTo>
                  <a:lnTo>
                    <a:pt x="16023" y="166714"/>
                  </a:lnTo>
                  <a:lnTo>
                    <a:pt x="4126" y="210023"/>
                  </a:lnTo>
                  <a:lnTo>
                    <a:pt x="0" y="256032"/>
                  </a:lnTo>
                  <a:lnTo>
                    <a:pt x="4126" y="302040"/>
                  </a:lnTo>
                  <a:lnTo>
                    <a:pt x="16023" y="345349"/>
                  </a:lnTo>
                  <a:lnTo>
                    <a:pt x="34967" y="385233"/>
                  </a:lnTo>
                  <a:lnTo>
                    <a:pt x="60232" y="420968"/>
                  </a:lnTo>
                  <a:lnTo>
                    <a:pt x="91095" y="451831"/>
                  </a:lnTo>
                  <a:lnTo>
                    <a:pt x="126830" y="477096"/>
                  </a:lnTo>
                  <a:lnTo>
                    <a:pt x="166714" y="496040"/>
                  </a:lnTo>
                  <a:lnTo>
                    <a:pt x="210023" y="507937"/>
                  </a:lnTo>
                  <a:lnTo>
                    <a:pt x="256031" y="512064"/>
                  </a:lnTo>
                  <a:lnTo>
                    <a:pt x="302040" y="507937"/>
                  </a:lnTo>
                  <a:lnTo>
                    <a:pt x="345349" y="496040"/>
                  </a:lnTo>
                  <a:lnTo>
                    <a:pt x="385233" y="477096"/>
                  </a:lnTo>
                  <a:lnTo>
                    <a:pt x="420968" y="451831"/>
                  </a:lnTo>
                  <a:lnTo>
                    <a:pt x="451831" y="420968"/>
                  </a:lnTo>
                  <a:lnTo>
                    <a:pt x="477096" y="385233"/>
                  </a:lnTo>
                  <a:lnTo>
                    <a:pt x="496040" y="345349"/>
                  </a:lnTo>
                  <a:lnTo>
                    <a:pt x="507937" y="302040"/>
                  </a:lnTo>
                  <a:lnTo>
                    <a:pt x="512063" y="256032"/>
                  </a:lnTo>
                  <a:lnTo>
                    <a:pt x="507937" y="210023"/>
                  </a:lnTo>
                  <a:lnTo>
                    <a:pt x="496040" y="166714"/>
                  </a:lnTo>
                  <a:lnTo>
                    <a:pt x="477096" y="126830"/>
                  </a:lnTo>
                  <a:lnTo>
                    <a:pt x="451831" y="91095"/>
                  </a:lnTo>
                  <a:lnTo>
                    <a:pt x="420968" y="60232"/>
                  </a:lnTo>
                  <a:lnTo>
                    <a:pt x="385233" y="34967"/>
                  </a:lnTo>
                  <a:lnTo>
                    <a:pt x="345349" y="16023"/>
                  </a:lnTo>
                  <a:lnTo>
                    <a:pt x="302040" y="4126"/>
                  </a:lnTo>
                  <a:lnTo>
                    <a:pt x="256031" y="0"/>
                  </a:lnTo>
                  <a:close/>
                </a:path>
              </a:pathLst>
            </a:custGeom>
            <a:solidFill>
              <a:srgbClr val="C00000"/>
            </a:solidFill>
          </p:spPr>
          <p:txBody>
            <a:bodyPr wrap="square" lIns="0" tIns="0" rIns="0" bIns="0" rtlCol="0"/>
            <a:lstStyle/>
            <a:p>
              <a:endParaRPr/>
            </a:p>
          </p:txBody>
        </p:sp>
        <p:sp>
          <p:nvSpPr>
            <p:cNvPr id="17" name="object 17"/>
            <p:cNvSpPr/>
            <p:nvPr/>
          </p:nvSpPr>
          <p:spPr>
            <a:xfrm>
              <a:off x="3023616" y="1344167"/>
              <a:ext cx="512445" cy="512445"/>
            </a:xfrm>
            <a:custGeom>
              <a:avLst/>
              <a:gdLst/>
              <a:ahLst/>
              <a:cxnLst/>
              <a:rect l="l" t="t" r="r" b="b"/>
              <a:pathLst>
                <a:path w="512445" h="512444">
                  <a:moveTo>
                    <a:pt x="0" y="256032"/>
                  </a:moveTo>
                  <a:lnTo>
                    <a:pt x="4126" y="210023"/>
                  </a:lnTo>
                  <a:lnTo>
                    <a:pt x="16023" y="166714"/>
                  </a:lnTo>
                  <a:lnTo>
                    <a:pt x="34967" y="126830"/>
                  </a:lnTo>
                  <a:lnTo>
                    <a:pt x="60232" y="91095"/>
                  </a:lnTo>
                  <a:lnTo>
                    <a:pt x="91095" y="60232"/>
                  </a:lnTo>
                  <a:lnTo>
                    <a:pt x="126830" y="34967"/>
                  </a:lnTo>
                  <a:lnTo>
                    <a:pt x="166714" y="16023"/>
                  </a:lnTo>
                  <a:lnTo>
                    <a:pt x="210023" y="4126"/>
                  </a:lnTo>
                  <a:lnTo>
                    <a:pt x="256031" y="0"/>
                  </a:lnTo>
                  <a:lnTo>
                    <a:pt x="302040" y="4126"/>
                  </a:lnTo>
                  <a:lnTo>
                    <a:pt x="345349" y="16023"/>
                  </a:lnTo>
                  <a:lnTo>
                    <a:pt x="385233" y="34967"/>
                  </a:lnTo>
                  <a:lnTo>
                    <a:pt x="420968" y="60232"/>
                  </a:lnTo>
                  <a:lnTo>
                    <a:pt x="451831" y="91095"/>
                  </a:lnTo>
                  <a:lnTo>
                    <a:pt x="477096" y="126830"/>
                  </a:lnTo>
                  <a:lnTo>
                    <a:pt x="496040" y="166714"/>
                  </a:lnTo>
                  <a:lnTo>
                    <a:pt x="507937" y="210023"/>
                  </a:lnTo>
                  <a:lnTo>
                    <a:pt x="512063" y="256032"/>
                  </a:lnTo>
                  <a:lnTo>
                    <a:pt x="507937" y="302040"/>
                  </a:lnTo>
                  <a:lnTo>
                    <a:pt x="496040" y="345349"/>
                  </a:lnTo>
                  <a:lnTo>
                    <a:pt x="477096" y="385233"/>
                  </a:lnTo>
                  <a:lnTo>
                    <a:pt x="451831" y="420968"/>
                  </a:lnTo>
                  <a:lnTo>
                    <a:pt x="420968" y="451831"/>
                  </a:lnTo>
                  <a:lnTo>
                    <a:pt x="385233" y="477096"/>
                  </a:lnTo>
                  <a:lnTo>
                    <a:pt x="345349" y="496040"/>
                  </a:lnTo>
                  <a:lnTo>
                    <a:pt x="302040" y="507937"/>
                  </a:lnTo>
                  <a:lnTo>
                    <a:pt x="256031" y="512064"/>
                  </a:lnTo>
                  <a:lnTo>
                    <a:pt x="210023" y="507937"/>
                  </a:lnTo>
                  <a:lnTo>
                    <a:pt x="166714" y="496040"/>
                  </a:lnTo>
                  <a:lnTo>
                    <a:pt x="126830" y="477096"/>
                  </a:lnTo>
                  <a:lnTo>
                    <a:pt x="91095" y="451831"/>
                  </a:lnTo>
                  <a:lnTo>
                    <a:pt x="60232" y="420968"/>
                  </a:lnTo>
                  <a:lnTo>
                    <a:pt x="34967" y="385233"/>
                  </a:lnTo>
                  <a:lnTo>
                    <a:pt x="16023" y="345349"/>
                  </a:lnTo>
                  <a:lnTo>
                    <a:pt x="4126" y="302040"/>
                  </a:lnTo>
                  <a:lnTo>
                    <a:pt x="0" y="256032"/>
                  </a:lnTo>
                  <a:close/>
                </a:path>
              </a:pathLst>
            </a:custGeom>
            <a:ln w="24384">
              <a:solidFill>
                <a:srgbClr val="FFFFFF"/>
              </a:solidFill>
            </a:ln>
          </p:spPr>
          <p:txBody>
            <a:bodyPr wrap="square" lIns="0" tIns="0" rIns="0" bIns="0" rtlCol="0"/>
            <a:lstStyle/>
            <a:p>
              <a:endParaRPr/>
            </a:p>
          </p:txBody>
        </p:sp>
      </p:grpSp>
      <p:sp>
        <p:nvSpPr>
          <p:cNvPr id="18" name="object 18"/>
          <p:cNvSpPr txBox="1"/>
          <p:nvPr/>
        </p:nvSpPr>
        <p:spPr>
          <a:xfrm>
            <a:off x="3217291" y="1451229"/>
            <a:ext cx="128905" cy="270510"/>
          </a:xfrm>
          <a:prstGeom prst="rect">
            <a:avLst/>
          </a:prstGeom>
        </p:spPr>
        <p:txBody>
          <a:bodyPr vert="horz" wrap="square" lIns="0" tIns="13335" rIns="0" bIns="0" rtlCol="0">
            <a:spAutoFit/>
          </a:bodyPr>
          <a:lstStyle/>
          <a:p>
            <a:pPr marL="12700">
              <a:lnSpc>
                <a:spcPct val="100000"/>
              </a:lnSpc>
              <a:spcBef>
                <a:spcPts val="105"/>
              </a:spcBef>
            </a:pPr>
            <a:r>
              <a:t>2</a:t>
            </a:r>
            <a:endParaRPr sz="1600">
              <a:latin typeface="Calibri"/>
              <a:cs typeface="Calibri"/>
            </a:endParaRPr>
          </a:p>
        </p:txBody>
      </p:sp>
      <p:sp>
        <p:nvSpPr>
          <p:cNvPr id="20" name="object 20"/>
          <p:cNvSpPr txBox="1"/>
          <p:nvPr/>
        </p:nvSpPr>
        <p:spPr>
          <a:xfrm>
            <a:off x="2495167" y="2679294"/>
            <a:ext cx="1565531" cy="1272784"/>
          </a:xfrm>
          <a:prstGeom prst="rect">
            <a:avLst/>
          </a:prstGeom>
        </p:spPr>
        <p:txBody>
          <a:bodyPr vert="horz" wrap="square" lIns="0" tIns="13335" rIns="0" bIns="0" rtlCol="0">
            <a:spAutoFit/>
          </a:bodyPr>
          <a:lstStyle/>
          <a:p>
            <a:pPr marL="12700" algn="ctr">
              <a:spcBef>
                <a:spcPts val="105"/>
              </a:spcBef>
            </a:pPr>
            <a:r>
              <a:rPr lang="en-US" sz="1200" dirty="0"/>
              <a:t>Clean the data, handle missing values, prepare labels, and normalize/encode features for model training</a:t>
            </a:r>
            <a:r>
              <a:rPr lang="en-US" sz="900" dirty="0"/>
              <a:t>.</a:t>
            </a:r>
            <a:endParaRPr lang="en-US" sz="800" dirty="0">
              <a:latin typeface="Calibri"/>
              <a:cs typeface="Calibri"/>
            </a:endParaRPr>
          </a:p>
          <a:p>
            <a:pPr marL="12700" algn="ctr">
              <a:lnSpc>
                <a:spcPct val="100000"/>
              </a:lnSpc>
              <a:spcBef>
                <a:spcPts val="105"/>
              </a:spcBef>
            </a:pPr>
            <a:endParaRPr sz="900" dirty="0">
              <a:latin typeface="Calibri"/>
              <a:cs typeface="Calibri"/>
            </a:endParaRPr>
          </a:p>
        </p:txBody>
      </p:sp>
      <p:grpSp>
        <p:nvGrpSpPr>
          <p:cNvPr id="21" name="object 21"/>
          <p:cNvGrpSpPr/>
          <p:nvPr/>
        </p:nvGrpSpPr>
        <p:grpSpPr>
          <a:xfrm>
            <a:off x="4215384" y="1331785"/>
            <a:ext cx="1874520" cy="3569335"/>
            <a:chOff x="4215384" y="1331785"/>
            <a:chExt cx="1874520" cy="3569335"/>
          </a:xfrm>
        </p:grpSpPr>
        <p:pic>
          <p:nvPicPr>
            <p:cNvPr id="22" name="object 22"/>
            <p:cNvPicPr/>
            <p:nvPr/>
          </p:nvPicPr>
          <p:blipFill>
            <a:blip r:embed="rId2" cstate="print"/>
            <a:stretch>
              <a:fillRect/>
            </a:stretch>
          </p:blipFill>
          <p:spPr>
            <a:xfrm>
              <a:off x="4215384" y="1539239"/>
              <a:ext cx="1874139" cy="3361563"/>
            </a:xfrm>
            <a:prstGeom prst="rect">
              <a:avLst/>
            </a:prstGeom>
          </p:spPr>
        </p:pic>
        <p:sp>
          <p:nvSpPr>
            <p:cNvPr id="23" name="object 23"/>
            <p:cNvSpPr/>
            <p:nvPr/>
          </p:nvSpPr>
          <p:spPr>
            <a:xfrm>
              <a:off x="4300728" y="1600199"/>
              <a:ext cx="1713230" cy="3200400"/>
            </a:xfrm>
            <a:custGeom>
              <a:avLst/>
              <a:gdLst/>
              <a:ahLst/>
              <a:cxnLst/>
              <a:rect l="l" t="t" r="r" b="b"/>
              <a:pathLst>
                <a:path w="1713229" h="3200400">
                  <a:moveTo>
                    <a:pt x="1639824" y="0"/>
                  </a:moveTo>
                  <a:lnTo>
                    <a:pt x="73151" y="0"/>
                  </a:lnTo>
                  <a:lnTo>
                    <a:pt x="44684" y="5750"/>
                  </a:lnTo>
                  <a:lnTo>
                    <a:pt x="21431" y="21431"/>
                  </a:lnTo>
                  <a:lnTo>
                    <a:pt x="5750" y="44684"/>
                  </a:lnTo>
                  <a:lnTo>
                    <a:pt x="0" y="73151"/>
                  </a:lnTo>
                  <a:lnTo>
                    <a:pt x="0" y="3127248"/>
                  </a:lnTo>
                  <a:lnTo>
                    <a:pt x="5750" y="3155715"/>
                  </a:lnTo>
                  <a:lnTo>
                    <a:pt x="21431" y="3178968"/>
                  </a:lnTo>
                  <a:lnTo>
                    <a:pt x="44684" y="3194649"/>
                  </a:lnTo>
                  <a:lnTo>
                    <a:pt x="73151" y="3200400"/>
                  </a:lnTo>
                  <a:lnTo>
                    <a:pt x="1639824" y="3200400"/>
                  </a:lnTo>
                  <a:lnTo>
                    <a:pt x="1668291" y="3194649"/>
                  </a:lnTo>
                  <a:lnTo>
                    <a:pt x="1691544" y="3178968"/>
                  </a:lnTo>
                  <a:lnTo>
                    <a:pt x="1707225" y="3155715"/>
                  </a:lnTo>
                  <a:lnTo>
                    <a:pt x="1712976" y="3127248"/>
                  </a:lnTo>
                  <a:lnTo>
                    <a:pt x="1712976" y="73151"/>
                  </a:lnTo>
                  <a:lnTo>
                    <a:pt x="1707225" y="44684"/>
                  </a:lnTo>
                  <a:lnTo>
                    <a:pt x="1691544" y="21431"/>
                  </a:lnTo>
                  <a:lnTo>
                    <a:pt x="1668291" y="5750"/>
                  </a:lnTo>
                  <a:lnTo>
                    <a:pt x="1639824" y="0"/>
                  </a:lnTo>
                  <a:close/>
                </a:path>
              </a:pathLst>
            </a:custGeom>
            <a:solidFill>
              <a:srgbClr val="FFFFFF"/>
            </a:solidFill>
          </p:spPr>
          <p:txBody>
            <a:bodyPr wrap="square" lIns="0" tIns="0" rIns="0" bIns="0" rtlCol="0"/>
            <a:lstStyle/>
            <a:p>
              <a:endParaRPr/>
            </a:p>
          </p:txBody>
        </p:sp>
        <p:sp>
          <p:nvSpPr>
            <p:cNvPr id="24" name="object 24"/>
            <p:cNvSpPr/>
            <p:nvPr/>
          </p:nvSpPr>
          <p:spPr>
            <a:xfrm>
              <a:off x="4300728" y="1600199"/>
              <a:ext cx="1713230" cy="3200400"/>
            </a:xfrm>
            <a:custGeom>
              <a:avLst/>
              <a:gdLst/>
              <a:ahLst/>
              <a:cxnLst/>
              <a:rect l="l" t="t" r="r" b="b"/>
              <a:pathLst>
                <a:path w="1713229" h="3200400">
                  <a:moveTo>
                    <a:pt x="0" y="73151"/>
                  </a:moveTo>
                  <a:lnTo>
                    <a:pt x="5750" y="44684"/>
                  </a:lnTo>
                  <a:lnTo>
                    <a:pt x="21431" y="21431"/>
                  </a:lnTo>
                  <a:lnTo>
                    <a:pt x="44684" y="5750"/>
                  </a:lnTo>
                  <a:lnTo>
                    <a:pt x="73151" y="0"/>
                  </a:lnTo>
                  <a:lnTo>
                    <a:pt x="1639824" y="0"/>
                  </a:lnTo>
                  <a:lnTo>
                    <a:pt x="1668291" y="5750"/>
                  </a:lnTo>
                  <a:lnTo>
                    <a:pt x="1691544" y="21431"/>
                  </a:lnTo>
                  <a:lnTo>
                    <a:pt x="1707225" y="44684"/>
                  </a:lnTo>
                  <a:lnTo>
                    <a:pt x="1712976" y="73151"/>
                  </a:lnTo>
                  <a:lnTo>
                    <a:pt x="1712976" y="3127248"/>
                  </a:lnTo>
                  <a:lnTo>
                    <a:pt x="1707225" y="3155715"/>
                  </a:lnTo>
                  <a:lnTo>
                    <a:pt x="1691544" y="3178968"/>
                  </a:lnTo>
                  <a:lnTo>
                    <a:pt x="1668291" y="3194649"/>
                  </a:lnTo>
                  <a:lnTo>
                    <a:pt x="1639824" y="3200400"/>
                  </a:lnTo>
                  <a:lnTo>
                    <a:pt x="73151" y="3200400"/>
                  </a:lnTo>
                  <a:lnTo>
                    <a:pt x="44684" y="3194649"/>
                  </a:lnTo>
                  <a:lnTo>
                    <a:pt x="21431" y="3178968"/>
                  </a:lnTo>
                  <a:lnTo>
                    <a:pt x="5750" y="3155715"/>
                  </a:lnTo>
                  <a:lnTo>
                    <a:pt x="0" y="3127248"/>
                  </a:lnTo>
                  <a:lnTo>
                    <a:pt x="0" y="73151"/>
                  </a:lnTo>
                  <a:close/>
                </a:path>
              </a:pathLst>
            </a:custGeom>
            <a:ln w="12192">
              <a:solidFill>
                <a:srgbClr val="DDD2C4"/>
              </a:solidFill>
            </a:ln>
          </p:spPr>
          <p:txBody>
            <a:bodyPr wrap="square" lIns="0" tIns="0" rIns="0" bIns="0" rtlCol="0"/>
            <a:lstStyle/>
            <a:p>
              <a:endParaRPr/>
            </a:p>
          </p:txBody>
        </p:sp>
        <p:sp>
          <p:nvSpPr>
            <p:cNvPr id="25" name="object 25"/>
            <p:cNvSpPr/>
            <p:nvPr/>
          </p:nvSpPr>
          <p:spPr>
            <a:xfrm>
              <a:off x="4901184" y="1344167"/>
              <a:ext cx="512445" cy="512445"/>
            </a:xfrm>
            <a:custGeom>
              <a:avLst/>
              <a:gdLst/>
              <a:ahLst/>
              <a:cxnLst/>
              <a:rect l="l" t="t" r="r" b="b"/>
              <a:pathLst>
                <a:path w="512445" h="512444">
                  <a:moveTo>
                    <a:pt x="256031" y="0"/>
                  </a:moveTo>
                  <a:lnTo>
                    <a:pt x="210023" y="4126"/>
                  </a:lnTo>
                  <a:lnTo>
                    <a:pt x="166714" y="16023"/>
                  </a:lnTo>
                  <a:lnTo>
                    <a:pt x="126830" y="34967"/>
                  </a:lnTo>
                  <a:lnTo>
                    <a:pt x="91095" y="60232"/>
                  </a:lnTo>
                  <a:lnTo>
                    <a:pt x="60232" y="91095"/>
                  </a:lnTo>
                  <a:lnTo>
                    <a:pt x="34967" y="126830"/>
                  </a:lnTo>
                  <a:lnTo>
                    <a:pt x="16023" y="166714"/>
                  </a:lnTo>
                  <a:lnTo>
                    <a:pt x="4126" y="210023"/>
                  </a:lnTo>
                  <a:lnTo>
                    <a:pt x="0" y="256032"/>
                  </a:lnTo>
                  <a:lnTo>
                    <a:pt x="4126" y="302040"/>
                  </a:lnTo>
                  <a:lnTo>
                    <a:pt x="16023" y="345349"/>
                  </a:lnTo>
                  <a:lnTo>
                    <a:pt x="34967" y="385233"/>
                  </a:lnTo>
                  <a:lnTo>
                    <a:pt x="60232" y="420968"/>
                  </a:lnTo>
                  <a:lnTo>
                    <a:pt x="91095" y="451831"/>
                  </a:lnTo>
                  <a:lnTo>
                    <a:pt x="126830" y="477096"/>
                  </a:lnTo>
                  <a:lnTo>
                    <a:pt x="166714" y="496040"/>
                  </a:lnTo>
                  <a:lnTo>
                    <a:pt x="210023" y="507937"/>
                  </a:lnTo>
                  <a:lnTo>
                    <a:pt x="256031" y="512064"/>
                  </a:lnTo>
                  <a:lnTo>
                    <a:pt x="302040" y="507937"/>
                  </a:lnTo>
                  <a:lnTo>
                    <a:pt x="345349" y="496040"/>
                  </a:lnTo>
                  <a:lnTo>
                    <a:pt x="385233" y="477096"/>
                  </a:lnTo>
                  <a:lnTo>
                    <a:pt x="420968" y="451831"/>
                  </a:lnTo>
                  <a:lnTo>
                    <a:pt x="451831" y="420968"/>
                  </a:lnTo>
                  <a:lnTo>
                    <a:pt x="477096" y="385233"/>
                  </a:lnTo>
                  <a:lnTo>
                    <a:pt x="496040" y="345349"/>
                  </a:lnTo>
                  <a:lnTo>
                    <a:pt x="507937" y="302040"/>
                  </a:lnTo>
                  <a:lnTo>
                    <a:pt x="512063" y="256032"/>
                  </a:lnTo>
                  <a:lnTo>
                    <a:pt x="507937" y="210023"/>
                  </a:lnTo>
                  <a:lnTo>
                    <a:pt x="496040" y="166714"/>
                  </a:lnTo>
                  <a:lnTo>
                    <a:pt x="477096" y="126830"/>
                  </a:lnTo>
                  <a:lnTo>
                    <a:pt x="451831" y="91095"/>
                  </a:lnTo>
                  <a:lnTo>
                    <a:pt x="420968" y="60232"/>
                  </a:lnTo>
                  <a:lnTo>
                    <a:pt x="385233" y="34967"/>
                  </a:lnTo>
                  <a:lnTo>
                    <a:pt x="345349" y="16023"/>
                  </a:lnTo>
                  <a:lnTo>
                    <a:pt x="302040" y="4126"/>
                  </a:lnTo>
                  <a:lnTo>
                    <a:pt x="256031" y="0"/>
                  </a:lnTo>
                  <a:close/>
                </a:path>
              </a:pathLst>
            </a:custGeom>
            <a:solidFill>
              <a:srgbClr val="C00000"/>
            </a:solidFill>
          </p:spPr>
          <p:txBody>
            <a:bodyPr wrap="square" lIns="0" tIns="0" rIns="0" bIns="0" rtlCol="0"/>
            <a:lstStyle/>
            <a:p>
              <a:endParaRPr/>
            </a:p>
          </p:txBody>
        </p:sp>
        <p:sp>
          <p:nvSpPr>
            <p:cNvPr id="26" name="object 26"/>
            <p:cNvSpPr/>
            <p:nvPr/>
          </p:nvSpPr>
          <p:spPr>
            <a:xfrm>
              <a:off x="4901184" y="1344167"/>
              <a:ext cx="512445" cy="512445"/>
            </a:xfrm>
            <a:custGeom>
              <a:avLst/>
              <a:gdLst/>
              <a:ahLst/>
              <a:cxnLst/>
              <a:rect l="l" t="t" r="r" b="b"/>
              <a:pathLst>
                <a:path w="512445" h="512444">
                  <a:moveTo>
                    <a:pt x="0" y="256032"/>
                  </a:moveTo>
                  <a:lnTo>
                    <a:pt x="4126" y="210023"/>
                  </a:lnTo>
                  <a:lnTo>
                    <a:pt x="16023" y="166714"/>
                  </a:lnTo>
                  <a:lnTo>
                    <a:pt x="34967" y="126830"/>
                  </a:lnTo>
                  <a:lnTo>
                    <a:pt x="60232" y="91095"/>
                  </a:lnTo>
                  <a:lnTo>
                    <a:pt x="91095" y="60232"/>
                  </a:lnTo>
                  <a:lnTo>
                    <a:pt x="126830" y="34967"/>
                  </a:lnTo>
                  <a:lnTo>
                    <a:pt x="166714" y="16023"/>
                  </a:lnTo>
                  <a:lnTo>
                    <a:pt x="210023" y="4126"/>
                  </a:lnTo>
                  <a:lnTo>
                    <a:pt x="256031" y="0"/>
                  </a:lnTo>
                  <a:lnTo>
                    <a:pt x="302040" y="4126"/>
                  </a:lnTo>
                  <a:lnTo>
                    <a:pt x="345349" y="16023"/>
                  </a:lnTo>
                  <a:lnTo>
                    <a:pt x="385233" y="34967"/>
                  </a:lnTo>
                  <a:lnTo>
                    <a:pt x="420968" y="60232"/>
                  </a:lnTo>
                  <a:lnTo>
                    <a:pt x="451831" y="91095"/>
                  </a:lnTo>
                  <a:lnTo>
                    <a:pt x="477096" y="126830"/>
                  </a:lnTo>
                  <a:lnTo>
                    <a:pt x="496040" y="166714"/>
                  </a:lnTo>
                  <a:lnTo>
                    <a:pt x="507937" y="210023"/>
                  </a:lnTo>
                  <a:lnTo>
                    <a:pt x="512063" y="256032"/>
                  </a:lnTo>
                  <a:lnTo>
                    <a:pt x="507937" y="302040"/>
                  </a:lnTo>
                  <a:lnTo>
                    <a:pt x="496040" y="345349"/>
                  </a:lnTo>
                  <a:lnTo>
                    <a:pt x="477096" y="385233"/>
                  </a:lnTo>
                  <a:lnTo>
                    <a:pt x="451831" y="420968"/>
                  </a:lnTo>
                  <a:lnTo>
                    <a:pt x="420968" y="451831"/>
                  </a:lnTo>
                  <a:lnTo>
                    <a:pt x="385233" y="477096"/>
                  </a:lnTo>
                  <a:lnTo>
                    <a:pt x="345349" y="496040"/>
                  </a:lnTo>
                  <a:lnTo>
                    <a:pt x="302040" y="507937"/>
                  </a:lnTo>
                  <a:lnTo>
                    <a:pt x="256031" y="512064"/>
                  </a:lnTo>
                  <a:lnTo>
                    <a:pt x="210023" y="507937"/>
                  </a:lnTo>
                  <a:lnTo>
                    <a:pt x="166714" y="496040"/>
                  </a:lnTo>
                  <a:lnTo>
                    <a:pt x="126830" y="477096"/>
                  </a:lnTo>
                  <a:lnTo>
                    <a:pt x="91095" y="451831"/>
                  </a:lnTo>
                  <a:lnTo>
                    <a:pt x="60232" y="420968"/>
                  </a:lnTo>
                  <a:lnTo>
                    <a:pt x="34967" y="385233"/>
                  </a:lnTo>
                  <a:lnTo>
                    <a:pt x="16023" y="345349"/>
                  </a:lnTo>
                  <a:lnTo>
                    <a:pt x="4126" y="302040"/>
                  </a:lnTo>
                  <a:lnTo>
                    <a:pt x="0" y="256032"/>
                  </a:lnTo>
                  <a:close/>
                </a:path>
              </a:pathLst>
            </a:custGeom>
            <a:ln w="24384">
              <a:solidFill>
                <a:srgbClr val="FFFFFF"/>
              </a:solidFill>
            </a:ln>
          </p:spPr>
          <p:txBody>
            <a:bodyPr wrap="square" lIns="0" tIns="0" rIns="0" bIns="0" rtlCol="0"/>
            <a:lstStyle/>
            <a:p>
              <a:endParaRPr/>
            </a:p>
          </p:txBody>
        </p:sp>
      </p:grpSp>
      <p:sp>
        <p:nvSpPr>
          <p:cNvPr id="27" name="object 27"/>
          <p:cNvSpPr txBox="1"/>
          <p:nvPr/>
        </p:nvSpPr>
        <p:spPr>
          <a:xfrm>
            <a:off x="4358893" y="2051684"/>
            <a:ext cx="1655066" cy="198131"/>
          </a:xfrm>
          <a:prstGeom prst="rect">
            <a:avLst/>
          </a:prstGeom>
        </p:spPr>
        <p:txBody>
          <a:bodyPr vert="horz" wrap="square" lIns="0" tIns="13335" rIns="0" bIns="0" rtlCol="0">
            <a:spAutoFit/>
          </a:bodyPr>
          <a:lstStyle/>
          <a:p>
            <a:pPr marL="12700">
              <a:lnSpc>
                <a:spcPct val="100000"/>
              </a:lnSpc>
              <a:spcBef>
                <a:spcPts val="105"/>
              </a:spcBef>
            </a:pPr>
            <a:r>
              <a:rPr lang="en-IN" sz="1200" b="1" dirty="0">
                <a:solidFill>
                  <a:srgbClr val="C00000"/>
                </a:solidFill>
                <a:latin typeface="Calibri"/>
                <a:cs typeface="Calibri"/>
              </a:rPr>
              <a:t>DATA CONSTRUCTION</a:t>
            </a:r>
            <a:endParaRPr sz="1200" b="1" dirty="0">
              <a:solidFill>
                <a:srgbClr val="C00000"/>
              </a:solidFill>
              <a:latin typeface="Calibri"/>
              <a:cs typeface="Calibri"/>
            </a:endParaRPr>
          </a:p>
        </p:txBody>
      </p:sp>
      <p:sp>
        <p:nvSpPr>
          <p:cNvPr id="28" name="object 28"/>
          <p:cNvSpPr txBox="1"/>
          <p:nvPr/>
        </p:nvSpPr>
        <p:spPr>
          <a:xfrm>
            <a:off x="4572000" y="2633577"/>
            <a:ext cx="1410462" cy="1641475"/>
          </a:xfrm>
          <a:prstGeom prst="rect">
            <a:avLst/>
          </a:prstGeom>
        </p:spPr>
        <p:txBody>
          <a:bodyPr vert="horz" wrap="square" lIns="0" tIns="12700" rIns="0" bIns="0" rtlCol="0">
            <a:spAutoFit/>
          </a:bodyPr>
          <a:lstStyle/>
          <a:p>
            <a:pPr marL="360045" marR="5080" indent="-347980" algn="ctr">
              <a:spcBef>
                <a:spcPts val="100"/>
              </a:spcBef>
            </a:pPr>
            <a:r>
              <a:rPr lang="en-US" sz="1200" dirty="0"/>
              <a:t>Build the financial transaction graph using transactions as nodes and transaction relationships as edges.</a:t>
            </a:r>
            <a:endParaRPr lang="en-US" sz="1200" dirty="0">
              <a:latin typeface="Calibri"/>
              <a:cs typeface="Calibri"/>
            </a:endParaRPr>
          </a:p>
          <a:p>
            <a:pPr marL="360045" marR="5080" indent="-347980" algn="ctr">
              <a:lnSpc>
                <a:spcPct val="100000"/>
              </a:lnSpc>
              <a:spcBef>
                <a:spcPts val="100"/>
              </a:spcBef>
            </a:pPr>
            <a:endParaRPr sz="900" dirty="0">
              <a:latin typeface="Calibri"/>
              <a:cs typeface="Calibri"/>
            </a:endParaRPr>
          </a:p>
        </p:txBody>
      </p:sp>
      <p:grpSp>
        <p:nvGrpSpPr>
          <p:cNvPr id="29" name="object 29"/>
          <p:cNvGrpSpPr/>
          <p:nvPr/>
        </p:nvGrpSpPr>
        <p:grpSpPr>
          <a:xfrm>
            <a:off x="6048627" y="1344167"/>
            <a:ext cx="1915416" cy="3556635"/>
            <a:chOff x="6048627" y="1344167"/>
            <a:chExt cx="1915416" cy="3556635"/>
          </a:xfrm>
        </p:grpSpPr>
        <p:pic>
          <p:nvPicPr>
            <p:cNvPr id="30" name="object 30"/>
            <p:cNvPicPr/>
            <p:nvPr/>
          </p:nvPicPr>
          <p:blipFill>
            <a:blip r:embed="rId3" cstate="print"/>
            <a:stretch>
              <a:fillRect/>
            </a:stretch>
          </p:blipFill>
          <p:spPr>
            <a:xfrm>
              <a:off x="6092952" y="1539239"/>
              <a:ext cx="1871091" cy="3361563"/>
            </a:xfrm>
            <a:prstGeom prst="rect">
              <a:avLst/>
            </a:prstGeom>
          </p:spPr>
        </p:pic>
        <p:sp>
          <p:nvSpPr>
            <p:cNvPr id="31" name="object 31"/>
            <p:cNvSpPr/>
            <p:nvPr/>
          </p:nvSpPr>
          <p:spPr>
            <a:xfrm>
              <a:off x="6048627" y="1600199"/>
              <a:ext cx="1710055" cy="3200400"/>
            </a:xfrm>
            <a:custGeom>
              <a:avLst/>
              <a:gdLst/>
              <a:ahLst/>
              <a:cxnLst/>
              <a:rect l="l" t="t" r="r" b="b"/>
              <a:pathLst>
                <a:path w="1710054" h="3200400">
                  <a:moveTo>
                    <a:pt x="1636902" y="0"/>
                  </a:moveTo>
                  <a:lnTo>
                    <a:pt x="73025" y="0"/>
                  </a:lnTo>
                  <a:lnTo>
                    <a:pt x="44630" y="5748"/>
                  </a:lnTo>
                  <a:lnTo>
                    <a:pt x="21415" y="21415"/>
                  </a:lnTo>
                  <a:lnTo>
                    <a:pt x="5748" y="44630"/>
                  </a:lnTo>
                  <a:lnTo>
                    <a:pt x="0" y="73025"/>
                  </a:lnTo>
                  <a:lnTo>
                    <a:pt x="0" y="3127375"/>
                  </a:lnTo>
                  <a:lnTo>
                    <a:pt x="5748" y="3155769"/>
                  </a:lnTo>
                  <a:lnTo>
                    <a:pt x="21415" y="3178984"/>
                  </a:lnTo>
                  <a:lnTo>
                    <a:pt x="44630" y="3194651"/>
                  </a:lnTo>
                  <a:lnTo>
                    <a:pt x="73025" y="3200400"/>
                  </a:lnTo>
                  <a:lnTo>
                    <a:pt x="1636902" y="3200400"/>
                  </a:lnTo>
                  <a:lnTo>
                    <a:pt x="1665297" y="3194651"/>
                  </a:lnTo>
                  <a:lnTo>
                    <a:pt x="1688512" y="3178984"/>
                  </a:lnTo>
                  <a:lnTo>
                    <a:pt x="1704179" y="3155769"/>
                  </a:lnTo>
                  <a:lnTo>
                    <a:pt x="1709927" y="3127375"/>
                  </a:lnTo>
                  <a:lnTo>
                    <a:pt x="1709927" y="73025"/>
                  </a:lnTo>
                  <a:lnTo>
                    <a:pt x="1704179" y="44630"/>
                  </a:lnTo>
                  <a:lnTo>
                    <a:pt x="1688512" y="21415"/>
                  </a:lnTo>
                  <a:lnTo>
                    <a:pt x="1665297" y="5748"/>
                  </a:lnTo>
                  <a:lnTo>
                    <a:pt x="1636902" y="0"/>
                  </a:lnTo>
                  <a:close/>
                </a:path>
              </a:pathLst>
            </a:custGeom>
            <a:solidFill>
              <a:srgbClr val="FFFFFF"/>
            </a:solidFill>
          </p:spPr>
          <p:txBody>
            <a:bodyPr wrap="square" lIns="0" tIns="0" rIns="0" bIns="0" rtlCol="0"/>
            <a:lstStyle/>
            <a:p>
              <a:endParaRPr/>
            </a:p>
          </p:txBody>
        </p:sp>
        <p:sp>
          <p:nvSpPr>
            <p:cNvPr id="32" name="object 32"/>
            <p:cNvSpPr/>
            <p:nvPr/>
          </p:nvSpPr>
          <p:spPr>
            <a:xfrm>
              <a:off x="6178296" y="1600199"/>
              <a:ext cx="1710055" cy="3200400"/>
            </a:xfrm>
            <a:custGeom>
              <a:avLst/>
              <a:gdLst/>
              <a:ahLst/>
              <a:cxnLst/>
              <a:rect l="l" t="t" r="r" b="b"/>
              <a:pathLst>
                <a:path w="1710054" h="3200400">
                  <a:moveTo>
                    <a:pt x="0" y="73025"/>
                  </a:moveTo>
                  <a:lnTo>
                    <a:pt x="5748" y="44630"/>
                  </a:lnTo>
                  <a:lnTo>
                    <a:pt x="21415" y="21415"/>
                  </a:lnTo>
                  <a:lnTo>
                    <a:pt x="44630" y="5748"/>
                  </a:lnTo>
                  <a:lnTo>
                    <a:pt x="73025" y="0"/>
                  </a:lnTo>
                  <a:lnTo>
                    <a:pt x="1636902" y="0"/>
                  </a:lnTo>
                  <a:lnTo>
                    <a:pt x="1665297" y="5748"/>
                  </a:lnTo>
                  <a:lnTo>
                    <a:pt x="1688512" y="21415"/>
                  </a:lnTo>
                  <a:lnTo>
                    <a:pt x="1704179" y="44630"/>
                  </a:lnTo>
                  <a:lnTo>
                    <a:pt x="1709927" y="73025"/>
                  </a:lnTo>
                  <a:lnTo>
                    <a:pt x="1709927" y="3127375"/>
                  </a:lnTo>
                  <a:lnTo>
                    <a:pt x="1704179" y="3155769"/>
                  </a:lnTo>
                  <a:lnTo>
                    <a:pt x="1688512" y="3178984"/>
                  </a:lnTo>
                  <a:lnTo>
                    <a:pt x="1665297" y="3194651"/>
                  </a:lnTo>
                  <a:lnTo>
                    <a:pt x="1636902" y="3200400"/>
                  </a:lnTo>
                  <a:lnTo>
                    <a:pt x="73025" y="3200400"/>
                  </a:lnTo>
                  <a:lnTo>
                    <a:pt x="44630" y="3194651"/>
                  </a:lnTo>
                  <a:lnTo>
                    <a:pt x="21415" y="3178984"/>
                  </a:lnTo>
                  <a:lnTo>
                    <a:pt x="5748" y="3155769"/>
                  </a:lnTo>
                  <a:lnTo>
                    <a:pt x="0" y="3127375"/>
                  </a:lnTo>
                  <a:lnTo>
                    <a:pt x="0" y="73025"/>
                  </a:lnTo>
                  <a:close/>
                </a:path>
              </a:pathLst>
            </a:custGeom>
            <a:ln w="12191">
              <a:solidFill>
                <a:srgbClr val="DDD2C4"/>
              </a:solidFill>
            </a:ln>
          </p:spPr>
          <p:txBody>
            <a:bodyPr wrap="square" lIns="0" tIns="0" rIns="0" bIns="0" rtlCol="0"/>
            <a:lstStyle/>
            <a:p>
              <a:endParaRPr/>
            </a:p>
          </p:txBody>
        </p:sp>
        <p:sp>
          <p:nvSpPr>
            <p:cNvPr id="33" name="object 33"/>
            <p:cNvSpPr/>
            <p:nvPr/>
          </p:nvSpPr>
          <p:spPr>
            <a:xfrm>
              <a:off x="6775704" y="1344167"/>
              <a:ext cx="512445" cy="512445"/>
            </a:xfrm>
            <a:custGeom>
              <a:avLst/>
              <a:gdLst/>
              <a:ahLst/>
              <a:cxnLst/>
              <a:rect l="l" t="t" r="r" b="b"/>
              <a:pathLst>
                <a:path w="512445" h="512444">
                  <a:moveTo>
                    <a:pt x="256031" y="0"/>
                  </a:moveTo>
                  <a:lnTo>
                    <a:pt x="210023" y="4126"/>
                  </a:lnTo>
                  <a:lnTo>
                    <a:pt x="166714" y="16023"/>
                  </a:lnTo>
                  <a:lnTo>
                    <a:pt x="126830" y="34967"/>
                  </a:lnTo>
                  <a:lnTo>
                    <a:pt x="91095" y="60232"/>
                  </a:lnTo>
                  <a:lnTo>
                    <a:pt x="60232" y="91095"/>
                  </a:lnTo>
                  <a:lnTo>
                    <a:pt x="34967" y="126830"/>
                  </a:lnTo>
                  <a:lnTo>
                    <a:pt x="16023" y="166714"/>
                  </a:lnTo>
                  <a:lnTo>
                    <a:pt x="4126" y="210023"/>
                  </a:lnTo>
                  <a:lnTo>
                    <a:pt x="0" y="256032"/>
                  </a:lnTo>
                  <a:lnTo>
                    <a:pt x="4126" y="302040"/>
                  </a:lnTo>
                  <a:lnTo>
                    <a:pt x="16023" y="345349"/>
                  </a:lnTo>
                  <a:lnTo>
                    <a:pt x="34967" y="385233"/>
                  </a:lnTo>
                  <a:lnTo>
                    <a:pt x="60232" y="420968"/>
                  </a:lnTo>
                  <a:lnTo>
                    <a:pt x="91095" y="451831"/>
                  </a:lnTo>
                  <a:lnTo>
                    <a:pt x="126830" y="477096"/>
                  </a:lnTo>
                  <a:lnTo>
                    <a:pt x="166714" y="496040"/>
                  </a:lnTo>
                  <a:lnTo>
                    <a:pt x="210023" y="507937"/>
                  </a:lnTo>
                  <a:lnTo>
                    <a:pt x="256031" y="512064"/>
                  </a:lnTo>
                  <a:lnTo>
                    <a:pt x="302040" y="507937"/>
                  </a:lnTo>
                  <a:lnTo>
                    <a:pt x="345349" y="496040"/>
                  </a:lnTo>
                  <a:lnTo>
                    <a:pt x="385233" y="477096"/>
                  </a:lnTo>
                  <a:lnTo>
                    <a:pt x="420968" y="451831"/>
                  </a:lnTo>
                  <a:lnTo>
                    <a:pt x="451831" y="420968"/>
                  </a:lnTo>
                  <a:lnTo>
                    <a:pt x="477096" y="385233"/>
                  </a:lnTo>
                  <a:lnTo>
                    <a:pt x="496040" y="345349"/>
                  </a:lnTo>
                  <a:lnTo>
                    <a:pt x="507937" y="302040"/>
                  </a:lnTo>
                  <a:lnTo>
                    <a:pt x="512064" y="256032"/>
                  </a:lnTo>
                  <a:lnTo>
                    <a:pt x="507937" y="210023"/>
                  </a:lnTo>
                  <a:lnTo>
                    <a:pt x="496040" y="166714"/>
                  </a:lnTo>
                  <a:lnTo>
                    <a:pt x="477096" y="126830"/>
                  </a:lnTo>
                  <a:lnTo>
                    <a:pt x="451831" y="91095"/>
                  </a:lnTo>
                  <a:lnTo>
                    <a:pt x="420968" y="60232"/>
                  </a:lnTo>
                  <a:lnTo>
                    <a:pt x="385233" y="34967"/>
                  </a:lnTo>
                  <a:lnTo>
                    <a:pt x="345349" y="16023"/>
                  </a:lnTo>
                  <a:lnTo>
                    <a:pt x="302040" y="4126"/>
                  </a:lnTo>
                  <a:lnTo>
                    <a:pt x="256031" y="0"/>
                  </a:lnTo>
                  <a:close/>
                </a:path>
              </a:pathLst>
            </a:custGeom>
            <a:solidFill>
              <a:srgbClr val="C00000"/>
            </a:solidFill>
          </p:spPr>
          <p:txBody>
            <a:bodyPr wrap="square" lIns="0" tIns="0" rIns="0" bIns="0" rtlCol="0"/>
            <a:lstStyle/>
            <a:p>
              <a:endParaRPr/>
            </a:p>
          </p:txBody>
        </p:sp>
        <p:sp>
          <p:nvSpPr>
            <p:cNvPr id="34" name="object 34"/>
            <p:cNvSpPr/>
            <p:nvPr/>
          </p:nvSpPr>
          <p:spPr>
            <a:xfrm>
              <a:off x="6775704" y="1344167"/>
              <a:ext cx="512445" cy="512445"/>
            </a:xfrm>
            <a:custGeom>
              <a:avLst/>
              <a:gdLst/>
              <a:ahLst/>
              <a:cxnLst/>
              <a:rect l="l" t="t" r="r" b="b"/>
              <a:pathLst>
                <a:path w="512445" h="512444">
                  <a:moveTo>
                    <a:pt x="0" y="256032"/>
                  </a:moveTo>
                  <a:lnTo>
                    <a:pt x="4126" y="210023"/>
                  </a:lnTo>
                  <a:lnTo>
                    <a:pt x="16023" y="166714"/>
                  </a:lnTo>
                  <a:lnTo>
                    <a:pt x="34967" y="126830"/>
                  </a:lnTo>
                  <a:lnTo>
                    <a:pt x="60232" y="91095"/>
                  </a:lnTo>
                  <a:lnTo>
                    <a:pt x="91095" y="60232"/>
                  </a:lnTo>
                  <a:lnTo>
                    <a:pt x="126830" y="34967"/>
                  </a:lnTo>
                  <a:lnTo>
                    <a:pt x="166714" y="16023"/>
                  </a:lnTo>
                  <a:lnTo>
                    <a:pt x="210023" y="4126"/>
                  </a:lnTo>
                  <a:lnTo>
                    <a:pt x="256031" y="0"/>
                  </a:lnTo>
                  <a:lnTo>
                    <a:pt x="302040" y="4126"/>
                  </a:lnTo>
                  <a:lnTo>
                    <a:pt x="345349" y="16023"/>
                  </a:lnTo>
                  <a:lnTo>
                    <a:pt x="385233" y="34967"/>
                  </a:lnTo>
                  <a:lnTo>
                    <a:pt x="420968" y="60232"/>
                  </a:lnTo>
                  <a:lnTo>
                    <a:pt x="451831" y="91095"/>
                  </a:lnTo>
                  <a:lnTo>
                    <a:pt x="477096" y="126830"/>
                  </a:lnTo>
                  <a:lnTo>
                    <a:pt x="496040" y="166714"/>
                  </a:lnTo>
                  <a:lnTo>
                    <a:pt x="507937" y="210023"/>
                  </a:lnTo>
                  <a:lnTo>
                    <a:pt x="512064" y="256032"/>
                  </a:lnTo>
                  <a:lnTo>
                    <a:pt x="507937" y="302040"/>
                  </a:lnTo>
                  <a:lnTo>
                    <a:pt x="496040" y="345349"/>
                  </a:lnTo>
                  <a:lnTo>
                    <a:pt x="477096" y="385233"/>
                  </a:lnTo>
                  <a:lnTo>
                    <a:pt x="451831" y="420968"/>
                  </a:lnTo>
                  <a:lnTo>
                    <a:pt x="420968" y="451831"/>
                  </a:lnTo>
                  <a:lnTo>
                    <a:pt x="385233" y="477096"/>
                  </a:lnTo>
                  <a:lnTo>
                    <a:pt x="345349" y="496040"/>
                  </a:lnTo>
                  <a:lnTo>
                    <a:pt x="302040" y="507937"/>
                  </a:lnTo>
                  <a:lnTo>
                    <a:pt x="256031" y="512064"/>
                  </a:lnTo>
                  <a:lnTo>
                    <a:pt x="210023" y="507937"/>
                  </a:lnTo>
                  <a:lnTo>
                    <a:pt x="166714" y="496040"/>
                  </a:lnTo>
                  <a:lnTo>
                    <a:pt x="126830" y="477096"/>
                  </a:lnTo>
                  <a:lnTo>
                    <a:pt x="91095" y="451831"/>
                  </a:lnTo>
                  <a:lnTo>
                    <a:pt x="60232" y="420968"/>
                  </a:lnTo>
                  <a:lnTo>
                    <a:pt x="34967" y="385233"/>
                  </a:lnTo>
                  <a:lnTo>
                    <a:pt x="16023" y="345349"/>
                  </a:lnTo>
                  <a:lnTo>
                    <a:pt x="4126" y="302040"/>
                  </a:lnTo>
                  <a:lnTo>
                    <a:pt x="0" y="256032"/>
                  </a:lnTo>
                  <a:close/>
                </a:path>
              </a:pathLst>
            </a:custGeom>
            <a:ln w="24384">
              <a:solidFill>
                <a:srgbClr val="FFFFFF"/>
              </a:solidFill>
            </a:ln>
          </p:spPr>
          <p:txBody>
            <a:bodyPr wrap="square" lIns="0" tIns="0" rIns="0" bIns="0" rtlCol="0"/>
            <a:lstStyle/>
            <a:p>
              <a:endParaRPr/>
            </a:p>
          </p:txBody>
        </p:sp>
      </p:grpSp>
      <p:sp>
        <p:nvSpPr>
          <p:cNvPr id="36" name="object 36"/>
          <p:cNvSpPr txBox="1"/>
          <p:nvPr/>
        </p:nvSpPr>
        <p:spPr>
          <a:xfrm>
            <a:off x="6388100" y="2041929"/>
            <a:ext cx="1710055" cy="167354"/>
          </a:xfrm>
          <a:prstGeom prst="rect">
            <a:avLst/>
          </a:prstGeom>
        </p:spPr>
        <p:txBody>
          <a:bodyPr vert="horz" wrap="square" lIns="0" tIns="13335" rIns="0" bIns="0" rtlCol="0">
            <a:spAutoFit/>
          </a:bodyPr>
          <a:lstStyle/>
          <a:p>
            <a:pPr marL="12700">
              <a:lnSpc>
                <a:spcPct val="100000"/>
              </a:lnSpc>
              <a:spcBef>
                <a:spcPts val="105"/>
              </a:spcBef>
            </a:pPr>
            <a:r>
              <a:rPr lang="en-IN" sz="1000" b="1" dirty="0">
                <a:solidFill>
                  <a:srgbClr val="C00000"/>
                </a:solidFill>
                <a:latin typeface="Calibri"/>
                <a:cs typeface="Calibri"/>
              </a:rPr>
              <a:t>GNN MODEL</a:t>
            </a:r>
            <a:endParaRPr sz="1000" b="1" dirty="0">
              <a:solidFill>
                <a:srgbClr val="C00000"/>
              </a:solidFill>
              <a:latin typeface="Calibri"/>
              <a:cs typeface="Calibri"/>
            </a:endParaRPr>
          </a:p>
        </p:txBody>
      </p:sp>
      <p:sp>
        <p:nvSpPr>
          <p:cNvPr id="37" name="object 37"/>
          <p:cNvSpPr txBox="1"/>
          <p:nvPr/>
        </p:nvSpPr>
        <p:spPr>
          <a:xfrm>
            <a:off x="6109590" y="2633577"/>
            <a:ext cx="1754377" cy="1272143"/>
          </a:xfrm>
          <a:prstGeom prst="rect">
            <a:avLst/>
          </a:prstGeom>
        </p:spPr>
        <p:txBody>
          <a:bodyPr vert="horz" wrap="square" lIns="0" tIns="12700" rIns="0" bIns="0" rtlCol="0">
            <a:spAutoFit/>
          </a:bodyPr>
          <a:lstStyle/>
          <a:p>
            <a:pPr marL="48895" marR="5080" indent="-36830" algn="ctr">
              <a:spcBef>
                <a:spcPts val="100"/>
              </a:spcBef>
            </a:pPr>
            <a:r>
              <a:rPr lang="en-US" sz="1200" dirty="0"/>
              <a:t>Train a Graph Neural Network using neighborhood information to learn representations of transaction behavior.</a:t>
            </a:r>
            <a:endParaRPr lang="en-US" sz="1200" dirty="0">
              <a:latin typeface="Calibri"/>
              <a:cs typeface="Calibri"/>
            </a:endParaRPr>
          </a:p>
          <a:p>
            <a:pPr marL="48895" marR="5080" indent="-36830" algn="ctr">
              <a:lnSpc>
                <a:spcPct val="100000"/>
              </a:lnSpc>
              <a:spcBef>
                <a:spcPts val="100"/>
              </a:spcBef>
            </a:pPr>
            <a:endParaRPr sz="900" dirty="0">
              <a:latin typeface="Calibri"/>
              <a:cs typeface="Calibri"/>
            </a:endParaRPr>
          </a:p>
        </p:txBody>
      </p:sp>
      <p:grpSp>
        <p:nvGrpSpPr>
          <p:cNvPr id="38" name="object 38"/>
          <p:cNvGrpSpPr/>
          <p:nvPr/>
        </p:nvGrpSpPr>
        <p:grpSpPr>
          <a:xfrm>
            <a:off x="7967471" y="1331785"/>
            <a:ext cx="1874520" cy="3569335"/>
            <a:chOff x="7967471" y="1331785"/>
            <a:chExt cx="1874520" cy="3569335"/>
          </a:xfrm>
        </p:grpSpPr>
        <p:pic>
          <p:nvPicPr>
            <p:cNvPr id="39" name="object 39"/>
            <p:cNvPicPr/>
            <p:nvPr/>
          </p:nvPicPr>
          <p:blipFill>
            <a:blip r:embed="rId2" cstate="print"/>
            <a:stretch>
              <a:fillRect/>
            </a:stretch>
          </p:blipFill>
          <p:spPr>
            <a:xfrm>
              <a:off x="7967471" y="1539239"/>
              <a:ext cx="1874139" cy="3361563"/>
            </a:xfrm>
            <a:prstGeom prst="rect">
              <a:avLst/>
            </a:prstGeom>
          </p:spPr>
        </p:pic>
        <p:sp>
          <p:nvSpPr>
            <p:cNvPr id="40" name="object 40"/>
            <p:cNvSpPr/>
            <p:nvPr/>
          </p:nvSpPr>
          <p:spPr>
            <a:xfrm>
              <a:off x="8052815" y="1600199"/>
              <a:ext cx="1713230" cy="3200400"/>
            </a:xfrm>
            <a:custGeom>
              <a:avLst/>
              <a:gdLst/>
              <a:ahLst/>
              <a:cxnLst/>
              <a:rect l="l" t="t" r="r" b="b"/>
              <a:pathLst>
                <a:path w="1713229" h="3200400">
                  <a:moveTo>
                    <a:pt x="1639824" y="0"/>
                  </a:moveTo>
                  <a:lnTo>
                    <a:pt x="73151" y="0"/>
                  </a:lnTo>
                  <a:lnTo>
                    <a:pt x="44684" y="5750"/>
                  </a:lnTo>
                  <a:lnTo>
                    <a:pt x="21431" y="21431"/>
                  </a:lnTo>
                  <a:lnTo>
                    <a:pt x="5750" y="44684"/>
                  </a:lnTo>
                  <a:lnTo>
                    <a:pt x="0" y="73151"/>
                  </a:lnTo>
                  <a:lnTo>
                    <a:pt x="0" y="3127248"/>
                  </a:lnTo>
                  <a:lnTo>
                    <a:pt x="5750" y="3155715"/>
                  </a:lnTo>
                  <a:lnTo>
                    <a:pt x="21431" y="3178968"/>
                  </a:lnTo>
                  <a:lnTo>
                    <a:pt x="44684" y="3194649"/>
                  </a:lnTo>
                  <a:lnTo>
                    <a:pt x="73151" y="3200400"/>
                  </a:lnTo>
                  <a:lnTo>
                    <a:pt x="1639824" y="3200400"/>
                  </a:lnTo>
                  <a:lnTo>
                    <a:pt x="1668291" y="3194649"/>
                  </a:lnTo>
                  <a:lnTo>
                    <a:pt x="1691544" y="3178968"/>
                  </a:lnTo>
                  <a:lnTo>
                    <a:pt x="1707225" y="3155715"/>
                  </a:lnTo>
                  <a:lnTo>
                    <a:pt x="1712976" y="3127248"/>
                  </a:lnTo>
                  <a:lnTo>
                    <a:pt x="1712976" y="73151"/>
                  </a:lnTo>
                  <a:lnTo>
                    <a:pt x="1707225" y="44684"/>
                  </a:lnTo>
                  <a:lnTo>
                    <a:pt x="1691544" y="21431"/>
                  </a:lnTo>
                  <a:lnTo>
                    <a:pt x="1668291" y="5750"/>
                  </a:lnTo>
                  <a:lnTo>
                    <a:pt x="1639824" y="0"/>
                  </a:lnTo>
                  <a:close/>
                </a:path>
              </a:pathLst>
            </a:custGeom>
            <a:solidFill>
              <a:srgbClr val="FFFFFF"/>
            </a:solidFill>
          </p:spPr>
          <p:txBody>
            <a:bodyPr wrap="square" lIns="0" tIns="0" rIns="0" bIns="0" rtlCol="0"/>
            <a:lstStyle/>
            <a:p>
              <a:endParaRPr/>
            </a:p>
          </p:txBody>
        </p:sp>
        <p:sp>
          <p:nvSpPr>
            <p:cNvPr id="41" name="object 41"/>
            <p:cNvSpPr/>
            <p:nvPr/>
          </p:nvSpPr>
          <p:spPr>
            <a:xfrm>
              <a:off x="8052815" y="1600199"/>
              <a:ext cx="1713230" cy="3200400"/>
            </a:xfrm>
            <a:custGeom>
              <a:avLst/>
              <a:gdLst/>
              <a:ahLst/>
              <a:cxnLst/>
              <a:rect l="l" t="t" r="r" b="b"/>
              <a:pathLst>
                <a:path w="1713229" h="3200400">
                  <a:moveTo>
                    <a:pt x="0" y="73151"/>
                  </a:moveTo>
                  <a:lnTo>
                    <a:pt x="5750" y="44684"/>
                  </a:lnTo>
                  <a:lnTo>
                    <a:pt x="21431" y="21431"/>
                  </a:lnTo>
                  <a:lnTo>
                    <a:pt x="44684" y="5750"/>
                  </a:lnTo>
                  <a:lnTo>
                    <a:pt x="73151" y="0"/>
                  </a:lnTo>
                  <a:lnTo>
                    <a:pt x="1639824" y="0"/>
                  </a:lnTo>
                  <a:lnTo>
                    <a:pt x="1668291" y="5750"/>
                  </a:lnTo>
                  <a:lnTo>
                    <a:pt x="1691544" y="21431"/>
                  </a:lnTo>
                  <a:lnTo>
                    <a:pt x="1707225" y="44684"/>
                  </a:lnTo>
                  <a:lnTo>
                    <a:pt x="1712976" y="73151"/>
                  </a:lnTo>
                  <a:lnTo>
                    <a:pt x="1712976" y="3127248"/>
                  </a:lnTo>
                  <a:lnTo>
                    <a:pt x="1707225" y="3155715"/>
                  </a:lnTo>
                  <a:lnTo>
                    <a:pt x="1691544" y="3178968"/>
                  </a:lnTo>
                  <a:lnTo>
                    <a:pt x="1668291" y="3194649"/>
                  </a:lnTo>
                  <a:lnTo>
                    <a:pt x="1639824" y="3200400"/>
                  </a:lnTo>
                  <a:lnTo>
                    <a:pt x="73151" y="3200400"/>
                  </a:lnTo>
                  <a:lnTo>
                    <a:pt x="44684" y="3194649"/>
                  </a:lnTo>
                  <a:lnTo>
                    <a:pt x="21431" y="3178968"/>
                  </a:lnTo>
                  <a:lnTo>
                    <a:pt x="5750" y="3155715"/>
                  </a:lnTo>
                  <a:lnTo>
                    <a:pt x="0" y="3127248"/>
                  </a:lnTo>
                  <a:lnTo>
                    <a:pt x="0" y="73151"/>
                  </a:lnTo>
                  <a:close/>
                </a:path>
              </a:pathLst>
            </a:custGeom>
            <a:ln w="12192">
              <a:solidFill>
                <a:srgbClr val="DDD2C4"/>
              </a:solidFill>
            </a:ln>
          </p:spPr>
          <p:txBody>
            <a:bodyPr wrap="square" lIns="0" tIns="0" rIns="0" bIns="0" rtlCol="0"/>
            <a:lstStyle/>
            <a:p>
              <a:endParaRPr/>
            </a:p>
          </p:txBody>
        </p:sp>
        <p:sp>
          <p:nvSpPr>
            <p:cNvPr id="42" name="object 42"/>
            <p:cNvSpPr/>
            <p:nvPr/>
          </p:nvSpPr>
          <p:spPr>
            <a:xfrm>
              <a:off x="8653271" y="1344167"/>
              <a:ext cx="512445" cy="512445"/>
            </a:xfrm>
            <a:custGeom>
              <a:avLst/>
              <a:gdLst/>
              <a:ahLst/>
              <a:cxnLst/>
              <a:rect l="l" t="t" r="r" b="b"/>
              <a:pathLst>
                <a:path w="512445" h="512444">
                  <a:moveTo>
                    <a:pt x="256031" y="0"/>
                  </a:moveTo>
                  <a:lnTo>
                    <a:pt x="210023" y="4126"/>
                  </a:lnTo>
                  <a:lnTo>
                    <a:pt x="166714" y="16023"/>
                  </a:lnTo>
                  <a:lnTo>
                    <a:pt x="126830" y="34967"/>
                  </a:lnTo>
                  <a:lnTo>
                    <a:pt x="91095" y="60232"/>
                  </a:lnTo>
                  <a:lnTo>
                    <a:pt x="60232" y="91095"/>
                  </a:lnTo>
                  <a:lnTo>
                    <a:pt x="34967" y="126830"/>
                  </a:lnTo>
                  <a:lnTo>
                    <a:pt x="16023" y="166714"/>
                  </a:lnTo>
                  <a:lnTo>
                    <a:pt x="4126" y="210023"/>
                  </a:lnTo>
                  <a:lnTo>
                    <a:pt x="0" y="256032"/>
                  </a:lnTo>
                  <a:lnTo>
                    <a:pt x="4126" y="302040"/>
                  </a:lnTo>
                  <a:lnTo>
                    <a:pt x="16023" y="345349"/>
                  </a:lnTo>
                  <a:lnTo>
                    <a:pt x="34967" y="385233"/>
                  </a:lnTo>
                  <a:lnTo>
                    <a:pt x="60232" y="420968"/>
                  </a:lnTo>
                  <a:lnTo>
                    <a:pt x="91095" y="451831"/>
                  </a:lnTo>
                  <a:lnTo>
                    <a:pt x="126830" y="477096"/>
                  </a:lnTo>
                  <a:lnTo>
                    <a:pt x="166714" y="496040"/>
                  </a:lnTo>
                  <a:lnTo>
                    <a:pt x="210023" y="507937"/>
                  </a:lnTo>
                  <a:lnTo>
                    <a:pt x="256031" y="512064"/>
                  </a:lnTo>
                  <a:lnTo>
                    <a:pt x="302040" y="507937"/>
                  </a:lnTo>
                  <a:lnTo>
                    <a:pt x="345349" y="496040"/>
                  </a:lnTo>
                  <a:lnTo>
                    <a:pt x="385233" y="477096"/>
                  </a:lnTo>
                  <a:lnTo>
                    <a:pt x="420968" y="451831"/>
                  </a:lnTo>
                  <a:lnTo>
                    <a:pt x="451831" y="420968"/>
                  </a:lnTo>
                  <a:lnTo>
                    <a:pt x="477096" y="385233"/>
                  </a:lnTo>
                  <a:lnTo>
                    <a:pt x="496040" y="345349"/>
                  </a:lnTo>
                  <a:lnTo>
                    <a:pt x="507937" y="302040"/>
                  </a:lnTo>
                  <a:lnTo>
                    <a:pt x="512063" y="256032"/>
                  </a:lnTo>
                  <a:lnTo>
                    <a:pt x="507937" y="210023"/>
                  </a:lnTo>
                  <a:lnTo>
                    <a:pt x="496040" y="166714"/>
                  </a:lnTo>
                  <a:lnTo>
                    <a:pt x="477096" y="126830"/>
                  </a:lnTo>
                  <a:lnTo>
                    <a:pt x="451831" y="91095"/>
                  </a:lnTo>
                  <a:lnTo>
                    <a:pt x="420968" y="60232"/>
                  </a:lnTo>
                  <a:lnTo>
                    <a:pt x="385233" y="34967"/>
                  </a:lnTo>
                  <a:lnTo>
                    <a:pt x="345349" y="16023"/>
                  </a:lnTo>
                  <a:lnTo>
                    <a:pt x="302040" y="4126"/>
                  </a:lnTo>
                  <a:lnTo>
                    <a:pt x="256031" y="0"/>
                  </a:lnTo>
                  <a:close/>
                </a:path>
              </a:pathLst>
            </a:custGeom>
            <a:solidFill>
              <a:srgbClr val="C00000"/>
            </a:solidFill>
          </p:spPr>
          <p:txBody>
            <a:bodyPr wrap="square" lIns="0" tIns="0" rIns="0" bIns="0" rtlCol="0"/>
            <a:lstStyle/>
            <a:p>
              <a:endParaRPr/>
            </a:p>
          </p:txBody>
        </p:sp>
        <p:sp>
          <p:nvSpPr>
            <p:cNvPr id="43" name="object 43"/>
            <p:cNvSpPr/>
            <p:nvPr/>
          </p:nvSpPr>
          <p:spPr>
            <a:xfrm>
              <a:off x="8653271" y="1344167"/>
              <a:ext cx="512445" cy="512445"/>
            </a:xfrm>
            <a:custGeom>
              <a:avLst/>
              <a:gdLst/>
              <a:ahLst/>
              <a:cxnLst/>
              <a:rect l="l" t="t" r="r" b="b"/>
              <a:pathLst>
                <a:path w="512445" h="512444">
                  <a:moveTo>
                    <a:pt x="0" y="256032"/>
                  </a:moveTo>
                  <a:lnTo>
                    <a:pt x="4126" y="210023"/>
                  </a:lnTo>
                  <a:lnTo>
                    <a:pt x="16023" y="166714"/>
                  </a:lnTo>
                  <a:lnTo>
                    <a:pt x="34967" y="126830"/>
                  </a:lnTo>
                  <a:lnTo>
                    <a:pt x="60232" y="91095"/>
                  </a:lnTo>
                  <a:lnTo>
                    <a:pt x="91095" y="60232"/>
                  </a:lnTo>
                  <a:lnTo>
                    <a:pt x="126830" y="34967"/>
                  </a:lnTo>
                  <a:lnTo>
                    <a:pt x="166714" y="16023"/>
                  </a:lnTo>
                  <a:lnTo>
                    <a:pt x="210023" y="4126"/>
                  </a:lnTo>
                  <a:lnTo>
                    <a:pt x="256031" y="0"/>
                  </a:lnTo>
                  <a:lnTo>
                    <a:pt x="302040" y="4126"/>
                  </a:lnTo>
                  <a:lnTo>
                    <a:pt x="345349" y="16023"/>
                  </a:lnTo>
                  <a:lnTo>
                    <a:pt x="385233" y="34967"/>
                  </a:lnTo>
                  <a:lnTo>
                    <a:pt x="420968" y="60232"/>
                  </a:lnTo>
                  <a:lnTo>
                    <a:pt x="451831" y="91095"/>
                  </a:lnTo>
                  <a:lnTo>
                    <a:pt x="477096" y="126830"/>
                  </a:lnTo>
                  <a:lnTo>
                    <a:pt x="496040" y="166714"/>
                  </a:lnTo>
                  <a:lnTo>
                    <a:pt x="507937" y="210023"/>
                  </a:lnTo>
                  <a:lnTo>
                    <a:pt x="512063" y="256032"/>
                  </a:lnTo>
                  <a:lnTo>
                    <a:pt x="507937" y="302040"/>
                  </a:lnTo>
                  <a:lnTo>
                    <a:pt x="496040" y="345349"/>
                  </a:lnTo>
                  <a:lnTo>
                    <a:pt x="477096" y="385233"/>
                  </a:lnTo>
                  <a:lnTo>
                    <a:pt x="451831" y="420968"/>
                  </a:lnTo>
                  <a:lnTo>
                    <a:pt x="420968" y="451831"/>
                  </a:lnTo>
                  <a:lnTo>
                    <a:pt x="385233" y="477096"/>
                  </a:lnTo>
                  <a:lnTo>
                    <a:pt x="345349" y="496040"/>
                  </a:lnTo>
                  <a:lnTo>
                    <a:pt x="302040" y="507937"/>
                  </a:lnTo>
                  <a:lnTo>
                    <a:pt x="256031" y="512064"/>
                  </a:lnTo>
                  <a:lnTo>
                    <a:pt x="210023" y="507937"/>
                  </a:lnTo>
                  <a:lnTo>
                    <a:pt x="166714" y="496040"/>
                  </a:lnTo>
                  <a:lnTo>
                    <a:pt x="126830" y="477096"/>
                  </a:lnTo>
                  <a:lnTo>
                    <a:pt x="91095" y="451831"/>
                  </a:lnTo>
                  <a:lnTo>
                    <a:pt x="60232" y="420968"/>
                  </a:lnTo>
                  <a:lnTo>
                    <a:pt x="34967" y="385233"/>
                  </a:lnTo>
                  <a:lnTo>
                    <a:pt x="16023" y="345349"/>
                  </a:lnTo>
                  <a:lnTo>
                    <a:pt x="4126" y="302040"/>
                  </a:lnTo>
                  <a:lnTo>
                    <a:pt x="0" y="256032"/>
                  </a:lnTo>
                  <a:close/>
                </a:path>
              </a:pathLst>
            </a:custGeom>
            <a:ln w="24384">
              <a:solidFill>
                <a:srgbClr val="FFFFFF"/>
              </a:solidFill>
            </a:ln>
          </p:spPr>
          <p:txBody>
            <a:bodyPr wrap="square" lIns="0" tIns="0" rIns="0" bIns="0" rtlCol="0"/>
            <a:lstStyle/>
            <a:p>
              <a:endParaRPr/>
            </a:p>
          </p:txBody>
        </p:sp>
      </p:grpSp>
      <p:sp>
        <p:nvSpPr>
          <p:cNvPr id="44" name="object 44"/>
          <p:cNvSpPr txBox="1"/>
          <p:nvPr/>
        </p:nvSpPr>
        <p:spPr>
          <a:xfrm>
            <a:off x="8846566" y="1451229"/>
            <a:ext cx="128905" cy="270510"/>
          </a:xfrm>
          <a:prstGeom prst="rect">
            <a:avLst/>
          </a:prstGeom>
        </p:spPr>
        <p:txBody>
          <a:bodyPr vert="horz" wrap="square" lIns="0" tIns="13335" rIns="0" bIns="0" rtlCol="0">
            <a:spAutoFit/>
          </a:bodyPr>
          <a:lstStyle/>
          <a:p>
            <a:pPr marL="12700">
              <a:lnSpc>
                <a:spcPct val="100000"/>
              </a:lnSpc>
              <a:spcBef>
                <a:spcPts val="105"/>
              </a:spcBef>
            </a:pPr>
            <a:r>
              <a:t>5</a:t>
            </a:r>
            <a:endParaRPr sz="1600">
              <a:latin typeface="Calibri"/>
              <a:cs typeface="Calibri"/>
            </a:endParaRPr>
          </a:p>
        </p:txBody>
      </p:sp>
      <p:sp>
        <p:nvSpPr>
          <p:cNvPr id="45" name="object 45"/>
          <p:cNvSpPr txBox="1"/>
          <p:nvPr/>
        </p:nvSpPr>
        <p:spPr>
          <a:xfrm>
            <a:off x="8286876" y="2045664"/>
            <a:ext cx="1326643" cy="167354"/>
          </a:xfrm>
          <a:prstGeom prst="rect">
            <a:avLst/>
          </a:prstGeom>
        </p:spPr>
        <p:txBody>
          <a:bodyPr vert="horz" wrap="square" lIns="0" tIns="13335" rIns="0" bIns="0" rtlCol="0">
            <a:spAutoFit/>
          </a:bodyPr>
          <a:lstStyle/>
          <a:p>
            <a:pPr marL="12700">
              <a:lnSpc>
                <a:spcPct val="100000"/>
              </a:lnSpc>
              <a:spcBef>
                <a:spcPts val="105"/>
              </a:spcBef>
            </a:pPr>
            <a:r>
              <a:rPr lang="en-IN" sz="1000" b="1" dirty="0">
                <a:solidFill>
                  <a:srgbClr val="C00000"/>
                </a:solidFill>
                <a:latin typeface="Calibri"/>
                <a:cs typeface="Calibri"/>
              </a:rPr>
              <a:t>TRAIN + VALIDATE</a:t>
            </a:r>
            <a:endParaRPr sz="1000" b="1" dirty="0">
              <a:solidFill>
                <a:srgbClr val="C00000"/>
              </a:solidFill>
              <a:latin typeface="Calibri"/>
              <a:cs typeface="Calibri"/>
            </a:endParaRPr>
          </a:p>
        </p:txBody>
      </p:sp>
      <p:sp>
        <p:nvSpPr>
          <p:cNvPr id="46" name="object 46"/>
          <p:cNvSpPr txBox="1"/>
          <p:nvPr/>
        </p:nvSpPr>
        <p:spPr>
          <a:xfrm>
            <a:off x="7955407" y="2605160"/>
            <a:ext cx="1713229" cy="1087477"/>
          </a:xfrm>
          <a:prstGeom prst="rect">
            <a:avLst/>
          </a:prstGeom>
        </p:spPr>
        <p:txBody>
          <a:bodyPr vert="horz" wrap="square" lIns="0" tIns="12700" rIns="0" bIns="0" rtlCol="0">
            <a:spAutoFit/>
          </a:bodyPr>
          <a:lstStyle/>
          <a:p>
            <a:pPr marL="271145" marR="5080" indent="-259079" algn="ctr">
              <a:spcBef>
                <a:spcPts val="100"/>
              </a:spcBef>
            </a:pPr>
            <a:r>
              <a:rPr lang="en-US" sz="1200" dirty="0"/>
              <a:t>Train the GNN and validate its ability to distinguish licit, illicit, and unknown transaction patterns.</a:t>
            </a:r>
            <a:endParaRPr lang="en-US" sz="1200" dirty="0">
              <a:latin typeface="Calibri"/>
              <a:cs typeface="Calibri"/>
            </a:endParaRPr>
          </a:p>
          <a:p>
            <a:pPr marL="271145" marR="5080" indent="-259079" algn="ctr">
              <a:lnSpc>
                <a:spcPct val="100000"/>
              </a:lnSpc>
              <a:spcBef>
                <a:spcPts val="100"/>
              </a:spcBef>
            </a:pPr>
            <a:endParaRPr sz="900" dirty="0">
              <a:latin typeface="Calibri"/>
              <a:cs typeface="Calibri"/>
            </a:endParaRPr>
          </a:p>
        </p:txBody>
      </p:sp>
      <p:grpSp>
        <p:nvGrpSpPr>
          <p:cNvPr id="47" name="object 47"/>
          <p:cNvGrpSpPr/>
          <p:nvPr/>
        </p:nvGrpSpPr>
        <p:grpSpPr>
          <a:xfrm>
            <a:off x="9845040" y="1331975"/>
            <a:ext cx="1871345" cy="3569335"/>
            <a:chOff x="9845040" y="1331975"/>
            <a:chExt cx="1871345" cy="3569335"/>
          </a:xfrm>
        </p:grpSpPr>
        <p:pic>
          <p:nvPicPr>
            <p:cNvPr id="48" name="object 48"/>
            <p:cNvPicPr/>
            <p:nvPr/>
          </p:nvPicPr>
          <p:blipFill>
            <a:blip r:embed="rId3" cstate="print"/>
            <a:stretch>
              <a:fillRect/>
            </a:stretch>
          </p:blipFill>
          <p:spPr>
            <a:xfrm>
              <a:off x="9845040" y="1539239"/>
              <a:ext cx="1871091" cy="3361563"/>
            </a:xfrm>
            <a:prstGeom prst="rect">
              <a:avLst/>
            </a:prstGeom>
          </p:spPr>
        </p:pic>
        <p:sp>
          <p:nvSpPr>
            <p:cNvPr id="49" name="object 49"/>
            <p:cNvSpPr/>
            <p:nvPr/>
          </p:nvSpPr>
          <p:spPr>
            <a:xfrm>
              <a:off x="9930384" y="1600199"/>
              <a:ext cx="1710055" cy="3200400"/>
            </a:xfrm>
            <a:custGeom>
              <a:avLst/>
              <a:gdLst/>
              <a:ahLst/>
              <a:cxnLst/>
              <a:rect l="l" t="t" r="r" b="b"/>
              <a:pathLst>
                <a:path w="1710054" h="3200400">
                  <a:moveTo>
                    <a:pt x="1636902" y="0"/>
                  </a:moveTo>
                  <a:lnTo>
                    <a:pt x="73025" y="0"/>
                  </a:lnTo>
                  <a:lnTo>
                    <a:pt x="44630" y="5748"/>
                  </a:lnTo>
                  <a:lnTo>
                    <a:pt x="21415" y="21415"/>
                  </a:lnTo>
                  <a:lnTo>
                    <a:pt x="5748" y="44630"/>
                  </a:lnTo>
                  <a:lnTo>
                    <a:pt x="0" y="73025"/>
                  </a:lnTo>
                  <a:lnTo>
                    <a:pt x="0" y="3127375"/>
                  </a:lnTo>
                  <a:lnTo>
                    <a:pt x="5748" y="3155769"/>
                  </a:lnTo>
                  <a:lnTo>
                    <a:pt x="21415" y="3178984"/>
                  </a:lnTo>
                  <a:lnTo>
                    <a:pt x="44630" y="3194651"/>
                  </a:lnTo>
                  <a:lnTo>
                    <a:pt x="73025" y="3200400"/>
                  </a:lnTo>
                  <a:lnTo>
                    <a:pt x="1636902" y="3200400"/>
                  </a:lnTo>
                  <a:lnTo>
                    <a:pt x="1665297" y="3194651"/>
                  </a:lnTo>
                  <a:lnTo>
                    <a:pt x="1688512" y="3178984"/>
                  </a:lnTo>
                  <a:lnTo>
                    <a:pt x="1704179" y="3155769"/>
                  </a:lnTo>
                  <a:lnTo>
                    <a:pt x="1709927" y="3127375"/>
                  </a:lnTo>
                  <a:lnTo>
                    <a:pt x="1709927" y="73025"/>
                  </a:lnTo>
                  <a:lnTo>
                    <a:pt x="1704179" y="44630"/>
                  </a:lnTo>
                  <a:lnTo>
                    <a:pt x="1688512" y="21415"/>
                  </a:lnTo>
                  <a:lnTo>
                    <a:pt x="1665297" y="5748"/>
                  </a:lnTo>
                  <a:lnTo>
                    <a:pt x="1636902" y="0"/>
                  </a:lnTo>
                  <a:close/>
                </a:path>
              </a:pathLst>
            </a:custGeom>
            <a:solidFill>
              <a:srgbClr val="FFFFFF"/>
            </a:solidFill>
          </p:spPr>
          <p:txBody>
            <a:bodyPr wrap="square" lIns="0" tIns="0" rIns="0" bIns="0" rtlCol="0"/>
            <a:lstStyle/>
            <a:p>
              <a:endParaRPr/>
            </a:p>
          </p:txBody>
        </p:sp>
        <p:sp>
          <p:nvSpPr>
            <p:cNvPr id="50" name="object 50"/>
            <p:cNvSpPr/>
            <p:nvPr/>
          </p:nvSpPr>
          <p:spPr>
            <a:xfrm>
              <a:off x="9930384" y="1600199"/>
              <a:ext cx="1710055" cy="3200400"/>
            </a:xfrm>
            <a:custGeom>
              <a:avLst/>
              <a:gdLst/>
              <a:ahLst/>
              <a:cxnLst/>
              <a:rect l="l" t="t" r="r" b="b"/>
              <a:pathLst>
                <a:path w="1710054" h="3200400">
                  <a:moveTo>
                    <a:pt x="0" y="73025"/>
                  </a:moveTo>
                  <a:lnTo>
                    <a:pt x="5748" y="44630"/>
                  </a:lnTo>
                  <a:lnTo>
                    <a:pt x="21415" y="21415"/>
                  </a:lnTo>
                  <a:lnTo>
                    <a:pt x="44630" y="5748"/>
                  </a:lnTo>
                  <a:lnTo>
                    <a:pt x="73025" y="0"/>
                  </a:lnTo>
                  <a:lnTo>
                    <a:pt x="1636902" y="0"/>
                  </a:lnTo>
                  <a:lnTo>
                    <a:pt x="1665297" y="5748"/>
                  </a:lnTo>
                  <a:lnTo>
                    <a:pt x="1688512" y="21415"/>
                  </a:lnTo>
                  <a:lnTo>
                    <a:pt x="1704179" y="44630"/>
                  </a:lnTo>
                  <a:lnTo>
                    <a:pt x="1709927" y="73025"/>
                  </a:lnTo>
                  <a:lnTo>
                    <a:pt x="1709927" y="3127375"/>
                  </a:lnTo>
                  <a:lnTo>
                    <a:pt x="1704179" y="3155769"/>
                  </a:lnTo>
                  <a:lnTo>
                    <a:pt x="1688512" y="3178984"/>
                  </a:lnTo>
                  <a:lnTo>
                    <a:pt x="1665297" y="3194651"/>
                  </a:lnTo>
                  <a:lnTo>
                    <a:pt x="1636902" y="3200400"/>
                  </a:lnTo>
                  <a:lnTo>
                    <a:pt x="73025" y="3200400"/>
                  </a:lnTo>
                  <a:lnTo>
                    <a:pt x="44630" y="3194651"/>
                  </a:lnTo>
                  <a:lnTo>
                    <a:pt x="21415" y="3178984"/>
                  </a:lnTo>
                  <a:lnTo>
                    <a:pt x="5748" y="3155769"/>
                  </a:lnTo>
                  <a:lnTo>
                    <a:pt x="0" y="3127375"/>
                  </a:lnTo>
                  <a:lnTo>
                    <a:pt x="0" y="73025"/>
                  </a:lnTo>
                  <a:close/>
                </a:path>
              </a:pathLst>
            </a:custGeom>
            <a:ln w="12191">
              <a:solidFill>
                <a:srgbClr val="DDD2C4"/>
              </a:solidFill>
            </a:ln>
          </p:spPr>
          <p:txBody>
            <a:bodyPr wrap="square" lIns="0" tIns="0" rIns="0" bIns="0" rtlCol="0"/>
            <a:lstStyle/>
            <a:p>
              <a:endParaRPr/>
            </a:p>
          </p:txBody>
        </p:sp>
        <p:sp>
          <p:nvSpPr>
            <p:cNvPr id="51" name="object 51"/>
            <p:cNvSpPr/>
            <p:nvPr/>
          </p:nvSpPr>
          <p:spPr>
            <a:xfrm>
              <a:off x="10527792" y="1344167"/>
              <a:ext cx="512445" cy="512445"/>
            </a:xfrm>
            <a:custGeom>
              <a:avLst/>
              <a:gdLst/>
              <a:ahLst/>
              <a:cxnLst/>
              <a:rect l="l" t="t" r="r" b="b"/>
              <a:pathLst>
                <a:path w="512445" h="512444">
                  <a:moveTo>
                    <a:pt x="256031" y="0"/>
                  </a:moveTo>
                  <a:lnTo>
                    <a:pt x="210023" y="4126"/>
                  </a:lnTo>
                  <a:lnTo>
                    <a:pt x="166714" y="16023"/>
                  </a:lnTo>
                  <a:lnTo>
                    <a:pt x="126830" y="34967"/>
                  </a:lnTo>
                  <a:lnTo>
                    <a:pt x="91095" y="60232"/>
                  </a:lnTo>
                  <a:lnTo>
                    <a:pt x="60232" y="91095"/>
                  </a:lnTo>
                  <a:lnTo>
                    <a:pt x="34967" y="126830"/>
                  </a:lnTo>
                  <a:lnTo>
                    <a:pt x="16023" y="166714"/>
                  </a:lnTo>
                  <a:lnTo>
                    <a:pt x="4126" y="210023"/>
                  </a:lnTo>
                  <a:lnTo>
                    <a:pt x="0" y="256032"/>
                  </a:lnTo>
                  <a:lnTo>
                    <a:pt x="4126" y="302040"/>
                  </a:lnTo>
                  <a:lnTo>
                    <a:pt x="16023" y="345349"/>
                  </a:lnTo>
                  <a:lnTo>
                    <a:pt x="34967" y="385233"/>
                  </a:lnTo>
                  <a:lnTo>
                    <a:pt x="60232" y="420968"/>
                  </a:lnTo>
                  <a:lnTo>
                    <a:pt x="91095" y="451831"/>
                  </a:lnTo>
                  <a:lnTo>
                    <a:pt x="126830" y="477096"/>
                  </a:lnTo>
                  <a:lnTo>
                    <a:pt x="166714" y="496040"/>
                  </a:lnTo>
                  <a:lnTo>
                    <a:pt x="210023" y="507937"/>
                  </a:lnTo>
                  <a:lnTo>
                    <a:pt x="256031" y="512064"/>
                  </a:lnTo>
                  <a:lnTo>
                    <a:pt x="302040" y="507937"/>
                  </a:lnTo>
                  <a:lnTo>
                    <a:pt x="345349" y="496040"/>
                  </a:lnTo>
                  <a:lnTo>
                    <a:pt x="385233" y="477096"/>
                  </a:lnTo>
                  <a:lnTo>
                    <a:pt x="420968" y="451831"/>
                  </a:lnTo>
                  <a:lnTo>
                    <a:pt x="451831" y="420968"/>
                  </a:lnTo>
                  <a:lnTo>
                    <a:pt x="477096" y="385233"/>
                  </a:lnTo>
                  <a:lnTo>
                    <a:pt x="496040" y="345349"/>
                  </a:lnTo>
                  <a:lnTo>
                    <a:pt x="507937" y="302040"/>
                  </a:lnTo>
                  <a:lnTo>
                    <a:pt x="512063" y="256032"/>
                  </a:lnTo>
                  <a:lnTo>
                    <a:pt x="507937" y="210023"/>
                  </a:lnTo>
                  <a:lnTo>
                    <a:pt x="496040" y="166714"/>
                  </a:lnTo>
                  <a:lnTo>
                    <a:pt x="477096" y="126830"/>
                  </a:lnTo>
                  <a:lnTo>
                    <a:pt x="451831" y="91095"/>
                  </a:lnTo>
                  <a:lnTo>
                    <a:pt x="420968" y="60232"/>
                  </a:lnTo>
                  <a:lnTo>
                    <a:pt x="385233" y="34967"/>
                  </a:lnTo>
                  <a:lnTo>
                    <a:pt x="345349" y="16023"/>
                  </a:lnTo>
                  <a:lnTo>
                    <a:pt x="302040" y="4126"/>
                  </a:lnTo>
                  <a:lnTo>
                    <a:pt x="256031" y="0"/>
                  </a:lnTo>
                  <a:close/>
                </a:path>
              </a:pathLst>
            </a:custGeom>
            <a:solidFill>
              <a:srgbClr val="C00000"/>
            </a:solidFill>
          </p:spPr>
          <p:txBody>
            <a:bodyPr wrap="square" lIns="0" tIns="0" rIns="0" bIns="0" rtlCol="0"/>
            <a:lstStyle/>
            <a:p>
              <a:endParaRPr/>
            </a:p>
          </p:txBody>
        </p:sp>
        <p:sp>
          <p:nvSpPr>
            <p:cNvPr id="52" name="object 52"/>
            <p:cNvSpPr/>
            <p:nvPr/>
          </p:nvSpPr>
          <p:spPr>
            <a:xfrm>
              <a:off x="10527792" y="1344167"/>
              <a:ext cx="512445" cy="512445"/>
            </a:xfrm>
            <a:custGeom>
              <a:avLst/>
              <a:gdLst/>
              <a:ahLst/>
              <a:cxnLst/>
              <a:rect l="l" t="t" r="r" b="b"/>
              <a:pathLst>
                <a:path w="512445" h="512444">
                  <a:moveTo>
                    <a:pt x="0" y="256032"/>
                  </a:moveTo>
                  <a:lnTo>
                    <a:pt x="4126" y="210023"/>
                  </a:lnTo>
                  <a:lnTo>
                    <a:pt x="16023" y="166714"/>
                  </a:lnTo>
                  <a:lnTo>
                    <a:pt x="34967" y="126830"/>
                  </a:lnTo>
                  <a:lnTo>
                    <a:pt x="60232" y="91095"/>
                  </a:lnTo>
                  <a:lnTo>
                    <a:pt x="91095" y="60232"/>
                  </a:lnTo>
                  <a:lnTo>
                    <a:pt x="126830" y="34967"/>
                  </a:lnTo>
                  <a:lnTo>
                    <a:pt x="166714" y="16023"/>
                  </a:lnTo>
                  <a:lnTo>
                    <a:pt x="210023" y="4126"/>
                  </a:lnTo>
                  <a:lnTo>
                    <a:pt x="256031" y="0"/>
                  </a:lnTo>
                  <a:lnTo>
                    <a:pt x="302040" y="4126"/>
                  </a:lnTo>
                  <a:lnTo>
                    <a:pt x="345349" y="16023"/>
                  </a:lnTo>
                  <a:lnTo>
                    <a:pt x="385233" y="34967"/>
                  </a:lnTo>
                  <a:lnTo>
                    <a:pt x="420968" y="60232"/>
                  </a:lnTo>
                  <a:lnTo>
                    <a:pt x="451831" y="91095"/>
                  </a:lnTo>
                  <a:lnTo>
                    <a:pt x="477096" y="126830"/>
                  </a:lnTo>
                  <a:lnTo>
                    <a:pt x="496040" y="166714"/>
                  </a:lnTo>
                  <a:lnTo>
                    <a:pt x="507937" y="210023"/>
                  </a:lnTo>
                  <a:lnTo>
                    <a:pt x="512063" y="256032"/>
                  </a:lnTo>
                  <a:lnTo>
                    <a:pt x="507937" y="302040"/>
                  </a:lnTo>
                  <a:lnTo>
                    <a:pt x="496040" y="345349"/>
                  </a:lnTo>
                  <a:lnTo>
                    <a:pt x="477096" y="385233"/>
                  </a:lnTo>
                  <a:lnTo>
                    <a:pt x="451831" y="420968"/>
                  </a:lnTo>
                  <a:lnTo>
                    <a:pt x="420968" y="451831"/>
                  </a:lnTo>
                  <a:lnTo>
                    <a:pt x="385233" y="477096"/>
                  </a:lnTo>
                  <a:lnTo>
                    <a:pt x="345349" y="496040"/>
                  </a:lnTo>
                  <a:lnTo>
                    <a:pt x="302040" y="507937"/>
                  </a:lnTo>
                  <a:lnTo>
                    <a:pt x="256031" y="512064"/>
                  </a:lnTo>
                  <a:lnTo>
                    <a:pt x="210023" y="507937"/>
                  </a:lnTo>
                  <a:lnTo>
                    <a:pt x="166714" y="496040"/>
                  </a:lnTo>
                  <a:lnTo>
                    <a:pt x="126830" y="477096"/>
                  </a:lnTo>
                  <a:lnTo>
                    <a:pt x="91095" y="451831"/>
                  </a:lnTo>
                  <a:lnTo>
                    <a:pt x="60232" y="420968"/>
                  </a:lnTo>
                  <a:lnTo>
                    <a:pt x="34967" y="385233"/>
                  </a:lnTo>
                  <a:lnTo>
                    <a:pt x="16023" y="345349"/>
                  </a:lnTo>
                  <a:lnTo>
                    <a:pt x="4126" y="302040"/>
                  </a:lnTo>
                  <a:lnTo>
                    <a:pt x="0" y="256032"/>
                  </a:lnTo>
                  <a:close/>
                </a:path>
              </a:pathLst>
            </a:custGeom>
            <a:ln w="24384">
              <a:solidFill>
                <a:srgbClr val="FFFFFF"/>
              </a:solidFill>
            </a:ln>
          </p:spPr>
          <p:txBody>
            <a:bodyPr wrap="square" lIns="0" tIns="0" rIns="0" bIns="0" rtlCol="0"/>
            <a:lstStyle/>
            <a:p>
              <a:endParaRPr/>
            </a:p>
          </p:txBody>
        </p:sp>
      </p:grpSp>
      <p:sp>
        <p:nvSpPr>
          <p:cNvPr id="53" name="object 53"/>
          <p:cNvSpPr txBox="1"/>
          <p:nvPr/>
        </p:nvSpPr>
        <p:spPr>
          <a:xfrm>
            <a:off x="10723244" y="1451229"/>
            <a:ext cx="128905" cy="270510"/>
          </a:xfrm>
          <a:prstGeom prst="rect">
            <a:avLst/>
          </a:prstGeom>
        </p:spPr>
        <p:txBody>
          <a:bodyPr vert="horz" wrap="square" lIns="0" tIns="13335" rIns="0" bIns="0" rtlCol="0">
            <a:spAutoFit/>
          </a:bodyPr>
          <a:lstStyle/>
          <a:p>
            <a:pPr marL="12700">
              <a:lnSpc>
                <a:spcPct val="100000"/>
              </a:lnSpc>
              <a:spcBef>
                <a:spcPts val="105"/>
              </a:spcBef>
            </a:pPr>
            <a:r>
              <a:t>6</a:t>
            </a:r>
            <a:endParaRPr sz="1600">
              <a:latin typeface="Calibri"/>
              <a:cs typeface="Calibri"/>
            </a:endParaRPr>
          </a:p>
        </p:txBody>
      </p:sp>
      <p:sp>
        <p:nvSpPr>
          <p:cNvPr id="57" name="object 57"/>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58" name="object 58"/>
          <p:cNvSpPr txBox="1">
            <a:spLocks noGrp="1"/>
          </p:cNvSpPr>
          <p:nvPr>
            <p:ph type="sldNum" sz="quarter" idx="7"/>
          </p:nvPr>
        </p:nvSpPr>
        <p:spPr>
          <a:prstGeom prst="rect">
            <a:avLst/>
          </a:prstGeom>
        </p:spPr>
        <p:txBody>
          <a:bodyPr vert="horz" wrap="square" lIns="0" tIns="0" rIns="0" bIns="0" rtlCol="0">
            <a:spAutoFit/>
          </a:bodyPr>
          <a:lstStyle/>
          <a:p>
            <a:r>
              <a:rPr sz="700"/>
              <a:t>21</a:t>
            </a:r>
          </a:p>
        </p:txBody>
      </p:sp>
      <p:sp>
        <p:nvSpPr>
          <p:cNvPr id="54" name="object 54"/>
          <p:cNvSpPr txBox="1"/>
          <p:nvPr/>
        </p:nvSpPr>
        <p:spPr>
          <a:xfrm>
            <a:off x="10075671" y="2045357"/>
            <a:ext cx="1708658" cy="167354"/>
          </a:xfrm>
          <a:prstGeom prst="rect">
            <a:avLst/>
          </a:prstGeom>
        </p:spPr>
        <p:txBody>
          <a:bodyPr vert="horz" wrap="square" lIns="0" tIns="13335" rIns="0" bIns="0" rtlCol="0">
            <a:spAutoFit/>
          </a:bodyPr>
          <a:lstStyle/>
          <a:p>
            <a:pPr marL="12700">
              <a:lnSpc>
                <a:spcPct val="100000"/>
              </a:lnSpc>
              <a:spcBef>
                <a:spcPts val="105"/>
              </a:spcBef>
            </a:pPr>
            <a:r>
              <a:rPr lang="en-IN" sz="1000" b="1" dirty="0">
                <a:solidFill>
                  <a:srgbClr val="C00000"/>
                </a:solidFill>
                <a:latin typeface="Calibri"/>
                <a:cs typeface="Calibri"/>
              </a:rPr>
              <a:t>AML PREDICTION</a:t>
            </a:r>
            <a:endParaRPr sz="1000" b="1" dirty="0">
              <a:solidFill>
                <a:srgbClr val="C00000"/>
              </a:solidFill>
              <a:latin typeface="Calibri"/>
              <a:cs typeface="Calibri"/>
            </a:endParaRPr>
          </a:p>
        </p:txBody>
      </p:sp>
      <p:sp>
        <p:nvSpPr>
          <p:cNvPr id="55" name="object 55"/>
          <p:cNvSpPr txBox="1"/>
          <p:nvPr/>
        </p:nvSpPr>
        <p:spPr>
          <a:xfrm>
            <a:off x="9836783" y="2575868"/>
            <a:ext cx="1759331" cy="1110560"/>
          </a:xfrm>
          <a:prstGeom prst="rect">
            <a:avLst/>
          </a:prstGeom>
        </p:spPr>
        <p:txBody>
          <a:bodyPr vert="horz" wrap="square" lIns="0" tIns="12700" rIns="0" bIns="0" rtlCol="0">
            <a:spAutoFit/>
          </a:bodyPr>
          <a:lstStyle/>
          <a:p>
            <a:pPr marL="289560" marR="5080" indent="-277495" algn="ctr">
              <a:spcBef>
                <a:spcPts val="100"/>
              </a:spcBef>
            </a:pPr>
            <a:r>
              <a:rPr lang="en-US" sz="1200" dirty="0"/>
              <a:t>Use the trained model to identify suspicious transaction patterns and support AML risk detection.</a:t>
            </a:r>
            <a:endParaRPr lang="en-US" sz="1200" dirty="0">
              <a:latin typeface="Calibri"/>
              <a:cs typeface="Calibri"/>
            </a:endParaRPr>
          </a:p>
          <a:p>
            <a:pPr marL="289560" marR="5080" indent="-277495" algn="ctr">
              <a:lnSpc>
                <a:spcPct val="100000"/>
              </a:lnSpc>
              <a:spcBef>
                <a:spcPts val="100"/>
              </a:spcBef>
            </a:pPr>
            <a:endParaRPr sz="1050" dirty="0">
              <a:latin typeface="Calibri"/>
              <a:cs typeface="Calibri"/>
            </a:endParaRPr>
          </a:p>
        </p:txBody>
      </p:sp>
      <p:sp>
        <p:nvSpPr>
          <p:cNvPr id="56" name="object 56"/>
          <p:cNvSpPr txBox="1"/>
          <p:nvPr/>
        </p:nvSpPr>
        <p:spPr>
          <a:xfrm>
            <a:off x="3244088" y="5338648"/>
            <a:ext cx="5706110" cy="260328"/>
          </a:xfrm>
          <a:prstGeom prst="rect">
            <a:avLst/>
          </a:prstGeom>
        </p:spPr>
        <p:txBody>
          <a:bodyPr vert="horz" wrap="square" lIns="0" tIns="13970" rIns="0" bIns="0" rtlCol="0">
            <a:spAutoFit/>
          </a:bodyPr>
          <a:lstStyle/>
          <a:p>
            <a:pPr marL="12700">
              <a:lnSpc>
                <a:spcPct val="100000"/>
              </a:lnSpc>
              <a:spcBef>
                <a:spcPts val="110"/>
              </a:spcBef>
            </a:pPr>
            <a:r>
              <a:t>Evaluation: Accuracy • Precision • Recall • F1-Score</a:t>
            </a:r>
            <a:endParaRPr sz="1600" b="1" dirty="0">
              <a:solidFill>
                <a:srgbClr val="C00000"/>
              </a:solidFill>
              <a:latin typeface="Calibri"/>
              <a:cs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86200" y="224980"/>
            <a:ext cx="4343400" cy="689420"/>
          </a:xfrm>
          <a:prstGeom prst="rect">
            <a:avLst/>
          </a:prstGeom>
          <a:noFill/>
        </p:spPr>
        <p:txBody>
          <a:bodyPr wrap="square" lIns="73152" tIns="36576" rIns="73152" bIns="36576" anchor="ctr">
            <a:spAutoFit/>
          </a:bodyPr>
          <a:lstStyle/>
          <a:p>
            <a:pPr algn="ctr">
              <a:defRPr sz="2000">
                <a:solidFill>
                  <a:srgbClr val="000000"/>
                </a:solidFill>
                <a:latin typeface="Arial"/>
              </a:defRPr>
            </a:pPr>
            <a:r>
              <a:rPr dirty="0"/>
              <a:t>MODERN AML MODEL COMPARISON</a:t>
            </a:r>
          </a:p>
        </p:txBody>
      </p:sp>
      <p:graphicFrame>
        <p:nvGraphicFramePr>
          <p:cNvPr id="4" name="Table 3"/>
          <p:cNvGraphicFramePr>
            <a:graphicFrameLocks noGrp="1"/>
          </p:cNvGraphicFramePr>
          <p:nvPr/>
        </p:nvGraphicFramePr>
        <p:xfrm>
          <a:off x="548640" y="1051560"/>
          <a:ext cx="10789920" cy="448056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880360">
                  <a:extLst>
                    <a:ext uri="{9D8B030D-6E8A-4147-A177-3AD203B41FA5}">
                      <a16:colId xmlns:a16="http://schemas.microsoft.com/office/drawing/2014/main" val="20002"/>
                    </a:ext>
                  </a:extLst>
                </a:gridCol>
                <a:gridCol w="3154680">
                  <a:extLst>
                    <a:ext uri="{9D8B030D-6E8A-4147-A177-3AD203B41FA5}">
                      <a16:colId xmlns:a16="http://schemas.microsoft.com/office/drawing/2014/main" val="20003"/>
                    </a:ext>
                  </a:extLst>
                </a:gridCol>
              </a:tblGrid>
              <a:tr h="640080">
                <a:tc>
                  <a:txBody>
                    <a:bodyPr/>
                    <a:lstStyle/>
                    <a:p>
                      <a:pPr>
                        <a:defRPr sz="1000" b="1">
                          <a:solidFill>
                            <a:srgbClr val="FFFFFF"/>
                          </a:solidFill>
                          <a:latin typeface="Arial"/>
                        </a:defRPr>
                      </a:pPr>
                      <a:r>
                        <a:rPr sz="1000" b="1"/>
                        <a:t>Approach</a:t>
                      </a:r>
                    </a:p>
                  </a:txBody>
                  <a:tcPr marL="54864" marR="54864" marT="27432" marB="27432"/>
                </a:tc>
                <a:tc>
                  <a:txBody>
                    <a:bodyPr/>
                    <a:lstStyle/>
                    <a:p>
                      <a:pPr>
                        <a:defRPr sz="1000" b="1">
                          <a:solidFill>
                            <a:srgbClr val="FFFFFF"/>
                          </a:solidFill>
                          <a:latin typeface="Arial"/>
                        </a:defRPr>
                      </a:pPr>
                      <a:r>
                        <a:rPr sz="1000" b="1"/>
                        <a:t>Relationship modeling</a:t>
                      </a:r>
                    </a:p>
                  </a:txBody>
                  <a:tcPr marL="54864" marR="54864" marT="27432" marB="27432"/>
                </a:tc>
                <a:tc>
                  <a:txBody>
                    <a:bodyPr/>
                    <a:lstStyle/>
                    <a:p>
                      <a:pPr>
                        <a:defRPr sz="1000" b="1">
                          <a:solidFill>
                            <a:srgbClr val="FFFFFF"/>
                          </a:solidFill>
                          <a:latin typeface="Arial"/>
                        </a:defRPr>
                      </a:pPr>
                      <a:r>
                        <a:rPr sz="1000" b="1"/>
                        <a:t>Main advantage</a:t>
                      </a:r>
                    </a:p>
                  </a:txBody>
                  <a:tcPr marL="54864" marR="54864" marT="27432" marB="27432"/>
                </a:tc>
                <a:tc>
                  <a:txBody>
                    <a:bodyPr/>
                    <a:lstStyle/>
                    <a:p>
                      <a:pPr>
                        <a:defRPr sz="1000" b="1">
                          <a:solidFill>
                            <a:srgbClr val="FFFFFF"/>
                          </a:solidFill>
                          <a:latin typeface="Arial"/>
                        </a:defRPr>
                      </a:pPr>
                      <a:r>
                        <a:rPr sz="1000" b="1"/>
                        <a:t>Key consideration</a:t>
                      </a:r>
                    </a:p>
                  </a:txBody>
                  <a:tcPr marL="54864" marR="54864" marT="27432" marB="27432"/>
                </a:tc>
                <a:extLst>
                  <a:ext uri="{0D108BD9-81ED-4DB2-BD59-A6C34878D82A}">
                    <a16:rowId xmlns:a16="http://schemas.microsoft.com/office/drawing/2014/main" val="10000"/>
                  </a:ext>
                </a:extLst>
              </a:tr>
              <a:tr h="640080">
                <a:tc>
                  <a:txBody>
                    <a:bodyPr/>
                    <a:lstStyle/>
                    <a:p>
                      <a:pPr>
                        <a:defRPr sz="900" b="0">
                          <a:solidFill>
                            <a:srgbClr val="000000"/>
                          </a:solidFill>
                          <a:latin typeface="Arial"/>
                        </a:defRPr>
                      </a:pPr>
                      <a:r>
                        <a:rPr sz="900" b="0"/>
                        <a:t>Rule-based AML</a:t>
                      </a:r>
                    </a:p>
                  </a:txBody>
                  <a:tcPr marL="54864" marR="54864" marT="27432" marB="27432"/>
                </a:tc>
                <a:tc>
                  <a:txBody>
                    <a:bodyPr/>
                    <a:lstStyle/>
                    <a:p>
                      <a:pPr>
                        <a:defRPr sz="900" b="0">
                          <a:solidFill>
                            <a:srgbClr val="000000"/>
                          </a:solidFill>
                          <a:latin typeface="Arial"/>
                        </a:defRPr>
                      </a:pPr>
                      <a:r>
                        <a:rPr sz="900" b="0"/>
                        <a:t>Limited</a:t>
                      </a:r>
                    </a:p>
                  </a:txBody>
                  <a:tcPr marL="54864" marR="54864" marT="27432" marB="27432"/>
                </a:tc>
                <a:tc>
                  <a:txBody>
                    <a:bodyPr/>
                    <a:lstStyle/>
                    <a:p>
                      <a:pPr>
                        <a:defRPr sz="900" b="0">
                          <a:solidFill>
                            <a:srgbClr val="000000"/>
                          </a:solidFill>
                          <a:latin typeface="Arial"/>
                        </a:defRPr>
                      </a:pPr>
                      <a:r>
                        <a:rPr sz="900" b="0"/>
                        <a:t>Simple and interpretable</a:t>
                      </a:r>
                    </a:p>
                  </a:txBody>
                  <a:tcPr marL="54864" marR="54864" marT="27432" marB="27432"/>
                </a:tc>
                <a:tc>
                  <a:txBody>
                    <a:bodyPr/>
                    <a:lstStyle/>
                    <a:p>
                      <a:pPr>
                        <a:defRPr sz="900" b="0">
                          <a:solidFill>
                            <a:srgbClr val="000000"/>
                          </a:solidFill>
                          <a:latin typeface="Arial"/>
                        </a:defRPr>
                      </a:pPr>
                      <a:r>
                        <a:rPr sz="900" b="0"/>
                        <a:t>May miss evolving, interconnected patterns</a:t>
                      </a:r>
                    </a:p>
                  </a:txBody>
                  <a:tcPr marL="54864" marR="54864" marT="27432" marB="27432"/>
                </a:tc>
                <a:extLst>
                  <a:ext uri="{0D108BD9-81ED-4DB2-BD59-A6C34878D82A}">
                    <a16:rowId xmlns:a16="http://schemas.microsoft.com/office/drawing/2014/main" val="10001"/>
                  </a:ext>
                </a:extLst>
              </a:tr>
              <a:tr h="640080">
                <a:tc>
                  <a:txBody>
                    <a:bodyPr/>
                    <a:lstStyle/>
                    <a:p>
                      <a:pPr>
                        <a:defRPr sz="900" b="0">
                          <a:solidFill>
                            <a:srgbClr val="000000"/>
                          </a:solidFill>
                          <a:latin typeface="Arial"/>
                        </a:defRPr>
                      </a:pPr>
                      <a:r>
                        <a:rPr sz="900" b="0"/>
                        <a:t>Random Forest / XGBoost</a:t>
                      </a:r>
                    </a:p>
                  </a:txBody>
                  <a:tcPr marL="54864" marR="54864" marT="27432" marB="27432"/>
                </a:tc>
                <a:tc>
                  <a:txBody>
                    <a:bodyPr/>
                    <a:lstStyle/>
                    <a:p>
                      <a:pPr>
                        <a:defRPr sz="900" b="0">
                          <a:solidFill>
                            <a:srgbClr val="000000"/>
                          </a:solidFill>
                          <a:latin typeface="Arial"/>
                        </a:defRPr>
                      </a:pPr>
                      <a:r>
                        <a:rPr sz="900" b="0"/>
                        <a:t>Mostly feature-based</a:t>
                      </a:r>
                    </a:p>
                  </a:txBody>
                  <a:tcPr marL="54864" marR="54864" marT="27432" marB="27432"/>
                </a:tc>
                <a:tc>
                  <a:txBody>
                    <a:bodyPr/>
                    <a:lstStyle/>
                    <a:p>
                      <a:pPr>
                        <a:defRPr sz="900" b="0">
                          <a:solidFill>
                            <a:srgbClr val="000000"/>
                          </a:solidFill>
                          <a:latin typeface="Arial"/>
                        </a:defRPr>
                      </a:pPr>
                      <a:r>
                        <a:rPr sz="900" b="0"/>
                        <a:t>Strong conventional baselines</a:t>
                      </a:r>
                    </a:p>
                  </a:txBody>
                  <a:tcPr marL="54864" marR="54864" marT="27432" marB="27432"/>
                </a:tc>
                <a:tc>
                  <a:txBody>
                    <a:bodyPr/>
                    <a:lstStyle/>
                    <a:p>
                      <a:pPr>
                        <a:defRPr sz="900" b="0">
                          <a:solidFill>
                            <a:srgbClr val="000000"/>
                          </a:solidFill>
                          <a:latin typeface="Arial"/>
                        </a:defRPr>
                      </a:pPr>
                      <a:r>
                        <a:rPr sz="900" b="0"/>
                        <a:t>Does not naturally represent graph connectivity</a:t>
                      </a:r>
                    </a:p>
                  </a:txBody>
                  <a:tcPr marL="54864" marR="54864" marT="27432" marB="27432"/>
                </a:tc>
                <a:extLst>
                  <a:ext uri="{0D108BD9-81ED-4DB2-BD59-A6C34878D82A}">
                    <a16:rowId xmlns:a16="http://schemas.microsoft.com/office/drawing/2014/main" val="10002"/>
                  </a:ext>
                </a:extLst>
              </a:tr>
              <a:tr h="640080">
                <a:tc>
                  <a:txBody>
                    <a:bodyPr/>
                    <a:lstStyle/>
                    <a:p>
                      <a:pPr>
                        <a:defRPr sz="900" b="0">
                          <a:solidFill>
                            <a:srgbClr val="000000"/>
                          </a:solidFill>
                          <a:latin typeface="Arial"/>
                        </a:defRPr>
                      </a:pPr>
                      <a:r>
                        <a:rPr sz="900" b="0"/>
                        <a:t>GCN</a:t>
                      </a:r>
                    </a:p>
                  </a:txBody>
                  <a:tcPr marL="54864" marR="54864" marT="27432" marB="27432"/>
                </a:tc>
                <a:tc>
                  <a:txBody>
                    <a:bodyPr/>
                    <a:lstStyle/>
                    <a:p>
                      <a:pPr>
                        <a:defRPr sz="900" b="0">
                          <a:solidFill>
                            <a:srgbClr val="000000"/>
                          </a:solidFill>
                          <a:latin typeface="Arial"/>
                        </a:defRPr>
                      </a:pPr>
                      <a:r>
                        <a:rPr sz="900" b="0"/>
                        <a:t>Yes</a:t>
                      </a:r>
                    </a:p>
                  </a:txBody>
                  <a:tcPr marL="54864" marR="54864" marT="27432" marB="27432"/>
                </a:tc>
                <a:tc>
                  <a:txBody>
                    <a:bodyPr/>
                    <a:lstStyle/>
                    <a:p>
                      <a:pPr>
                        <a:defRPr sz="900" b="0">
                          <a:solidFill>
                            <a:srgbClr val="000000"/>
                          </a:solidFill>
                          <a:latin typeface="Arial"/>
                        </a:defRPr>
                      </a:pPr>
                      <a:r>
                        <a:rPr sz="900" b="0"/>
                        <a:t>Uses local graph structure</a:t>
                      </a:r>
                    </a:p>
                  </a:txBody>
                  <a:tcPr marL="54864" marR="54864" marT="27432" marB="27432"/>
                </a:tc>
                <a:tc>
                  <a:txBody>
                    <a:bodyPr/>
                    <a:lstStyle/>
                    <a:p>
                      <a:pPr>
                        <a:defRPr sz="900" b="0">
                          <a:solidFill>
                            <a:srgbClr val="000000"/>
                          </a:solidFill>
                          <a:latin typeface="Arial"/>
                        </a:defRPr>
                      </a:pPr>
                      <a:r>
                        <a:rPr sz="900" b="0"/>
                        <a:t>Static-graph assumptions; over-smoothing can occur</a:t>
                      </a:r>
                    </a:p>
                  </a:txBody>
                  <a:tcPr marL="54864" marR="54864" marT="27432" marB="27432"/>
                </a:tc>
                <a:extLst>
                  <a:ext uri="{0D108BD9-81ED-4DB2-BD59-A6C34878D82A}">
                    <a16:rowId xmlns:a16="http://schemas.microsoft.com/office/drawing/2014/main" val="10003"/>
                  </a:ext>
                </a:extLst>
              </a:tr>
              <a:tr h="640080">
                <a:tc>
                  <a:txBody>
                    <a:bodyPr/>
                    <a:lstStyle/>
                    <a:p>
                      <a:pPr>
                        <a:defRPr sz="900" b="0">
                          <a:solidFill>
                            <a:srgbClr val="000000"/>
                          </a:solidFill>
                          <a:latin typeface="Arial"/>
                        </a:defRPr>
                      </a:pPr>
                      <a:r>
                        <a:rPr sz="900" b="0"/>
                        <a:t>GAT / GATv2</a:t>
                      </a:r>
                    </a:p>
                  </a:txBody>
                  <a:tcPr marL="54864" marR="54864" marT="27432" marB="27432"/>
                </a:tc>
                <a:tc>
                  <a:txBody>
                    <a:bodyPr/>
                    <a:lstStyle/>
                    <a:p>
                      <a:pPr>
                        <a:defRPr sz="900" b="0">
                          <a:solidFill>
                            <a:srgbClr val="000000"/>
                          </a:solidFill>
                          <a:latin typeface="Arial"/>
                        </a:defRPr>
                      </a:pPr>
                      <a:r>
                        <a:rPr sz="900" b="0"/>
                        <a:t>Yes</a:t>
                      </a:r>
                    </a:p>
                  </a:txBody>
                  <a:tcPr marL="54864" marR="54864" marT="27432" marB="27432"/>
                </a:tc>
                <a:tc>
                  <a:txBody>
                    <a:bodyPr/>
                    <a:lstStyle/>
                    <a:p>
                      <a:pPr>
                        <a:defRPr sz="900" b="0">
                          <a:solidFill>
                            <a:srgbClr val="000000"/>
                          </a:solidFill>
                          <a:latin typeface="Arial"/>
                        </a:defRPr>
                      </a:pPr>
                      <a:r>
                        <a:rPr sz="900" b="0"/>
                        <a:t>Learns neighbor importance</a:t>
                      </a:r>
                    </a:p>
                  </a:txBody>
                  <a:tcPr marL="54864" marR="54864" marT="27432" marB="27432"/>
                </a:tc>
                <a:tc>
                  <a:txBody>
                    <a:bodyPr/>
                    <a:lstStyle/>
                    <a:p>
                      <a:pPr>
                        <a:defRPr sz="900" b="0">
                          <a:solidFill>
                            <a:srgbClr val="000000"/>
                          </a:solidFill>
                          <a:latin typeface="Arial"/>
                        </a:defRPr>
                      </a:pPr>
                      <a:r>
                        <a:rPr sz="900" b="0"/>
                        <a:t>Higher computational complexity</a:t>
                      </a:r>
                    </a:p>
                  </a:txBody>
                  <a:tcPr marL="54864" marR="54864" marT="27432" marB="27432"/>
                </a:tc>
                <a:extLst>
                  <a:ext uri="{0D108BD9-81ED-4DB2-BD59-A6C34878D82A}">
                    <a16:rowId xmlns:a16="http://schemas.microsoft.com/office/drawing/2014/main" val="10004"/>
                  </a:ext>
                </a:extLst>
              </a:tr>
              <a:tr h="640080">
                <a:tc>
                  <a:txBody>
                    <a:bodyPr/>
                    <a:lstStyle/>
                    <a:p>
                      <a:pPr>
                        <a:defRPr sz="900" b="0">
                          <a:solidFill>
                            <a:srgbClr val="000000"/>
                          </a:solidFill>
                          <a:latin typeface="Arial"/>
                        </a:defRPr>
                      </a:pPr>
                      <a:r>
                        <a:rPr sz="900" b="0"/>
                        <a:t>GraphSAGE</a:t>
                      </a:r>
                    </a:p>
                  </a:txBody>
                  <a:tcPr marL="54864" marR="54864" marT="27432" marB="27432"/>
                </a:tc>
                <a:tc>
                  <a:txBody>
                    <a:bodyPr/>
                    <a:lstStyle/>
                    <a:p>
                      <a:pPr>
                        <a:defRPr sz="900" b="0">
                          <a:solidFill>
                            <a:srgbClr val="000000"/>
                          </a:solidFill>
                          <a:latin typeface="Arial"/>
                        </a:defRPr>
                      </a:pPr>
                      <a:r>
                        <a:rPr sz="900" b="0"/>
                        <a:t>Yes</a:t>
                      </a:r>
                    </a:p>
                  </a:txBody>
                  <a:tcPr marL="54864" marR="54864" marT="27432" marB="27432"/>
                </a:tc>
                <a:tc>
                  <a:txBody>
                    <a:bodyPr/>
                    <a:lstStyle/>
                    <a:p>
                      <a:pPr>
                        <a:defRPr sz="900" b="0">
                          <a:solidFill>
                            <a:srgbClr val="000000"/>
                          </a:solidFill>
                          <a:latin typeface="Arial"/>
                        </a:defRPr>
                      </a:pPr>
                      <a:r>
                        <a:rPr sz="900" b="0"/>
                        <a:t>Neighborhood sampling and aggregation</a:t>
                      </a:r>
                    </a:p>
                  </a:txBody>
                  <a:tcPr marL="54864" marR="54864" marT="27432" marB="27432"/>
                </a:tc>
                <a:tc>
                  <a:txBody>
                    <a:bodyPr/>
                    <a:lstStyle/>
                    <a:p>
                      <a:pPr>
                        <a:defRPr sz="900" b="0">
                          <a:solidFill>
                            <a:srgbClr val="000000"/>
                          </a:solidFill>
                          <a:latin typeface="Arial"/>
                        </a:defRPr>
                      </a:pPr>
                      <a:r>
                        <a:rPr sz="900" b="0"/>
                        <a:t>Sampling strategy can affect information retained</a:t>
                      </a:r>
                    </a:p>
                  </a:txBody>
                  <a:tcPr marL="54864" marR="54864" marT="27432" marB="27432"/>
                </a:tc>
                <a:extLst>
                  <a:ext uri="{0D108BD9-81ED-4DB2-BD59-A6C34878D82A}">
                    <a16:rowId xmlns:a16="http://schemas.microsoft.com/office/drawing/2014/main" val="10005"/>
                  </a:ext>
                </a:extLst>
              </a:tr>
              <a:tr h="640080">
                <a:tc>
                  <a:txBody>
                    <a:bodyPr/>
                    <a:lstStyle/>
                    <a:p>
                      <a:pPr>
                        <a:defRPr sz="900" b="0">
                          <a:solidFill>
                            <a:srgbClr val="000000"/>
                          </a:solidFill>
                          <a:latin typeface="Arial"/>
                        </a:defRPr>
                      </a:pPr>
                      <a:r>
                        <a:rPr sz="900" b="0"/>
                        <a:t>Proposed GNN</a:t>
                      </a:r>
                    </a:p>
                  </a:txBody>
                  <a:tcPr marL="54864" marR="54864" marT="27432" marB="27432"/>
                </a:tc>
                <a:tc>
                  <a:txBody>
                    <a:bodyPr/>
                    <a:lstStyle/>
                    <a:p>
                      <a:pPr>
                        <a:defRPr sz="900" b="0">
                          <a:solidFill>
                            <a:srgbClr val="000000"/>
                          </a:solidFill>
                          <a:latin typeface="Arial"/>
                        </a:defRPr>
                      </a:pPr>
                      <a:r>
                        <a:rPr sz="900" b="0"/>
                        <a:t>Yes</a:t>
                      </a:r>
                    </a:p>
                  </a:txBody>
                  <a:tcPr marL="54864" marR="54864" marT="27432" marB="27432"/>
                </a:tc>
                <a:tc>
                  <a:txBody>
                    <a:bodyPr/>
                    <a:lstStyle/>
                    <a:p>
                      <a:pPr>
                        <a:defRPr sz="900" b="0">
                          <a:solidFill>
                            <a:srgbClr val="000000"/>
                          </a:solidFill>
                          <a:latin typeface="Arial"/>
                        </a:defRPr>
                      </a:pPr>
                      <a:r>
                        <a:rPr sz="900" b="0"/>
                        <a:t>Combines transaction features with relationships</a:t>
                      </a:r>
                    </a:p>
                  </a:txBody>
                  <a:tcPr marL="54864" marR="54864" marT="27432" marB="27432"/>
                </a:tc>
                <a:tc>
                  <a:txBody>
                    <a:bodyPr/>
                    <a:lstStyle/>
                    <a:p>
                      <a:pPr>
                        <a:defRPr sz="900" b="0">
                          <a:solidFill>
                            <a:srgbClr val="000000"/>
                          </a:solidFill>
                          <a:latin typeface="Arial"/>
                        </a:defRPr>
                      </a:pPr>
                      <a:r>
                        <a:rPr sz="900" b="0"/>
                        <a:t>Must address imbalance, scale and label quality</a:t>
                      </a:r>
                    </a:p>
                  </a:txBody>
                  <a:tcPr marL="54864" marR="54864" marT="27432" marB="27432"/>
                </a:tc>
                <a:extLst>
                  <a:ext uri="{0D108BD9-81ED-4DB2-BD59-A6C34878D82A}">
                    <a16:rowId xmlns:a16="http://schemas.microsoft.com/office/drawing/2014/main" val="10006"/>
                  </a:ext>
                </a:extLst>
              </a:tr>
            </a:tbl>
          </a:graphicData>
        </a:graphic>
      </p:graphicFrame>
      <p:sp>
        <p:nvSpPr>
          <p:cNvPr id="5" name="TextBox 4"/>
          <p:cNvSpPr txBox="1"/>
          <p:nvPr/>
        </p:nvSpPr>
        <p:spPr>
          <a:xfrm>
            <a:off x="731520" y="5623560"/>
            <a:ext cx="10058400" cy="228600"/>
          </a:xfrm>
          <a:prstGeom prst="rect">
            <a:avLst/>
          </a:prstGeom>
          <a:noFill/>
        </p:spPr>
        <p:txBody>
          <a:bodyPr wrap="square" lIns="73152" tIns="36576" rIns="73152" bIns="36576">
            <a:spAutoFit/>
          </a:bodyPr>
          <a:lstStyle/>
          <a:p>
            <a:pPr algn="ctr"/>
            <a:r>
              <a:rPr sz="850" b="0"/>
              <a:t>Comparison summarizes the model families and limitations documented across the literature review.</a:t>
            </a:r>
          </a:p>
        </p:txBody>
      </p:sp>
      <p:sp>
        <p:nvSpPr>
          <p:cNvPr id="6" name="TextBox 5"/>
          <p:cNvSpPr txBox="1"/>
          <p:nvPr/>
        </p:nvSpPr>
        <p:spPr>
          <a:xfrm>
            <a:off x="365760" y="6016752"/>
            <a:ext cx="2468880" cy="137160"/>
          </a:xfrm>
          <a:prstGeom prst="rect">
            <a:avLst/>
          </a:prstGeom>
          <a:noFill/>
        </p:spPr>
        <p:txBody>
          <a:bodyPr wrap="square" lIns="73152" tIns="36576" rIns="73152" bIns="36576">
            <a:spAutoFit/>
          </a:bodyPr>
          <a:lstStyle/>
          <a:p>
            <a:pPr algn="l"/>
            <a:r>
              <a:rPr sz="700" b="0"/>
              <a:t>MACHINE LEARNING • COURSE CODE: 25SC2107E</a:t>
            </a:r>
          </a:p>
        </p:txBody>
      </p:sp>
      <p:sp>
        <p:nvSpPr>
          <p:cNvPr id="7" name="TextBox 6"/>
          <p:cNvSpPr txBox="1"/>
          <p:nvPr/>
        </p:nvSpPr>
        <p:spPr>
          <a:xfrm>
            <a:off x="10652760" y="6016752"/>
            <a:ext cx="182880" cy="137160"/>
          </a:xfrm>
          <a:prstGeom prst="rect">
            <a:avLst/>
          </a:prstGeom>
          <a:noFill/>
        </p:spPr>
        <p:txBody>
          <a:bodyPr wrap="square" lIns="73152" tIns="36576" rIns="73152" bIns="36576">
            <a:spAutoFit/>
          </a:bodyPr>
          <a:lstStyle/>
          <a:p>
            <a:pPr algn="r"/>
            <a:r>
              <a:rPr sz="700"/>
              <a:t>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pPr marL="1090295">
              <a:lnSpc>
                <a:spcPct val="100000"/>
              </a:lnSpc>
              <a:spcBef>
                <a:spcPts val="105"/>
              </a:spcBef>
            </a:pPr>
            <a:r>
              <a:rPr spc="-10" dirty="0"/>
              <a:t>CONCLUSION</a:t>
            </a:r>
          </a:p>
        </p:txBody>
      </p:sp>
      <p:grpSp>
        <p:nvGrpSpPr>
          <p:cNvPr id="4" name="object 4"/>
          <p:cNvGrpSpPr/>
          <p:nvPr/>
        </p:nvGrpSpPr>
        <p:grpSpPr>
          <a:xfrm>
            <a:off x="554736" y="1402080"/>
            <a:ext cx="11069955" cy="4184650"/>
            <a:chOff x="554736" y="1402080"/>
            <a:chExt cx="11069955" cy="4184650"/>
          </a:xfrm>
        </p:grpSpPr>
        <p:pic>
          <p:nvPicPr>
            <p:cNvPr id="5" name="object 5"/>
            <p:cNvPicPr/>
            <p:nvPr/>
          </p:nvPicPr>
          <p:blipFill>
            <a:blip r:embed="rId2" cstate="print"/>
            <a:stretch>
              <a:fillRect/>
            </a:stretch>
          </p:blipFill>
          <p:spPr>
            <a:xfrm>
              <a:off x="554736" y="1402080"/>
              <a:ext cx="11069955" cy="4184523"/>
            </a:xfrm>
            <a:prstGeom prst="rect">
              <a:avLst/>
            </a:prstGeom>
          </p:spPr>
        </p:pic>
        <p:sp>
          <p:nvSpPr>
            <p:cNvPr id="6" name="object 6"/>
            <p:cNvSpPr/>
            <p:nvPr/>
          </p:nvSpPr>
          <p:spPr>
            <a:xfrm>
              <a:off x="640080" y="1463040"/>
              <a:ext cx="10909300" cy="4023360"/>
            </a:xfrm>
            <a:custGeom>
              <a:avLst/>
              <a:gdLst/>
              <a:ahLst/>
              <a:cxnLst/>
              <a:rect l="l" t="t" r="r" b="b"/>
              <a:pathLst>
                <a:path w="10909300" h="4023360">
                  <a:moveTo>
                    <a:pt x="10835640" y="0"/>
                  </a:moveTo>
                  <a:lnTo>
                    <a:pt x="73139" y="0"/>
                  </a:lnTo>
                  <a:lnTo>
                    <a:pt x="44673" y="5750"/>
                  </a:lnTo>
                  <a:lnTo>
                    <a:pt x="21424" y="21431"/>
                  </a:lnTo>
                  <a:lnTo>
                    <a:pt x="5748" y="44684"/>
                  </a:lnTo>
                  <a:lnTo>
                    <a:pt x="0" y="73151"/>
                  </a:lnTo>
                  <a:lnTo>
                    <a:pt x="0" y="3950208"/>
                  </a:lnTo>
                  <a:lnTo>
                    <a:pt x="5748" y="3978675"/>
                  </a:lnTo>
                  <a:lnTo>
                    <a:pt x="21424" y="4001928"/>
                  </a:lnTo>
                  <a:lnTo>
                    <a:pt x="44673" y="4017609"/>
                  </a:lnTo>
                  <a:lnTo>
                    <a:pt x="73139" y="4023360"/>
                  </a:lnTo>
                  <a:lnTo>
                    <a:pt x="10835640" y="4023360"/>
                  </a:lnTo>
                  <a:lnTo>
                    <a:pt x="10864107" y="4017609"/>
                  </a:lnTo>
                  <a:lnTo>
                    <a:pt x="10887360" y="4001928"/>
                  </a:lnTo>
                  <a:lnTo>
                    <a:pt x="10903041" y="3978675"/>
                  </a:lnTo>
                  <a:lnTo>
                    <a:pt x="10908792" y="3950208"/>
                  </a:lnTo>
                  <a:lnTo>
                    <a:pt x="10908792" y="73151"/>
                  </a:lnTo>
                  <a:lnTo>
                    <a:pt x="10903041" y="44684"/>
                  </a:lnTo>
                  <a:lnTo>
                    <a:pt x="10887360" y="21431"/>
                  </a:lnTo>
                  <a:lnTo>
                    <a:pt x="10864107" y="5750"/>
                  </a:lnTo>
                  <a:lnTo>
                    <a:pt x="10835640" y="0"/>
                  </a:lnTo>
                  <a:close/>
                </a:path>
              </a:pathLst>
            </a:custGeom>
            <a:solidFill>
              <a:srgbClr val="FFFFFF"/>
            </a:solidFill>
          </p:spPr>
          <p:txBody>
            <a:bodyPr wrap="square" lIns="0" tIns="0" rIns="0" bIns="0" rtlCol="0"/>
            <a:lstStyle/>
            <a:p>
              <a:endParaRPr/>
            </a:p>
          </p:txBody>
        </p:sp>
        <p:sp>
          <p:nvSpPr>
            <p:cNvPr id="7" name="object 7"/>
            <p:cNvSpPr/>
            <p:nvPr/>
          </p:nvSpPr>
          <p:spPr>
            <a:xfrm>
              <a:off x="640080" y="1463040"/>
              <a:ext cx="10909300" cy="4023360"/>
            </a:xfrm>
            <a:custGeom>
              <a:avLst/>
              <a:gdLst/>
              <a:ahLst/>
              <a:cxnLst/>
              <a:rect l="l" t="t" r="r" b="b"/>
              <a:pathLst>
                <a:path w="10909300" h="4023360">
                  <a:moveTo>
                    <a:pt x="0" y="73151"/>
                  </a:moveTo>
                  <a:lnTo>
                    <a:pt x="5748" y="44684"/>
                  </a:lnTo>
                  <a:lnTo>
                    <a:pt x="21424" y="21431"/>
                  </a:lnTo>
                  <a:lnTo>
                    <a:pt x="44673" y="5750"/>
                  </a:lnTo>
                  <a:lnTo>
                    <a:pt x="73139" y="0"/>
                  </a:lnTo>
                  <a:lnTo>
                    <a:pt x="10835640" y="0"/>
                  </a:lnTo>
                  <a:lnTo>
                    <a:pt x="10864107" y="5750"/>
                  </a:lnTo>
                  <a:lnTo>
                    <a:pt x="10887360" y="21431"/>
                  </a:lnTo>
                  <a:lnTo>
                    <a:pt x="10903041" y="44684"/>
                  </a:lnTo>
                  <a:lnTo>
                    <a:pt x="10908792" y="73151"/>
                  </a:lnTo>
                  <a:lnTo>
                    <a:pt x="10908792" y="3950208"/>
                  </a:lnTo>
                  <a:lnTo>
                    <a:pt x="10903041" y="3978675"/>
                  </a:lnTo>
                  <a:lnTo>
                    <a:pt x="10887360" y="4001928"/>
                  </a:lnTo>
                  <a:lnTo>
                    <a:pt x="10864107" y="4017609"/>
                  </a:lnTo>
                  <a:lnTo>
                    <a:pt x="10835640" y="4023360"/>
                  </a:lnTo>
                  <a:lnTo>
                    <a:pt x="73139" y="4023360"/>
                  </a:lnTo>
                  <a:lnTo>
                    <a:pt x="44673" y="4017609"/>
                  </a:lnTo>
                  <a:lnTo>
                    <a:pt x="21424" y="4001928"/>
                  </a:lnTo>
                  <a:lnTo>
                    <a:pt x="5748" y="3978675"/>
                  </a:lnTo>
                  <a:lnTo>
                    <a:pt x="0" y="3950208"/>
                  </a:lnTo>
                  <a:lnTo>
                    <a:pt x="0" y="73151"/>
                  </a:lnTo>
                  <a:close/>
                </a:path>
              </a:pathLst>
            </a:custGeom>
            <a:ln w="12192">
              <a:solidFill>
                <a:srgbClr val="DDD2C4"/>
              </a:solidFill>
            </a:ln>
          </p:spPr>
          <p:txBody>
            <a:bodyPr wrap="square" lIns="0" tIns="0" rIns="0" bIns="0" rtlCol="0"/>
            <a:lstStyle/>
            <a:p>
              <a:endParaRPr/>
            </a:p>
          </p:txBody>
        </p:sp>
      </p:grpSp>
      <p:sp>
        <p:nvSpPr>
          <p:cNvPr id="8" name="object 8"/>
          <p:cNvSpPr txBox="1"/>
          <p:nvPr/>
        </p:nvSpPr>
        <p:spPr>
          <a:xfrm>
            <a:off x="993444" y="1788717"/>
            <a:ext cx="10008870" cy="935513"/>
          </a:xfrm>
          <a:prstGeom prst="rect">
            <a:avLst/>
          </a:prstGeom>
        </p:spPr>
        <p:txBody>
          <a:bodyPr vert="horz" wrap="square" lIns="0" tIns="12065" rIns="0" bIns="0" rtlCol="0" anchor="ctr">
            <a:spAutoFit/>
          </a:bodyPr>
          <a:lstStyle/>
          <a:p>
            <a:pPr marL="12700" marR="5080" algn="ctr">
              <a:lnSpc>
                <a:spcPct val="100000"/>
              </a:lnSpc>
              <a:spcBef>
                <a:spcPts val="95"/>
              </a:spcBef>
              <a:defRPr sz="1500">
                <a:solidFill>
                  <a:srgbClr val="000000"/>
                </a:solidFill>
                <a:latin typeface="Arial"/>
              </a:defRPr>
            </a:pPr>
            <a:r>
              <a:t>The project uses the Elliptic transaction dataset to study Anti-Money Laundering detection with Graph Neural Networks. EDA identified 44,950 feature rows, 167 feature columns and 234,355 transaction edges, providing both transaction attributes and graph relationships for learning.</a:t>
            </a:r>
            <a:endParaRPr sz="1500" dirty="0">
              <a:latin typeface="Calibri"/>
              <a:cs typeface="Calibri"/>
            </a:endParaRPr>
          </a:p>
        </p:txBody>
      </p:sp>
      <p:sp>
        <p:nvSpPr>
          <p:cNvPr id="11" name="object 11"/>
          <p:cNvSpPr txBox="1">
            <a:spLocks noGrp="1"/>
          </p:cNvSpPr>
          <p:nvPr>
            <p:ph type="ftr" sz="quarter" idx="5"/>
          </p:nvPr>
        </p:nvSpPr>
        <p:spPr>
          <a:prstGeom prst="rect">
            <a:avLst/>
          </a:prstGeom>
        </p:spPr>
        <p:txBody>
          <a:bodyPr vert="horz" wrap="square" lIns="0" tIns="0" rIns="0" bIns="0" rtlCol="0">
            <a:spAutoFit/>
          </a:bodyPr>
          <a:lstStyle/>
          <a:p>
            <a:pPr marL="12700">
              <a:lnSpc>
                <a:spcPts val="965"/>
              </a:lnSpc>
            </a:pPr>
            <a:r>
              <a:rPr dirty="0"/>
              <a:t>MACHINE</a:t>
            </a:r>
            <a:r>
              <a:rPr spc="-60" dirty="0"/>
              <a:t> </a:t>
            </a:r>
            <a:r>
              <a:rPr dirty="0"/>
              <a:t>LEARNING</a:t>
            </a:r>
            <a:r>
              <a:rPr spc="145" dirty="0"/>
              <a:t> </a:t>
            </a:r>
            <a:r>
              <a:rPr dirty="0"/>
              <a:t>•</a:t>
            </a:r>
            <a:r>
              <a:rPr spc="254" dirty="0"/>
              <a:t> </a:t>
            </a:r>
            <a:r>
              <a:rPr spc="-10" dirty="0"/>
              <a:t>COURSE</a:t>
            </a:r>
            <a:r>
              <a:rPr spc="-30" dirty="0"/>
              <a:t> </a:t>
            </a:r>
            <a:r>
              <a:rPr dirty="0"/>
              <a:t>CODE:</a:t>
            </a:r>
            <a:r>
              <a:rPr spc="-15" dirty="0"/>
              <a:t> </a:t>
            </a:r>
            <a:r>
              <a:rPr spc="-10" dirty="0"/>
              <a:t>25SC2107E</a:t>
            </a: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r>
              <a:rPr sz="700"/>
              <a:t>23</a:t>
            </a:r>
          </a:p>
        </p:txBody>
      </p:sp>
      <p:sp>
        <p:nvSpPr>
          <p:cNvPr id="9" name="object 9"/>
          <p:cNvSpPr txBox="1"/>
          <p:nvPr/>
        </p:nvSpPr>
        <p:spPr>
          <a:xfrm>
            <a:off x="993444" y="3297159"/>
            <a:ext cx="10108565" cy="936795"/>
          </a:xfrm>
          <a:prstGeom prst="rect">
            <a:avLst/>
          </a:prstGeom>
        </p:spPr>
        <p:txBody>
          <a:bodyPr vert="horz" wrap="square" lIns="0" tIns="13335" rIns="0" bIns="0" rtlCol="0" anchor="ctr">
            <a:spAutoFit/>
          </a:bodyPr>
          <a:lstStyle/>
          <a:p>
            <a:pPr marL="12700" marR="5080" algn="ctr">
              <a:lnSpc>
                <a:spcPct val="100000"/>
              </a:lnSpc>
              <a:spcBef>
                <a:spcPts val="105"/>
              </a:spcBef>
              <a:defRPr sz="1400">
                <a:solidFill>
                  <a:srgbClr val="000000"/>
                </a:solidFill>
                <a:latin typeface="Arial"/>
              </a:defRPr>
            </a:pPr>
            <a:r>
              <a:t>The data contains 4,545 illicit, 42,019 licit and 157,205 unknown labels, highlighting class imbalance and label availability as important challenges. The proposed pipeline combines preprocessing, graph construction, GNN training and evaluation using Accuracy, Precision, Recall and F1-Score. Future model results should be reported after training and validation.</a:t>
            </a:r>
            <a:endParaRPr sz="1500" dirty="0">
              <a:latin typeface="Calibri"/>
              <a:cs typeface="Calibri"/>
            </a:endParaRPr>
          </a:p>
        </p:txBody>
      </p:sp>
      <p:sp>
        <p:nvSpPr>
          <p:cNvPr id="10" name="object 10"/>
          <p:cNvSpPr txBox="1"/>
          <p:nvPr/>
        </p:nvSpPr>
        <p:spPr>
          <a:xfrm>
            <a:off x="4871973" y="4714113"/>
            <a:ext cx="2447925" cy="329565"/>
          </a:xfrm>
          <a:prstGeom prst="rect">
            <a:avLst/>
          </a:prstGeom>
        </p:spPr>
        <p:txBody>
          <a:bodyPr vert="horz" wrap="square" lIns="0" tIns="11430" rIns="0" bIns="0" rtlCol="0" anchor="ctr">
            <a:spAutoFit/>
          </a:bodyPr>
          <a:lstStyle/>
          <a:p>
            <a:pPr marL="12700" algn="ctr">
              <a:lnSpc>
                <a:spcPct val="100000"/>
              </a:lnSpc>
              <a:spcBef>
                <a:spcPts val="90"/>
              </a:spcBef>
              <a:defRPr sz="1600">
                <a:solidFill>
                  <a:srgbClr val="000000"/>
                </a:solidFill>
                <a:latin typeface="Arial"/>
              </a:defRPr>
            </a:pPr>
            <a:r>
              <a:t>END OF PRESENTATION</a:t>
            </a:r>
            <a:endParaRPr sz="2000">
              <a:latin typeface="Calibri"/>
              <a:cs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86200" y="228600"/>
            <a:ext cx="3657600" cy="320040"/>
          </a:xfrm>
          <a:prstGeom prst="rect">
            <a:avLst/>
          </a:prstGeom>
          <a:noFill/>
        </p:spPr>
        <p:txBody>
          <a:bodyPr wrap="square" lIns="73152" tIns="36576" rIns="73152" bIns="36576">
            <a:spAutoFit/>
          </a:bodyPr>
          <a:lstStyle/>
          <a:p>
            <a:pPr algn="ctr"/>
            <a:r>
              <a:rPr sz="2000" b="1"/>
              <a:t>THANK YOU</a:t>
            </a:r>
          </a:p>
        </p:txBody>
      </p:sp>
      <p:sp>
        <p:nvSpPr>
          <p:cNvPr id="3" name="TextBox 2"/>
          <p:cNvSpPr txBox="1"/>
          <p:nvPr/>
        </p:nvSpPr>
        <p:spPr>
          <a:xfrm>
            <a:off x="914400" y="2057400"/>
            <a:ext cx="9966960" cy="822960"/>
          </a:xfrm>
          <a:prstGeom prst="rect">
            <a:avLst/>
          </a:prstGeom>
          <a:noFill/>
        </p:spPr>
        <p:txBody>
          <a:bodyPr wrap="square" lIns="73152" tIns="36576" rIns="73152" bIns="36576" anchor="ctr">
            <a:spAutoFit/>
          </a:bodyPr>
          <a:lstStyle/>
          <a:p>
            <a:pPr algn="ctr">
              <a:defRPr sz="2800">
                <a:solidFill>
                  <a:srgbClr val="000000"/>
                </a:solidFill>
                <a:latin typeface="Arial"/>
              </a:defRPr>
            </a:pPr>
            <a:r>
              <a:t>THANK YOU</a:t>
            </a:r>
          </a:p>
        </p:txBody>
      </p:sp>
      <p:sp>
        <p:nvSpPr>
          <p:cNvPr id="5" name="TextBox 4"/>
          <p:cNvSpPr txBox="1"/>
          <p:nvPr/>
        </p:nvSpPr>
        <p:spPr>
          <a:xfrm>
            <a:off x="1645920" y="3840480"/>
            <a:ext cx="8595360" cy="640080"/>
          </a:xfrm>
          <a:prstGeom prst="rect">
            <a:avLst/>
          </a:prstGeom>
          <a:noFill/>
        </p:spPr>
        <p:txBody>
          <a:bodyPr wrap="square" lIns="73152" tIns="36576" rIns="73152" bIns="36576" anchor="ctr">
            <a:spAutoFit/>
          </a:bodyPr>
          <a:lstStyle/>
          <a:p>
            <a:pPr algn="ctr">
              <a:defRPr sz="1500">
                <a:solidFill>
                  <a:srgbClr val="000000"/>
                </a:solidFill>
                <a:latin typeface="Arial"/>
              </a:defRPr>
            </a:pPr>
            <a:r>
              <a:t>Anti-Money Laundering Detection Using Graph Neural Networks for Financial Transaction Analysis</a:t>
            </a:r>
          </a:p>
        </p:txBody>
      </p:sp>
      <p:sp>
        <p:nvSpPr>
          <p:cNvPr id="6" name="TextBox 5"/>
          <p:cNvSpPr txBox="1"/>
          <p:nvPr/>
        </p:nvSpPr>
        <p:spPr>
          <a:xfrm>
            <a:off x="365760" y="6016752"/>
            <a:ext cx="2468880" cy="137160"/>
          </a:xfrm>
          <a:prstGeom prst="rect">
            <a:avLst/>
          </a:prstGeom>
          <a:noFill/>
        </p:spPr>
        <p:txBody>
          <a:bodyPr wrap="square" lIns="73152" tIns="36576" rIns="73152" bIns="36576">
            <a:spAutoFit/>
          </a:bodyPr>
          <a:lstStyle/>
          <a:p>
            <a:pPr algn="l"/>
            <a:r>
              <a:rPr sz="700" b="0"/>
              <a:t>MACHINE LEARNING • COURSE CODE: 25SC2107E</a:t>
            </a:r>
          </a:p>
        </p:txBody>
      </p:sp>
      <p:sp>
        <p:nvSpPr>
          <p:cNvPr id="7" name="TextBox 6"/>
          <p:cNvSpPr txBox="1"/>
          <p:nvPr/>
        </p:nvSpPr>
        <p:spPr>
          <a:xfrm>
            <a:off x="10652760" y="6016752"/>
            <a:ext cx="182880" cy="137160"/>
          </a:xfrm>
          <a:prstGeom prst="rect">
            <a:avLst/>
          </a:prstGeom>
          <a:noFill/>
        </p:spPr>
        <p:txBody>
          <a:bodyPr wrap="square" lIns="73152" tIns="36576" rIns="73152" bIns="36576">
            <a:spAutoFit/>
          </a:bodyPr>
          <a:lstStyle/>
          <a:p>
            <a:pPr algn="r"/>
            <a:r>
              <a:rPr sz="700"/>
              <a:t>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175</TotalTime>
  <Words>3809</Words>
  <Application>Microsoft Office PowerPoint</Application>
  <PresentationFormat>Widescreen</PresentationFormat>
  <Paragraphs>381</Paragraphs>
  <Slides>24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Aptos</vt:lpstr>
      <vt:lpstr>Aptos Display</vt:lpstr>
      <vt:lpstr>Arial</vt:lpstr>
      <vt:lpstr>Calibri</vt:lpstr>
      <vt:lpstr>Times New Roman</vt:lpstr>
      <vt:lpstr>Office Theme</vt:lpstr>
      <vt:lpstr>ANTI-MONEY LAUNDERING DETECTION USING GRAPH NEURAL NETWORKS FOR FINANCIAL TRANSACTION ANALYSIS</vt:lpstr>
      <vt:lpstr>ABSTRACT</vt:lpstr>
      <vt:lpstr>INTRODUCTION</vt:lpstr>
      <vt:lpstr>REQUIREMENT ANALYSIS</vt:lpstr>
      <vt:lpstr>LITERATURE REVIEW • PART 1</vt:lpstr>
      <vt:lpstr>LITERATURE REVIEW • PART 2</vt:lpstr>
      <vt:lpstr>LITERATURE REVIEW • PART 3</vt:lpstr>
      <vt:lpstr>LITERATURE REVIEW • PART 4</vt:lpstr>
      <vt:lpstr>LITERATURE REVIEW • PART 5</vt:lpstr>
      <vt:lpstr>LITERATURE REVIEW • PART 6</vt:lpstr>
      <vt:lpstr>LITERATURE REVIEW • PART 7</vt:lpstr>
      <vt:lpstr>PowerPoint Presentation</vt:lpstr>
      <vt:lpstr>PowerPoint Presentation</vt:lpstr>
      <vt:lpstr>EDA • DATASET QUALITY</vt:lpstr>
      <vt:lpstr>EDA • CLASS LABELS</vt:lpstr>
      <vt:lpstr>EDA • FEATURE DATA</vt:lpstr>
      <vt:lpstr>EDA • CORRELATION &amp; OUTLIERS</vt:lpstr>
      <vt:lpstr>EDA • GRAPH STRUCTURE</vt:lpstr>
      <vt:lpstr>PowerPoint Presentation</vt:lpstr>
      <vt:lpstr>PowerPoint Presentation</vt:lpstr>
      <vt:lpstr>PROPOSED MODEL WORKFLOW</vt:lpstr>
      <vt:lpstr>PowerPoint Presentation</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vaishureddyg0123@outlook.com</cp:lastModifiedBy>
  <cp:revision>6</cp:revision>
  <dcterms:created xsi:type="dcterms:W3CDTF">2026-09-02T05:44:30Z</dcterms:created>
  <dcterms:modified xsi:type="dcterms:W3CDTF">2026-09-23T17:59:21Z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2026-09-02T00:00:00Z</vt:filetime>
  </property>
  <property fmtid="{D5CDD505-2E9C-101B-9397-08002B2CF9AE}" pid="4" name="Creator">
    <vt:lpwstr>Microsoft® PowerPoint® 2016</vt:lpwstr>
  </property>
  <property fmtid="{D5CDD505-2E9C-101B-9397-08002B2CF9AE}" pid="5" name="LastSaved">
    <vt:filetime>2026-09-02T00:00:00Z</vt:filetime>
  </property>
  <property fmtid="{D5CDD505-2E9C-101B-9397-08002B2CF9AE}" pid="6" name="Producer">
    <vt:lpwstr>www.ilovepdf.com</vt:lpwstr>
  </property>
</Properties>
</file>